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96" r:id="rId3"/>
    <p:sldId id="257" r:id="rId4"/>
    <p:sldId id="258" r:id="rId5"/>
    <p:sldId id="259" r:id="rId6"/>
    <p:sldId id="260" r:id="rId7"/>
    <p:sldId id="261" r:id="rId8"/>
    <p:sldId id="293" r:id="rId9"/>
    <p:sldId id="262" r:id="rId10"/>
    <p:sldId id="292" r:id="rId11"/>
    <p:sldId id="266" r:id="rId12"/>
    <p:sldId id="271" r:id="rId13"/>
    <p:sldId id="272" r:id="rId14"/>
    <p:sldId id="273" r:id="rId15"/>
    <p:sldId id="274" r:id="rId16"/>
    <p:sldId id="291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5" r:id="rId26"/>
    <p:sldId id="286" r:id="rId27"/>
    <p:sldId id="287" r:id="rId28"/>
    <p:sldId id="288" r:id="rId29"/>
    <p:sldId id="289" r:id="rId30"/>
    <p:sldId id="295" r:id="rId31"/>
    <p:sldId id="290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>
        <p:scale>
          <a:sx n="107" d="100"/>
          <a:sy n="107" d="100"/>
        </p:scale>
        <p:origin x="-8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6/27/2017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6/27/2017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6/27/2017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6/27/2017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6/27/2017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6/27/2017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6/27/2017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6/27/2017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msdn.microsoft.com/en-us/library/ms175913(v=sql.105).aspx" TargetMode="Externa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Lesson 15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u="sng" dirty="0" smtClean="0"/>
              <a:t>Query Performance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52400"/>
            <a:ext cx="78486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Main </a:t>
            </a:r>
            <a:r>
              <a:rPr lang="en-US" dirty="0"/>
              <a:t>performance </a:t>
            </a:r>
            <a:r>
              <a:rPr lang="en-US" dirty="0" smtClean="0"/>
              <a:t>killers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914400"/>
            <a:ext cx="8077200" cy="5791200"/>
          </a:xfrm>
        </p:spPr>
        <p:txBody>
          <a:bodyPr>
            <a:noAutofit/>
          </a:bodyPr>
          <a:lstStyle/>
          <a:p>
            <a:r>
              <a:rPr lang="en-US" sz="2400" dirty="0" smtClean="0"/>
              <a:t>Insufficient </a:t>
            </a:r>
            <a:r>
              <a:rPr lang="en-US" sz="2400" dirty="0"/>
              <a:t>indexing</a:t>
            </a:r>
          </a:p>
          <a:p>
            <a:r>
              <a:rPr lang="en-US" sz="2400" dirty="0" smtClean="0"/>
              <a:t>Inaccurate </a:t>
            </a:r>
            <a:r>
              <a:rPr lang="en-US" sz="2400" dirty="0"/>
              <a:t>statistics</a:t>
            </a:r>
          </a:p>
          <a:p>
            <a:r>
              <a:rPr lang="en-US" sz="2400" dirty="0" smtClean="0"/>
              <a:t>Improper </a:t>
            </a:r>
            <a:r>
              <a:rPr lang="en-US" sz="2400" dirty="0"/>
              <a:t>query design</a:t>
            </a:r>
          </a:p>
          <a:p>
            <a:r>
              <a:rPr lang="en-US" sz="2400" dirty="0" smtClean="0"/>
              <a:t>Poorly </a:t>
            </a:r>
            <a:r>
              <a:rPr lang="en-US" sz="2400" dirty="0"/>
              <a:t>generated execution plans</a:t>
            </a:r>
          </a:p>
          <a:p>
            <a:r>
              <a:rPr lang="en-US" sz="2400" dirty="0" smtClean="0"/>
              <a:t>Excessive </a:t>
            </a:r>
            <a:r>
              <a:rPr lang="en-US" sz="2400" dirty="0"/>
              <a:t>blocking and deadlocks</a:t>
            </a:r>
          </a:p>
          <a:p>
            <a:r>
              <a:rPr lang="en-US" sz="2400" dirty="0" smtClean="0"/>
              <a:t>Non-set-based </a:t>
            </a:r>
            <a:r>
              <a:rPr lang="en-US" sz="2400" dirty="0"/>
              <a:t>operations, usually T-SQL cursors</a:t>
            </a:r>
          </a:p>
          <a:p>
            <a:r>
              <a:rPr lang="en-US" sz="2400" dirty="0" smtClean="0"/>
              <a:t>Inappropriate </a:t>
            </a:r>
            <a:r>
              <a:rPr lang="en-US" sz="2400" dirty="0"/>
              <a:t>database design</a:t>
            </a:r>
          </a:p>
          <a:p>
            <a:r>
              <a:rPr lang="en-US" sz="2400" dirty="0" smtClean="0"/>
              <a:t>Excessive </a:t>
            </a:r>
            <a:r>
              <a:rPr lang="en-US" sz="2400" dirty="0"/>
              <a:t>fragmentation</a:t>
            </a:r>
          </a:p>
          <a:p>
            <a:r>
              <a:rPr lang="en-US" sz="2400" dirty="0" err="1" smtClean="0"/>
              <a:t>Nonreusable</a:t>
            </a:r>
            <a:r>
              <a:rPr lang="en-US" sz="2400" dirty="0" smtClean="0"/>
              <a:t> </a:t>
            </a:r>
            <a:r>
              <a:rPr lang="en-US" sz="2400" dirty="0"/>
              <a:t>execution plans</a:t>
            </a:r>
          </a:p>
          <a:p>
            <a:r>
              <a:rPr lang="en-US" sz="2400" dirty="0" smtClean="0"/>
              <a:t>Frequent </a:t>
            </a:r>
            <a:r>
              <a:rPr lang="en-US" sz="2400" dirty="0"/>
              <a:t>recompilation of queries</a:t>
            </a:r>
          </a:p>
          <a:p>
            <a:r>
              <a:rPr lang="en-US" sz="2400" dirty="0" smtClean="0"/>
              <a:t>Improper </a:t>
            </a:r>
            <a:r>
              <a:rPr lang="en-US" sz="2400" dirty="0"/>
              <a:t>use of cursors</a:t>
            </a:r>
          </a:p>
          <a:p>
            <a:r>
              <a:rPr lang="en-US" sz="2400" dirty="0" smtClean="0"/>
              <a:t>Improper </a:t>
            </a:r>
            <a:r>
              <a:rPr lang="en-US" sz="2400" dirty="0"/>
              <a:t>configuration of the database transaction log</a:t>
            </a:r>
          </a:p>
          <a:p>
            <a:r>
              <a:rPr lang="en-US" sz="2400" dirty="0" smtClean="0"/>
              <a:t>Excessive </a:t>
            </a:r>
            <a:r>
              <a:rPr lang="en-US" sz="2400" dirty="0"/>
              <a:t>use or improper configuration of </a:t>
            </a:r>
            <a:r>
              <a:rPr lang="en-US" sz="2400" dirty="0" err="1"/>
              <a:t>tempdb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95061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790688" cy="1143000"/>
          </a:xfrm>
        </p:spPr>
        <p:txBody>
          <a:bodyPr/>
          <a:lstStyle/>
          <a:p>
            <a:pPr algn="ctr"/>
            <a:r>
              <a:rPr lang="en-US" dirty="0" smtClean="0"/>
              <a:t>Tuning Queries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600200"/>
            <a:ext cx="7638288" cy="4648200"/>
          </a:xfrm>
        </p:spPr>
        <p:txBody>
          <a:bodyPr/>
          <a:lstStyle/>
          <a:p>
            <a:r>
              <a:rPr lang="en-US" dirty="0" smtClean="0"/>
              <a:t>Tuning queries is the process of optimizing performance to meet business requirements.</a:t>
            </a:r>
          </a:p>
          <a:p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790688" cy="1143000"/>
          </a:xfrm>
        </p:spPr>
        <p:txBody>
          <a:bodyPr/>
          <a:lstStyle/>
          <a:p>
            <a:pPr algn="ctr"/>
            <a:r>
              <a:rPr lang="en-CA" dirty="0" smtClean="0"/>
              <a:t>Measuring Performance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SQL Server uses three main metrics to measure </a:t>
            </a:r>
            <a:r>
              <a:rPr lang="en-US" dirty="0" smtClean="0"/>
              <a:t>performance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pPr marL="870966" lvl="1" indent="-514350">
              <a:buFont typeface="+mj-lt"/>
              <a:buAutoNum type="arabicParenR"/>
            </a:pPr>
            <a:r>
              <a:rPr lang="en-US" dirty="0" smtClean="0">
                <a:solidFill>
                  <a:srgbClr val="0070C0"/>
                </a:solidFill>
              </a:rPr>
              <a:t>Query Cost</a:t>
            </a:r>
            <a:br>
              <a:rPr lang="en-US" dirty="0" smtClean="0">
                <a:solidFill>
                  <a:srgbClr val="0070C0"/>
                </a:solidFill>
              </a:rPr>
            </a:br>
            <a:endParaRPr lang="en-US" dirty="0" smtClean="0">
              <a:solidFill>
                <a:srgbClr val="0070C0"/>
              </a:solidFill>
            </a:endParaRPr>
          </a:p>
          <a:p>
            <a:pPr marL="870966" lvl="1" indent="-514350">
              <a:buFont typeface="+mj-lt"/>
              <a:buAutoNum type="arabicParenR"/>
            </a:pPr>
            <a:r>
              <a:rPr lang="en-US" dirty="0" smtClean="0">
                <a:solidFill>
                  <a:srgbClr val="0070C0"/>
                </a:solidFill>
              </a:rPr>
              <a:t>Page Reads</a:t>
            </a:r>
            <a:br>
              <a:rPr lang="en-US" dirty="0" smtClean="0">
                <a:solidFill>
                  <a:srgbClr val="0070C0"/>
                </a:solidFill>
              </a:rPr>
            </a:br>
            <a:endParaRPr lang="en-US" dirty="0" smtClean="0">
              <a:solidFill>
                <a:srgbClr val="0070C0"/>
              </a:solidFill>
            </a:endParaRPr>
          </a:p>
          <a:p>
            <a:pPr marL="870966" lvl="1" indent="-514350">
              <a:buFont typeface="+mj-lt"/>
              <a:buAutoNum type="arabicParenR"/>
            </a:pPr>
            <a:r>
              <a:rPr lang="en-US" dirty="0" smtClean="0">
                <a:solidFill>
                  <a:srgbClr val="0070C0"/>
                </a:solidFill>
              </a:rPr>
              <a:t>Query Execution Time</a:t>
            </a:r>
            <a:r>
              <a:rPr lang="en-US" dirty="0" smtClean="0"/>
              <a:t>.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790688" cy="944562"/>
          </a:xfrm>
        </p:spPr>
        <p:txBody>
          <a:bodyPr/>
          <a:lstStyle/>
          <a:p>
            <a:r>
              <a:rPr lang="en-US" dirty="0" smtClean="0"/>
              <a:t>1) Query Cost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524000"/>
            <a:ext cx="7924800" cy="51054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Query Cost </a:t>
            </a:r>
            <a:r>
              <a:rPr lang="en-US" dirty="0" smtClean="0"/>
              <a:t>is an internal metric that takes into account CPU and I/O resources used by the </a:t>
            </a:r>
            <a:r>
              <a:rPr lang="en-US" dirty="0" smtClean="0"/>
              <a:t>query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The lower the </a:t>
            </a:r>
            <a:r>
              <a:rPr lang="en-US" dirty="0">
                <a:solidFill>
                  <a:srgbClr val="0070C0"/>
                </a:solidFill>
              </a:rPr>
              <a:t>Q</a:t>
            </a:r>
            <a:r>
              <a:rPr lang="en-US" dirty="0" smtClean="0">
                <a:solidFill>
                  <a:srgbClr val="0070C0"/>
                </a:solidFill>
              </a:rPr>
              <a:t>uery Cost </a:t>
            </a:r>
            <a:r>
              <a:rPr lang="en-US" dirty="0" smtClean="0"/>
              <a:t>the better the query performance </a:t>
            </a:r>
            <a:r>
              <a:rPr lang="en-US" dirty="0" smtClean="0"/>
              <a:t>is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The query cost is not affected by issues such as resource contention or waiting for </a:t>
            </a:r>
            <a:r>
              <a:rPr lang="en-US" dirty="0" smtClean="0"/>
              <a:t>locks</a:t>
            </a:r>
          </a:p>
          <a:p>
            <a:endParaRPr lang="en-US" dirty="0" smtClean="0"/>
          </a:p>
          <a:p>
            <a:r>
              <a:rPr lang="en-US" dirty="0" smtClean="0"/>
              <a:t>The cost of UDFs and CLR routines is not calculated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7714488" cy="1020762"/>
          </a:xfrm>
        </p:spPr>
        <p:txBody>
          <a:bodyPr/>
          <a:lstStyle/>
          <a:p>
            <a:r>
              <a:rPr lang="en-CA" dirty="0" smtClean="0"/>
              <a:t>2) Page Reads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447800"/>
            <a:ext cx="7714488" cy="49530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Page reads represents the number of 8KB data pages accessed while executing a </a:t>
            </a:r>
            <a:r>
              <a:rPr lang="en-US" dirty="0" smtClean="0"/>
              <a:t>query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0070C0"/>
                </a:solidFill>
              </a:rPr>
              <a:t>SET STATISTICS IO ON </a:t>
            </a:r>
            <a:r>
              <a:rPr lang="en-US" dirty="0" smtClean="0"/>
              <a:t>causes each query execution to output a statistical data in Messages </a:t>
            </a:r>
            <a:r>
              <a:rPr lang="en-US" dirty="0" smtClean="0"/>
              <a:t>tab</a:t>
            </a:r>
          </a:p>
          <a:p>
            <a:endParaRPr lang="en-US" dirty="0" smtClean="0"/>
          </a:p>
          <a:p>
            <a:r>
              <a:rPr lang="en-CA" dirty="0" smtClean="0"/>
              <a:t>Use </a:t>
            </a:r>
            <a:r>
              <a:rPr lang="en-CA" dirty="0" smtClean="0">
                <a:solidFill>
                  <a:srgbClr val="0070C0"/>
                </a:solidFill>
              </a:rPr>
              <a:t>DBCC </a:t>
            </a:r>
            <a:r>
              <a:rPr lang="en-CA" dirty="0">
                <a:solidFill>
                  <a:srgbClr val="0070C0"/>
                </a:solidFill>
              </a:rPr>
              <a:t>DROPCLEANBUFFERS</a:t>
            </a:r>
            <a:r>
              <a:rPr lang="en-CA" dirty="0"/>
              <a:t> </a:t>
            </a:r>
            <a:r>
              <a:rPr lang="en-CA" dirty="0" smtClean="0"/>
              <a:t> to clear </a:t>
            </a:r>
            <a:r>
              <a:rPr lang="en-CA" dirty="0"/>
              <a:t>data from the cache.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8234234"/>
              </p:ext>
            </p:extLst>
          </p:nvPr>
        </p:nvGraphicFramePr>
        <p:xfrm>
          <a:off x="1295400" y="609600"/>
          <a:ext cx="7715250" cy="468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5657850"/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 smtClean="0"/>
                        <a:t>Output item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CA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Table</a:t>
                      </a:r>
                      <a:endParaRPr lang="en-C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Name of the table.</a:t>
                      </a:r>
                      <a:endParaRPr lang="en-CA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b="1" dirty="0" smtClean="0"/>
                        <a:t>Scan count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 of index or table scans performed.</a:t>
                      </a:r>
                      <a:endParaRPr lang="en-CA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b="1" dirty="0" smtClean="0"/>
                        <a:t>logical reads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 of pages read from the data cache.</a:t>
                      </a:r>
                      <a:endParaRPr lang="en-CA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b="1" dirty="0" smtClean="0"/>
                        <a:t>physical reads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 of pages read from disk.</a:t>
                      </a:r>
                      <a:endParaRPr lang="en-CA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b="1" dirty="0"/>
                        <a:t>read-ahead reads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 of pages placed into the cache for the query.</a:t>
                      </a:r>
                      <a:endParaRPr lang="en-CA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b="1" dirty="0" smtClean="0"/>
                        <a:t>lob logical reads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 of text, </a:t>
                      </a:r>
                      <a:r>
                        <a:rPr lang="en-US" dirty="0" err="1" smtClean="0"/>
                        <a:t>ntext</a:t>
                      </a:r>
                      <a:r>
                        <a:rPr lang="en-US" dirty="0" smtClean="0"/>
                        <a:t>, image, or large value type (</a:t>
                      </a:r>
                      <a:r>
                        <a:rPr lang="en-US" dirty="0" err="1" smtClean="0"/>
                        <a:t>varchar</a:t>
                      </a:r>
                      <a:r>
                        <a:rPr lang="en-US" dirty="0" smtClean="0"/>
                        <a:t>(max), </a:t>
                      </a:r>
                      <a:r>
                        <a:rPr lang="en-US" dirty="0" err="1" smtClean="0"/>
                        <a:t>nvarchar</a:t>
                      </a:r>
                      <a:r>
                        <a:rPr lang="en-US" dirty="0" smtClean="0"/>
                        <a:t>(max), </a:t>
                      </a:r>
                      <a:r>
                        <a:rPr lang="en-US" dirty="0" err="1" smtClean="0"/>
                        <a:t>varbinary</a:t>
                      </a:r>
                      <a:r>
                        <a:rPr lang="en-US" dirty="0" smtClean="0"/>
                        <a:t>(max)) pages read from the data cache.</a:t>
                      </a:r>
                      <a:endParaRPr lang="en-CA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b="1" dirty="0" smtClean="0"/>
                        <a:t>lob physical reads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 of text, </a:t>
                      </a:r>
                      <a:r>
                        <a:rPr lang="en-US" dirty="0" err="1" smtClean="0"/>
                        <a:t>ntext</a:t>
                      </a:r>
                      <a:r>
                        <a:rPr lang="en-US" dirty="0" smtClean="0"/>
                        <a:t>, image or large value type pages read from disk.</a:t>
                      </a:r>
                      <a:endParaRPr lang="en-CA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b="1" dirty="0" smtClean="0"/>
                        <a:t>lob read-ahead reads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 of text, </a:t>
                      </a:r>
                      <a:r>
                        <a:rPr lang="en-US" dirty="0" err="1" smtClean="0"/>
                        <a:t>ntext</a:t>
                      </a:r>
                      <a:r>
                        <a:rPr lang="en-US" dirty="0" smtClean="0"/>
                        <a:t>, image or large value type pages placed into the cache for the query.</a:t>
                      </a:r>
                      <a:endParaRPr lang="en-CA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066800"/>
            <a:ext cx="7772400" cy="1676400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82296" indent="0">
              <a:buNone/>
            </a:pPr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SET</a:t>
            </a:r>
            <a:r>
              <a:rPr lang="en-CA" sz="2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STATISTICS</a:t>
            </a:r>
            <a:r>
              <a:rPr lang="en-CA" sz="2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IO</a:t>
            </a:r>
            <a:r>
              <a:rPr lang="en-CA" sz="2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ON</a:t>
            </a:r>
            <a:r>
              <a:rPr lang="en-CA" sz="2400" b="1" dirty="0">
                <a:solidFill>
                  <a:srgbClr val="808080"/>
                </a:solidFill>
                <a:latin typeface="Courier New" pitchFamily="49" charset="0"/>
                <a:cs typeface="Courier New" pitchFamily="49" charset="0"/>
              </a:rPr>
              <a:t>;</a:t>
            </a:r>
            <a:r>
              <a:rPr lang="en-CA" sz="2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82296" indent="0">
              <a:buNone/>
            </a:pPr>
            <a:r>
              <a:rPr lang="en-CA" sz="24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DBCC</a:t>
            </a:r>
            <a:r>
              <a:rPr lang="en-CA" sz="2400" b="1" dirty="0" smtClean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 err="1" smtClean="0">
                <a:solidFill>
                  <a:srgbClr val="008080"/>
                </a:solidFill>
                <a:latin typeface="Courier New" pitchFamily="49" charset="0"/>
                <a:cs typeface="Courier New" pitchFamily="49" charset="0"/>
              </a:rPr>
              <a:t>DropCleanBuffers</a:t>
            </a:r>
            <a:endParaRPr lang="en-CA" sz="2400" b="1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pPr marL="82296" indent="0">
              <a:buNone/>
            </a:pPr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CA" sz="2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>
                <a:solidFill>
                  <a:srgbClr val="80808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CA" sz="2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sz="2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 err="1">
                <a:solidFill>
                  <a:srgbClr val="008080"/>
                </a:solidFill>
                <a:latin typeface="Courier New" pitchFamily="49" charset="0"/>
                <a:cs typeface="Courier New" pitchFamily="49" charset="0"/>
              </a:rPr>
              <a:t>sales</a:t>
            </a:r>
            <a:r>
              <a:rPr lang="en-CA" sz="2400" b="1" dirty="0" err="1">
                <a:solidFill>
                  <a:srgbClr val="808080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en-CA" sz="2400" b="1" dirty="0" err="1">
                <a:solidFill>
                  <a:srgbClr val="008080"/>
                </a:solidFill>
                <a:latin typeface="Courier New" pitchFamily="49" charset="0"/>
                <a:cs typeface="Courier New" pitchFamily="49" charset="0"/>
              </a:rPr>
              <a:t>Customers</a:t>
            </a:r>
            <a:endParaRPr lang="en-CA" sz="2400" b="1" dirty="0">
              <a:solidFill>
                <a:srgbClr val="008080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37" y="3463412"/>
            <a:ext cx="8031463" cy="16419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28224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7714488" cy="1020762"/>
          </a:xfrm>
        </p:spPr>
        <p:txBody>
          <a:bodyPr/>
          <a:lstStyle/>
          <a:p>
            <a:r>
              <a:rPr lang="en-US" dirty="0" smtClean="0"/>
              <a:t>3) Query Execution Time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447800"/>
            <a:ext cx="7714488" cy="4800600"/>
          </a:xfrm>
        </p:spPr>
        <p:txBody>
          <a:bodyPr/>
          <a:lstStyle/>
          <a:p>
            <a:r>
              <a:rPr lang="en-US" dirty="0" smtClean="0"/>
              <a:t>The execution time of the query is affected by blocking (locks), as well as resource contention on the server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>
                <a:solidFill>
                  <a:srgbClr val="0070C0"/>
                </a:solidFill>
              </a:rPr>
              <a:t>SET STATISTICS TIME ON </a:t>
            </a:r>
            <a:r>
              <a:rPr lang="en-US" dirty="0" smtClean="0"/>
              <a:t>outputs the execution time in milliseconds for each query execution.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66800" y="152401"/>
            <a:ext cx="7391400" cy="32932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CA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USE </a:t>
            </a:r>
            <a:r>
              <a:rPr lang="en-CA" sz="1600" b="1" dirty="0" smtClean="0">
                <a:latin typeface="Courier New" pitchFamily="49" charset="0"/>
                <a:cs typeface="Courier New" pitchFamily="49" charset="0"/>
              </a:rPr>
              <a:t>TSQL2012</a:t>
            </a:r>
          </a:p>
          <a:p>
            <a:r>
              <a:rPr lang="en-CA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SET </a:t>
            </a:r>
            <a:r>
              <a:rPr lang="en-CA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STATISTICS TIME ON</a:t>
            </a:r>
            <a:r>
              <a:rPr lang="en-CA" sz="1600" b="1" dirty="0">
                <a:latin typeface="Courier New" pitchFamily="49" charset="0"/>
                <a:cs typeface="Courier New" pitchFamily="49" charset="0"/>
              </a:rPr>
              <a:t>; </a:t>
            </a:r>
          </a:p>
          <a:p>
            <a:r>
              <a:rPr lang="en-CA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DBCC</a:t>
            </a:r>
            <a:r>
              <a:rPr lang="en-CA" sz="1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1600" b="1" dirty="0" smtClean="0">
                <a:latin typeface="Courier New" pitchFamily="49" charset="0"/>
                <a:cs typeface="Courier New" pitchFamily="49" charset="0"/>
              </a:rPr>
              <a:t>DROPCLEANBUFFERS</a:t>
            </a:r>
          </a:p>
          <a:p>
            <a:endParaRPr lang="en-CA" sz="16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CA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CA" sz="1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1600" b="1" dirty="0" err="1">
                <a:latin typeface="Courier New" pitchFamily="49" charset="0"/>
                <a:cs typeface="Courier New" pitchFamily="49" charset="0"/>
              </a:rPr>
              <a:t>C.custid</a:t>
            </a:r>
            <a:r>
              <a:rPr lang="en-CA" sz="16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CA" sz="1600" b="1" dirty="0" err="1">
                <a:latin typeface="Courier New" pitchFamily="49" charset="0"/>
                <a:cs typeface="Courier New" pitchFamily="49" charset="0"/>
              </a:rPr>
              <a:t>C.companyname</a:t>
            </a:r>
            <a:r>
              <a:rPr lang="en-CA" sz="16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CA" sz="1600" b="1" dirty="0" err="1" smtClean="0">
                <a:latin typeface="Courier New" pitchFamily="49" charset="0"/>
                <a:cs typeface="Courier New" pitchFamily="49" charset="0"/>
              </a:rPr>
              <a:t>O.orderid</a:t>
            </a:r>
            <a:r>
              <a:rPr lang="en-CA" sz="16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CA" sz="1600" b="1" dirty="0" err="1">
                <a:latin typeface="Courier New" pitchFamily="49" charset="0"/>
                <a:cs typeface="Courier New" pitchFamily="49" charset="0"/>
              </a:rPr>
              <a:t>O.orderdate</a:t>
            </a:r>
            <a:r>
              <a:rPr lang="en-CA" sz="16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sz="1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1600" b="1" dirty="0" err="1">
                <a:latin typeface="Courier New" pitchFamily="49" charset="0"/>
                <a:cs typeface="Courier New" pitchFamily="49" charset="0"/>
              </a:rPr>
              <a:t>Sales.Customers</a:t>
            </a:r>
            <a:r>
              <a:rPr lang="en-CA" sz="1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sz="1600" b="1" dirty="0">
                <a:latin typeface="Courier New" pitchFamily="49" charset="0"/>
                <a:cs typeface="Courier New" pitchFamily="49" charset="0"/>
              </a:rPr>
              <a:t> C </a:t>
            </a:r>
          </a:p>
          <a:p>
            <a:r>
              <a:rPr lang="en-CA" sz="1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INNER JOIN </a:t>
            </a:r>
            <a:r>
              <a:rPr lang="en-CA" sz="1600" b="1" dirty="0" err="1">
                <a:latin typeface="Courier New" pitchFamily="49" charset="0"/>
                <a:cs typeface="Courier New" pitchFamily="49" charset="0"/>
              </a:rPr>
              <a:t>Sales.Orders</a:t>
            </a:r>
            <a:r>
              <a:rPr lang="en-CA" sz="1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sz="1600" b="1" dirty="0">
                <a:latin typeface="Courier New" pitchFamily="49" charset="0"/>
                <a:cs typeface="Courier New" pitchFamily="49" charset="0"/>
              </a:rPr>
              <a:t> O </a:t>
            </a:r>
            <a:r>
              <a:rPr lang="en-CA" sz="16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ON</a:t>
            </a:r>
            <a:r>
              <a:rPr lang="en-CA" sz="1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1600" b="1" dirty="0" err="1">
                <a:latin typeface="Courier New" pitchFamily="49" charset="0"/>
                <a:cs typeface="Courier New" pitchFamily="49" charset="0"/>
              </a:rPr>
              <a:t>C.custid</a:t>
            </a:r>
            <a:r>
              <a:rPr lang="en-CA" sz="16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CA" sz="1600" b="1" dirty="0" err="1">
                <a:latin typeface="Courier New" pitchFamily="49" charset="0"/>
                <a:cs typeface="Courier New" pitchFamily="49" charset="0"/>
              </a:rPr>
              <a:t>O.custid</a:t>
            </a:r>
            <a:r>
              <a:rPr lang="en-CA" sz="16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endParaRPr lang="en-CA" sz="16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CA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DBCC</a:t>
            </a:r>
            <a:r>
              <a:rPr lang="en-CA" sz="1600" b="1" dirty="0">
                <a:latin typeface="Courier New" pitchFamily="49" charset="0"/>
                <a:cs typeface="Courier New" pitchFamily="49" charset="0"/>
              </a:rPr>
              <a:t> DROPCLEANBUFFERS; </a:t>
            </a:r>
          </a:p>
          <a:p>
            <a:r>
              <a:rPr lang="en-CA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CA" sz="1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1600" b="1" dirty="0" err="1">
                <a:latin typeface="Courier New" pitchFamily="49" charset="0"/>
                <a:cs typeface="Courier New" pitchFamily="49" charset="0"/>
              </a:rPr>
              <a:t>C.custid</a:t>
            </a:r>
            <a:r>
              <a:rPr lang="en-CA" sz="16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CA" sz="1600" b="1" dirty="0" err="1">
                <a:latin typeface="Courier New" pitchFamily="49" charset="0"/>
                <a:cs typeface="Courier New" pitchFamily="49" charset="0"/>
              </a:rPr>
              <a:t>C.companyname</a:t>
            </a:r>
            <a:r>
              <a:rPr lang="en-CA" sz="16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CA" sz="1600" b="1" dirty="0" err="1">
                <a:latin typeface="Courier New" pitchFamily="49" charset="0"/>
                <a:cs typeface="Courier New" pitchFamily="49" charset="0"/>
              </a:rPr>
              <a:t>O.orderid</a:t>
            </a:r>
            <a:r>
              <a:rPr lang="en-CA" sz="16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CA" sz="1600" b="1" dirty="0" err="1">
                <a:latin typeface="Courier New" pitchFamily="49" charset="0"/>
                <a:cs typeface="Courier New" pitchFamily="49" charset="0"/>
              </a:rPr>
              <a:t>O.orderdate</a:t>
            </a:r>
            <a:r>
              <a:rPr lang="en-CA" sz="16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sz="1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1600" b="1" dirty="0" err="1">
                <a:latin typeface="Courier New" pitchFamily="49" charset="0"/>
                <a:cs typeface="Courier New" pitchFamily="49" charset="0"/>
              </a:rPr>
              <a:t>Sales.Customers</a:t>
            </a:r>
            <a:r>
              <a:rPr lang="en-CA" sz="1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sz="1600" b="1" dirty="0">
                <a:latin typeface="Courier New" pitchFamily="49" charset="0"/>
                <a:cs typeface="Courier New" pitchFamily="49" charset="0"/>
              </a:rPr>
              <a:t> C </a:t>
            </a:r>
          </a:p>
          <a:p>
            <a:r>
              <a:rPr lang="en-CA" sz="1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INNER JOIN </a:t>
            </a:r>
            <a:r>
              <a:rPr lang="en-CA" sz="1600" b="1" dirty="0" err="1">
                <a:latin typeface="Courier New" pitchFamily="49" charset="0"/>
                <a:cs typeface="Courier New" pitchFamily="49" charset="0"/>
              </a:rPr>
              <a:t>Sales.Orders</a:t>
            </a:r>
            <a:r>
              <a:rPr lang="en-CA" sz="1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sz="1600" b="1" dirty="0">
                <a:latin typeface="Courier New" pitchFamily="49" charset="0"/>
                <a:cs typeface="Courier New" pitchFamily="49" charset="0"/>
              </a:rPr>
              <a:t> O </a:t>
            </a:r>
            <a:r>
              <a:rPr lang="en-CA" sz="1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ON</a:t>
            </a:r>
            <a:r>
              <a:rPr lang="en-CA" sz="16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1600" b="1" dirty="0" err="1">
                <a:latin typeface="Courier New" pitchFamily="49" charset="0"/>
                <a:cs typeface="Courier New" pitchFamily="49" charset="0"/>
              </a:rPr>
              <a:t>C.custid</a:t>
            </a:r>
            <a:r>
              <a:rPr lang="en-CA" sz="16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CA" sz="1600" b="1" dirty="0" err="1">
                <a:latin typeface="Courier New" pitchFamily="49" charset="0"/>
                <a:cs typeface="Courier New" pitchFamily="49" charset="0"/>
              </a:rPr>
              <a:t>O.custid</a:t>
            </a:r>
            <a:r>
              <a:rPr lang="en-CA" sz="16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WHERE</a:t>
            </a:r>
            <a:r>
              <a:rPr lang="en-CA" sz="1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1600" b="1" dirty="0" err="1">
                <a:latin typeface="Courier New" pitchFamily="49" charset="0"/>
                <a:cs typeface="Courier New" pitchFamily="49" charset="0"/>
              </a:rPr>
              <a:t>O.custid</a:t>
            </a:r>
            <a:r>
              <a:rPr lang="en-CA" sz="1600" b="1" dirty="0">
                <a:latin typeface="Courier New" pitchFamily="49" charset="0"/>
                <a:cs typeface="Courier New" pitchFamily="49" charset="0"/>
              </a:rPr>
              <a:t> &lt; 5</a:t>
            </a:r>
            <a:r>
              <a:rPr lang="en-CA" sz="1600" b="1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en-CA" sz="1600" b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2050" name="Picture 2" descr="C:\Users\Habib\Desktop\Captur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581400"/>
            <a:ext cx="7391400" cy="303813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3086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790688" cy="944562"/>
          </a:xfrm>
        </p:spPr>
        <p:txBody>
          <a:bodyPr/>
          <a:lstStyle/>
          <a:p>
            <a:r>
              <a:rPr lang="en-CA" dirty="0" smtClean="0"/>
              <a:t>Tuning Query Performance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447800"/>
            <a:ext cx="7790688" cy="4800600"/>
          </a:xfrm>
        </p:spPr>
        <p:txBody>
          <a:bodyPr/>
          <a:lstStyle/>
          <a:p>
            <a:r>
              <a:rPr lang="en-US" dirty="0" smtClean="0"/>
              <a:t>Optimization consists of tasks such as</a:t>
            </a:r>
            <a:br>
              <a:rPr lang="en-US" dirty="0" smtClean="0"/>
            </a:br>
            <a:r>
              <a:rPr lang="en-US" dirty="0" smtClean="0"/>
              <a:t>  </a:t>
            </a:r>
          </a:p>
          <a:p>
            <a:pPr lvl="1"/>
            <a:r>
              <a:rPr lang="en-US" dirty="0" smtClean="0"/>
              <a:t>Rewriting the query</a:t>
            </a:r>
          </a:p>
          <a:p>
            <a:pPr lvl="1"/>
            <a:r>
              <a:rPr lang="en-US" dirty="0" smtClean="0"/>
              <a:t>De-normalizing or normalizing tables</a:t>
            </a:r>
          </a:p>
          <a:p>
            <a:pPr lvl="1"/>
            <a:r>
              <a:rPr lang="en-US" dirty="0" smtClean="0"/>
              <a:t>Adding indexes</a:t>
            </a:r>
          </a:p>
          <a:p>
            <a:pPr lvl="1"/>
            <a:r>
              <a:rPr lang="en-US" dirty="0" smtClean="0"/>
              <a:t>Removing indexes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76200"/>
            <a:ext cx="7193280" cy="990600"/>
          </a:xfrm>
        </p:spPr>
        <p:txBody>
          <a:bodyPr/>
          <a:lstStyle/>
          <a:p>
            <a:r>
              <a:rPr lang="en-CA" dirty="0" smtClean="0"/>
              <a:t>Graphical Execution Plan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066800"/>
            <a:ext cx="8001000" cy="57150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This is a graphical tool useful for optimizing queries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To display the plan use </a:t>
            </a:r>
            <a:r>
              <a:rPr lang="en-US" dirty="0" smtClean="0">
                <a:solidFill>
                  <a:srgbClr val="0070C0"/>
                </a:solidFill>
              </a:rPr>
              <a:t>Display Estimated Execution Plan</a:t>
            </a:r>
            <a:r>
              <a:rPr lang="en-US" dirty="0" smtClean="0"/>
              <a:t> or the </a:t>
            </a:r>
            <a:r>
              <a:rPr lang="en-US" dirty="0" smtClean="0">
                <a:solidFill>
                  <a:srgbClr val="0070C0"/>
                </a:solidFill>
              </a:rPr>
              <a:t>Include Actual Execution Plan </a:t>
            </a:r>
            <a:r>
              <a:rPr lang="en-US" dirty="0" smtClean="0"/>
              <a:t>from </a:t>
            </a:r>
            <a:r>
              <a:rPr lang="en-US" dirty="0" smtClean="0">
                <a:solidFill>
                  <a:srgbClr val="0070C0"/>
                </a:solidFill>
              </a:rPr>
              <a:t>Query</a:t>
            </a:r>
            <a:r>
              <a:rPr lang="en-US" dirty="0" smtClean="0"/>
              <a:t> menu item or by right clicking the query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The result is displayed in new tab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It can be saved as .</a:t>
            </a:r>
            <a:r>
              <a:rPr lang="en-US" dirty="0" err="1" smtClean="0">
                <a:solidFill>
                  <a:srgbClr val="0070C0"/>
                </a:solidFill>
              </a:rPr>
              <a:t>SqlPlan</a:t>
            </a:r>
            <a:r>
              <a:rPr lang="en-US" dirty="0" smtClean="0"/>
              <a:t> file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To tune poorly performing queries identify the highest cost batch and then determine alternatives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52400"/>
            <a:ext cx="7650480" cy="762000"/>
          </a:xfrm>
        </p:spPr>
        <p:txBody>
          <a:bodyPr/>
          <a:lstStyle/>
          <a:p>
            <a:pPr algn="ctr"/>
            <a:r>
              <a:rPr lang="en-US" dirty="0" smtClean="0"/>
              <a:t>Guidelines 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066800"/>
            <a:ext cx="7866888" cy="56388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Read execution plans right to left and top to bottom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Use the + symbol in the bottom-right corner to navigate large plans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Mouse-over each step to get more information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Mouse-over connecting lines to see details such as number of rows transferred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The heavier weight connecting lines indicate more rows moved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Where a query consists of multiple batches, investigate the most expensive batch first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6586034"/>
              </p:ext>
            </p:extLst>
          </p:nvPr>
        </p:nvGraphicFramePr>
        <p:xfrm>
          <a:off x="1066800" y="824746"/>
          <a:ext cx="7867650" cy="49664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1764"/>
                <a:gridCol w="5695886"/>
              </a:tblGrid>
              <a:tr h="493095">
                <a:tc>
                  <a:txBody>
                    <a:bodyPr/>
                    <a:lstStyle/>
                    <a:p>
                      <a:r>
                        <a:rPr lang="en-US" dirty="0" smtClean="0"/>
                        <a:t>Items to watch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CA" dirty="0"/>
                    </a:p>
                  </a:txBody>
                  <a:tcPr/>
                </a:tc>
              </a:tr>
              <a:tr h="851095">
                <a:tc>
                  <a:txBody>
                    <a:bodyPr/>
                    <a:lstStyle/>
                    <a:p>
                      <a:r>
                        <a:rPr lang="en-US" dirty="0" smtClean="0"/>
                        <a:t>Thick arrow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thick arrow represents a large number of rows moving from one operation in the execution plan to another. </a:t>
                      </a:r>
                      <a:endParaRPr lang="en-CA" dirty="0"/>
                    </a:p>
                  </a:txBody>
                  <a:tcPr/>
                </a:tc>
              </a:tr>
              <a:tr h="1259505">
                <a:tc>
                  <a:txBody>
                    <a:bodyPr/>
                    <a:lstStyle/>
                    <a:p>
                      <a:r>
                        <a:rPr lang="en-US" dirty="0" smtClean="0"/>
                        <a:t>Hash Match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If a hash operation is used to handle clauses such as GROUP BY and JOIN, it often means that an appropriate index did not exist to optimize the query.</a:t>
                      </a:r>
                      <a:endParaRPr lang="en-CA" dirty="0"/>
                    </a:p>
                  </a:txBody>
                  <a:tcPr/>
                </a:tc>
              </a:tr>
              <a:tr h="493095">
                <a:tc>
                  <a:txBody>
                    <a:bodyPr/>
                    <a:lstStyle/>
                    <a:p>
                      <a:r>
                        <a:rPr lang="en-US" dirty="0" smtClean="0"/>
                        <a:t>Sort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If it is a high percentage of the query cost, you should </a:t>
                      </a:r>
                    </a:p>
                    <a:p>
                      <a:r>
                        <a:rPr lang="en-US" dirty="0" smtClean="0"/>
                        <a:t>consider whether an index can be built to remove the need for the sort operation.</a:t>
                      </a:r>
                      <a:endParaRPr lang="en-CA" dirty="0"/>
                    </a:p>
                  </a:txBody>
                  <a:tcPr/>
                </a:tc>
              </a:tr>
              <a:tr h="1385054">
                <a:tc>
                  <a:txBody>
                    <a:bodyPr/>
                    <a:lstStyle/>
                    <a:p>
                      <a:r>
                        <a:rPr lang="en-US" dirty="0" smtClean="0"/>
                        <a:t>Table or clustered </a:t>
                      </a:r>
                    </a:p>
                    <a:p>
                      <a:r>
                        <a:rPr lang="en-US" dirty="0" smtClean="0"/>
                        <a:t>index scans</a:t>
                      </a:r>
                    </a:p>
                    <a:p>
                      <a:endParaRPr lang="en-US" dirty="0" smtClean="0"/>
                    </a:p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clustered index scan and a table scan indicate that no appropriate index can be used to optimize the query.</a:t>
                      </a:r>
                      <a:endParaRPr lang="en-CA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Left Arrow 4"/>
          <p:cNvSpPr/>
          <p:nvPr/>
        </p:nvSpPr>
        <p:spPr>
          <a:xfrm>
            <a:off x="1225365" y="1676400"/>
            <a:ext cx="762000" cy="3810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 descr="Untitled-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32643" y="2692400"/>
            <a:ext cx="863600" cy="685800"/>
          </a:xfrm>
          <a:prstGeom prst="rect">
            <a:avLst/>
          </a:prstGeom>
        </p:spPr>
      </p:pic>
      <p:pic>
        <p:nvPicPr>
          <p:cNvPr id="8" name="Picture 7" descr="Untitled-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69139" y="3810000"/>
            <a:ext cx="609600" cy="508000"/>
          </a:xfrm>
          <a:prstGeom prst="rect">
            <a:avLst/>
          </a:prstGeom>
        </p:spPr>
      </p:pic>
      <p:pic>
        <p:nvPicPr>
          <p:cNvPr id="9" name="Picture 8" descr="Untitled-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149905" y="5048119"/>
            <a:ext cx="622300" cy="533400"/>
          </a:xfrm>
          <a:prstGeom prst="rect">
            <a:avLst/>
          </a:prstGeom>
        </p:spPr>
      </p:pic>
      <p:pic>
        <p:nvPicPr>
          <p:cNvPr id="10" name="Picture 9" descr="Untitled-1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972569" y="5017020"/>
            <a:ext cx="609600" cy="58743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377950" y="6096000"/>
            <a:ext cx="7315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 smtClean="0">
                <a:solidFill>
                  <a:srgbClr val="0000FF"/>
                </a:solidFill>
              </a:rPr>
              <a:t>http://</a:t>
            </a:r>
            <a:r>
              <a:rPr lang="en-CA" dirty="0" smtClean="0">
                <a:solidFill>
                  <a:srgbClr val="0000FF"/>
                </a:solidFill>
                <a:hlinkClick r:id="rId6"/>
              </a:rPr>
              <a:t>msdn.microsoft.com/en-us/library/ms175913(v=sql.105</a:t>
            </a:r>
            <a:r>
              <a:rPr lang="en-CA" dirty="0" smtClean="0">
                <a:solidFill>
                  <a:srgbClr val="0000FF"/>
                </a:solidFill>
              </a:rPr>
              <a:t>).</a:t>
            </a:r>
            <a:r>
              <a:rPr lang="en-CA" dirty="0" err="1" smtClean="0">
                <a:solidFill>
                  <a:srgbClr val="0000FF"/>
                </a:solidFill>
              </a:rPr>
              <a:t>aspx</a:t>
            </a:r>
            <a:endParaRPr lang="en-CA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28600"/>
            <a:ext cx="7498080" cy="792162"/>
          </a:xfrm>
        </p:spPr>
        <p:txBody>
          <a:bodyPr/>
          <a:lstStyle/>
          <a:p>
            <a:pPr algn="ctr"/>
            <a:r>
              <a:rPr lang="en-CA" dirty="0" smtClean="0"/>
              <a:t>Using Search Arguments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143000"/>
            <a:ext cx="7924800" cy="5562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 search argument (</a:t>
            </a:r>
            <a:r>
              <a:rPr lang="en-US" dirty="0" smtClean="0">
                <a:solidFill>
                  <a:srgbClr val="0070C0"/>
                </a:solidFill>
              </a:rPr>
              <a:t>SARG</a:t>
            </a:r>
            <a:r>
              <a:rPr lang="en-US" dirty="0" smtClean="0"/>
              <a:t>) is a filter expression that is used to limit the number of rows returned by a query and that can use an index seek operation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A filter expression is not a </a:t>
            </a:r>
            <a:r>
              <a:rPr lang="en-US" dirty="0" smtClean="0">
                <a:solidFill>
                  <a:srgbClr val="0070C0"/>
                </a:solidFill>
              </a:rPr>
              <a:t>SARG</a:t>
            </a:r>
            <a:r>
              <a:rPr lang="en-US" dirty="0" smtClean="0"/>
              <a:t> if the column from the table is used in an expression </a:t>
            </a:r>
            <a:br>
              <a:rPr lang="en-US" dirty="0" smtClean="0"/>
            </a:br>
            <a:r>
              <a:rPr lang="en-US" dirty="0" smtClean="0"/>
              <a:t>(such as </a:t>
            </a:r>
            <a:r>
              <a:rPr lang="en-US" dirty="0" smtClean="0">
                <a:solidFill>
                  <a:srgbClr val="FF33CC"/>
                </a:solidFill>
              </a:rPr>
              <a:t>LEFT</a:t>
            </a:r>
            <a:r>
              <a:rPr lang="en-US" dirty="0" smtClean="0"/>
              <a:t>(Name, 1) = '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')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If the filter is not a </a:t>
            </a:r>
            <a:r>
              <a:rPr lang="en-US" dirty="0" smtClean="0">
                <a:solidFill>
                  <a:srgbClr val="0070C0"/>
                </a:solidFill>
              </a:rPr>
              <a:t>SARG</a:t>
            </a:r>
            <a:r>
              <a:rPr lang="en-US" dirty="0" smtClean="0"/>
              <a:t> and no other </a:t>
            </a:r>
            <a:r>
              <a:rPr lang="en-US" dirty="0" smtClean="0">
                <a:solidFill>
                  <a:srgbClr val="0070C0"/>
                </a:solidFill>
              </a:rPr>
              <a:t>SARGs</a:t>
            </a:r>
            <a:r>
              <a:rPr lang="en-US" dirty="0" smtClean="0"/>
              <a:t> exist in the query, this results in an index or table scan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06348" y="228600"/>
            <a:ext cx="8001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Use TSQL2012</a:t>
            </a:r>
          </a:p>
          <a:p>
            <a:endParaRPr lang="en-CA" b="1" dirty="0" smtClean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>
                <a:solidFill>
                  <a:srgbClr val="FF33CC"/>
                </a:solidFill>
                <a:latin typeface="Courier New" pitchFamily="49" charset="0"/>
                <a:cs typeface="Courier New" pitchFamily="49" charset="0"/>
              </a:rPr>
              <a:t>COUNT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(*) </a:t>
            </a:r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sales.Orders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where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>
                <a:solidFill>
                  <a:srgbClr val="FF33CC"/>
                </a:solidFill>
                <a:latin typeface="Courier New" pitchFamily="49" charset="0"/>
                <a:cs typeface="Courier New" pitchFamily="49" charset="0"/>
              </a:rPr>
              <a:t>YEAR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orderdate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)=2007;</a:t>
            </a:r>
          </a:p>
          <a:p>
            <a:endParaRPr lang="en-CA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>
                <a:solidFill>
                  <a:srgbClr val="FF33CC"/>
                </a:solidFill>
                <a:latin typeface="Courier New" pitchFamily="49" charset="0"/>
                <a:cs typeface="Courier New" pitchFamily="49" charset="0"/>
              </a:rPr>
              <a:t>COUNT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(*) </a:t>
            </a:r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sales.Orders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where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orderdate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&gt;=</a:t>
            </a:r>
            <a:r>
              <a:rPr lang="en-CA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'20070101'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and 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orderdate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&lt;</a:t>
            </a:r>
            <a:r>
              <a:rPr lang="en-CA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'20080101'</a:t>
            </a:r>
          </a:p>
        </p:txBody>
      </p:sp>
      <p:pic>
        <p:nvPicPr>
          <p:cNvPr id="1026" name="Picture 2" descr="C:\Users\Habib\Desktop\Captur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743200"/>
            <a:ext cx="7984846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own Arrow 5"/>
          <p:cNvSpPr/>
          <p:nvPr/>
        </p:nvSpPr>
        <p:spPr>
          <a:xfrm rot="5400000">
            <a:off x="8031023" y="3856177"/>
            <a:ext cx="1524000" cy="517246"/>
          </a:xfrm>
          <a:prstGeom prst="downArrow">
            <a:avLst>
              <a:gd name="adj1" fmla="val 50000"/>
              <a:gd name="adj2" fmla="val 48354"/>
            </a:avLst>
          </a:prstGeom>
          <a:solidFill>
            <a:schemeClr val="accent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Scan</a:t>
            </a:r>
            <a:endParaRPr lang="en-CA" dirty="0"/>
          </a:p>
        </p:txBody>
      </p:sp>
      <p:sp>
        <p:nvSpPr>
          <p:cNvPr id="7" name="Down Arrow 6"/>
          <p:cNvSpPr/>
          <p:nvPr/>
        </p:nvSpPr>
        <p:spPr>
          <a:xfrm rot="5400000">
            <a:off x="8073253" y="5436772"/>
            <a:ext cx="1447800" cy="517246"/>
          </a:xfrm>
          <a:prstGeom prst="downArrow">
            <a:avLst>
              <a:gd name="adj1" fmla="val 50000"/>
              <a:gd name="adj2" fmla="val 48354"/>
            </a:avLst>
          </a:prstGeom>
          <a:solidFill>
            <a:schemeClr val="accent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/>
              <a:t>Seek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72213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944562"/>
          </a:xfrm>
        </p:spPr>
        <p:txBody>
          <a:bodyPr/>
          <a:lstStyle/>
          <a:p>
            <a:pPr algn="ctr"/>
            <a:r>
              <a:rPr lang="en-CA" dirty="0" smtClean="0"/>
              <a:t>Using Joins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7924800" cy="4800600"/>
          </a:xfrm>
        </p:spPr>
        <p:txBody>
          <a:bodyPr/>
          <a:lstStyle/>
          <a:p>
            <a:r>
              <a:rPr lang="en-US" dirty="0" smtClean="0"/>
              <a:t>Minimize the number of join clauses used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>
                <a:solidFill>
                  <a:srgbClr val="0070C0"/>
                </a:solidFill>
              </a:rPr>
              <a:t>Outer</a:t>
            </a:r>
            <a:r>
              <a:rPr lang="en-US" dirty="0" smtClean="0"/>
              <a:t> joins incur more cost than </a:t>
            </a:r>
            <a:r>
              <a:rPr lang="en-US" dirty="0" smtClean="0">
                <a:solidFill>
                  <a:srgbClr val="0070C0"/>
                </a:solidFill>
              </a:rPr>
              <a:t>inner</a:t>
            </a:r>
            <a:r>
              <a:rPr lang="en-US" dirty="0" smtClean="0"/>
              <a:t> joins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The behavior of the </a:t>
            </a:r>
            <a:r>
              <a:rPr lang="en-US" dirty="0" smtClean="0">
                <a:solidFill>
                  <a:srgbClr val="0070C0"/>
                </a:solidFill>
              </a:rPr>
              <a:t>ON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0070C0"/>
                </a:solidFill>
              </a:rPr>
              <a:t>WHERE</a:t>
            </a:r>
            <a:r>
              <a:rPr lang="en-US" dirty="0" smtClean="0"/>
              <a:t> clauses is the same in </a:t>
            </a:r>
            <a:r>
              <a:rPr lang="en-US" dirty="0" smtClean="0">
                <a:solidFill>
                  <a:srgbClr val="0070C0"/>
                </a:solidFill>
              </a:rPr>
              <a:t>Inner</a:t>
            </a:r>
            <a:r>
              <a:rPr lang="en-US" dirty="0" smtClean="0"/>
              <a:t> Joins</a:t>
            </a:r>
          </a:p>
          <a:p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19200" y="228600"/>
            <a:ext cx="7924800" cy="40934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CA" sz="20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-- Query 1 </a:t>
            </a:r>
          </a:p>
          <a:p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p.ProductID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p.Name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sod.SalesOrderID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Production.Product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p </a:t>
            </a:r>
          </a:p>
          <a:p>
            <a:r>
              <a:rPr lang="en-CA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INNER JOIN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Sales.SalesOrderDetail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sod  </a:t>
            </a:r>
          </a:p>
          <a:p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ON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sod.ProductID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p.ProductID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WHERE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p.Color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CA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'Black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';</a:t>
            </a:r>
          </a:p>
          <a:p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sz="20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-- Query 2 </a:t>
            </a:r>
          </a:p>
          <a:p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p.ProductID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p.Name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sod.SalesOrderID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Production.Product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p </a:t>
            </a:r>
          </a:p>
          <a:p>
            <a:r>
              <a:rPr lang="en-CA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INNER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JOIN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Sales.SalesOrderDetail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sod  </a:t>
            </a:r>
          </a:p>
          <a:p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ON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sod.ProductID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p.ProductID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en-CA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AND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p.Color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CA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'Black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';</a:t>
            </a:r>
            <a:endParaRPr lang="en-CA" sz="2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657600" y="4876800"/>
            <a:ext cx="3200400" cy="762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The performance of the two queries is the same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76200"/>
            <a:ext cx="7848600" cy="838200"/>
          </a:xfrm>
        </p:spPr>
        <p:txBody>
          <a:bodyPr/>
          <a:lstStyle/>
          <a:p>
            <a:pPr algn="ctr"/>
            <a:r>
              <a:rPr lang="en-CA" dirty="0" smtClean="0"/>
              <a:t>Non Correlated </a:t>
            </a:r>
            <a:r>
              <a:rPr lang="en-CA" dirty="0" err="1" smtClean="0"/>
              <a:t>Subqueries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066800"/>
            <a:ext cx="7696200" cy="9144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0070C0"/>
                </a:solidFill>
              </a:rPr>
              <a:t>Non-correlated</a:t>
            </a:r>
            <a:r>
              <a:rPr lang="en-US" dirty="0" smtClean="0"/>
              <a:t> subquery is executed only once per query and returns only one value</a:t>
            </a:r>
            <a:endParaRPr lang="en-CA" dirty="0"/>
          </a:p>
        </p:txBody>
      </p:sp>
      <p:sp>
        <p:nvSpPr>
          <p:cNvPr id="4" name="Rectangle 3"/>
          <p:cNvSpPr/>
          <p:nvPr/>
        </p:nvSpPr>
        <p:spPr>
          <a:xfrm>
            <a:off x="1143000" y="2133600"/>
            <a:ext cx="7696200" cy="22467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-- All products that are more expensive than </a:t>
            </a:r>
            <a:r>
              <a:rPr lang="en-US" sz="2000" b="1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avg</a:t>
            </a:r>
            <a:r>
              <a:rPr lang="en-US" sz="20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p.ProductID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,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p.Name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,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p.ListPrice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</a:t>
            </a:r>
          </a:p>
          <a:p>
            <a:r>
              <a:rPr lang="en-US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Production.Product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p </a:t>
            </a:r>
          </a:p>
          <a:p>
            <a:r>
              <a:rPr lang="en-US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WHERE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p.ListPrice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&gt; ( </a:t>
            </a: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smtClean="0">
                <a:solidFill>
                  <a:srgbClr val="FF33CC"/>
                </a:solidFill>
                <a:latin typeface="Courier New" pitchFamily="49" charset="0"/>
                <a:cs typeface="Courier New" pitchFamily="49" charset="0"/>
              </a:rPr>
              <a:t>AVG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(p2.ListPrice) </a:t>
            </a: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Production.Product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p2</a:t>
            </a: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);</a:t>
            </a:r>
            <a:endParaRPr lang="en-CA" sz="2000" b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5" name="Picture 4" descr="Untitled-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66800" y="4648200"/>
            <a:ext cx="7924800" cy="1981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1454"/>
            <a:ext cx="7498080" cy="838200"/>
          </a:xfrm>
        </p:spPr>
        <p:txBody>
          <a:bodyPr/>
          <a:lstStyle/>
          <a:p>
            <a:pPr algn="ctr"/>
            <a:r>
              <a:rPr lang="en-CA" dirty="0" smtClean="0"/>
              <a:t>Correlated </a:t>
            </a:r>
            <a:r>
              <a:rPr lang="en-CA" dirty="0" err="1" smtClean="0"/>
              <a:t>Subqueries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838200"/>
            <a:ext cx="7924800" cy="1676400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0070C0"/>
                </a:solidFill>
              </a:rPr>
              <a:t>correlated</a:t>
            </a:r>
            <a:r>
              <a:rPr lang="en-US" dirty="0" smtClean="0"/>
              <a:t> subquery which uses </a:t>
            </a:r>
            <a:r>
              <a:rPr lang="en-US" dirty="0" smtClean="0">
                <a:solidFill>
                  <a:srgbClr val="0070C0"/>
                </a:solidFill>
              </a:rPr>
              <a:t>EXISTS</a:t>
            </a:r>
            <a:r>
              <a:rPr lang="en-US" dirty="0" smtClean="0"/>
              <a:t> to filter the outer query is equal in performance compared to using a </a:t>
            </a:r>
            <a:r>
              <a:rPr lang="en-US" dirty="0" smtClean="0">
                <a:solidFill>
                  <a:srgbClr val="0070C0"/>
                </a:solidFill>
              </a:rPr>
              <a:t>JOIN</a:t>
            </a:r>
            <a:endParaRPr lang="en-CA" dirty="0">
              <a:solidFill>
                <a:srgbClr val="0070C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43000" y="2590800"/>
            <a:ext cx="7848600" cy="40934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CA" sz="20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--Products Than have been sold</a:t>
            </a:r>
          </a:p>
          <a:p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p.ProductID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p.Name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Production.Product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p </a:t>
            </a:r>
          </a:p>
          <a:p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WHERE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EXISTS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( </a:t>
            </a: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US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Sales.SalesOrderDetail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sod  </a:t>
            </a:r>
          </a:p>
          <a:p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WHERE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sod.ProductID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p.ProductID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GO</a:t>
            </a:r>
          </a:p>
          <a:p>
            <a:endParaRPr lang="en-US" sz="2000" b="1" dirty="0" smtClean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Distinct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p.ProductID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p.Name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Production.Product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p </a:t>
            </a:r>
          </a:p>
          <a:p>
            <a:r>
              <a:rPr lang="en-CA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Join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Sales.SalesOrderDetail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sod </a:t>
            </a:r>
          </a:p>
          <a:p>
            <a:r>
              <a:rPr lang="en-CA" sz="20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on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sod.ProductID</a:t>
            </a:r>
            <a:r>
              <a:rPr lang="en-CA" sz="20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CA" sz="2000" b="1" dirty="0" err="1" smtClean="0">
                <a:latin typeface="Courier New" pitchFamily="49" charset="0"/>
                <a:cs typeface="Courier New" pitchFamily="49" charset="0"/>
              </a:rPr>
              <a:t>p.ProductID</a:t>
            </a:r>
            <a:endParaRPr lang="en-CA" sz="2000" b="1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Minus 4"/>
          <p:cNvSpPr/>
          <p:nvPr/>
        </p:nvSpPr>
        <p:spPr>
          <a:xfrm>
            <a:off x="1905000" y="4800600"/>
            <a:ext cx="5486400" cy="45719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-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8600" y="762000"/>
            <a:ext cx="8763000" cy="5638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304800"/>
            <a:ext cx="7924800" cy="19050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If a large number of rows are returned by the outer query, subquery would be executed for each row, so that means a large number of query executions</a:t>
            </a:r>
            <a:endParaRPr lang="en-CA" dirty="0"/>
          </a:p>
        </p:txBody>
      </p:sp>
      <p:sp>
        <p:nvSpPr>
          <p:cNvPr id="4" name="Rectangle 3"/>
          <p:cNvSpPr/>
          <p:nvPr/>
        </p:nvSpPr>
        <p:spPr>
          <a:xfrm>
            <a:off x="1143000" y="2334827"/>
            <a:ext cx="7924800" cy="39703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 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soh.SalesOrderID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soh.OrderDate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,(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TOP(1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) sod1.UnitPrice 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Sales.SalesOrderDetail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sod1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WHERE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sod1.SalesOrderID =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soh.SalesOrderID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ORDER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BY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sod1.OrderQty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DESC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)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UnitPrice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,(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TOP(1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) sod2.OrderQty 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Sales.SalesOrderDetail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sod2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WHERE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sod2.SalesOrderID =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soh.SalesOrderID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ORDER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BY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sod2.OrderQty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DESC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)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OrderQty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Sales.SalesOrderHeader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soh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WHERE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soh.TerritoryID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= 4;</a:t>
            </a:r>
            <a:endParaRPr lang="en-CA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Left Arrow 4"/>
          <p:cNvSpPr/>
          <p:nvPr/>
        </p:nvSpPr>
        <p:spPr>
          <a:xfrm>
            <a:off x="6157404" y="5715000"/>
            <a:ext cx="1752600" cy="533400"/>
          </a:xfrm>
          <a:prstGeom prst="lef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6224 Rows</a:t>
            </a:r>
            <a:endParaRPr lang="en-CA" b="1" dirty="0"/>
          </a:p>
        </p:txBody>
      </p:sp>
      <p:sp>
        <p:nvSpPr>
          <p:cNvPr id="6" name="Rectangle 5"/>
          <p:cNvSpPr/>
          <p:nvPr/>
        </p:nvSpPr>
        <p:spPr>
          <a:xfrm>
            <a:off x="6705600" y="3810000"/>
            <a:ext cx="2133600" cy="685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6224+6224  execution</a:t>
            </a:r>
            <a:endParaRPr lang="en-CA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66800" y="1447800"/>
            <a:ext cx="8001000" cy="39703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 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soh.SalesOrderID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,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soh.OrderDate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,a.* </a:t>
            </a:r>
          </a:p>
          <a:p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Sales.SalesOrderHeader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soh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OUTER APPLY 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(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TOP(1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)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     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sod.UnitPrice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      ,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sod.OrderQty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Sales.SalesOrderDetail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sod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WHERE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sod.SalesOrderID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soh.SalesOrderID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ORDER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BY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sod.OrderQty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DESC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)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a </a:t>
            </a:r>
          </a:p>
          <a:p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WHERE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soh.TerritoryID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= 4;</a:t>
            </a:r>
            <a:endParaRPr lang="en-CA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629400" y="1905000"/>
            <a:ext cx="2133600" cy="685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6224  execution</a:t>
            </a:r>
            <a:endParaRPr lang="en-CA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ntitled-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400" y="685800"/>
            <a:ext cx="8763000" cy="548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76200"/>
            <a:ext cx="7498080" cy="762000"/>
          </a:xfrm>
        </p:spPr>
        <p:txBody>
          <a:bodyPr/>
          <a:lstStyle/>
          <a:p>
            <a:pPr algn="ctr"/>
            <a:r>
              <a:rPr lang="en-CA" dirty="0" smtClean="0"/>
              <a:t>Scalar </a:t>
            </a:r>
            <a:r>
              <a:rPr lang="en-CA" dirty="0" err="1" smtClean="0"/>
              <a:t>UDFs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990600"/>
            <a:ext cx="7696200" cy="57150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UDFs</a:t>
            </a:r>
            <a:r>
              <a:rPr lang="en-US" dirty="0" smtClean="0"/>
              <a:t> can significantly degrade performance because  these functions are not expanded and optimized into the main query plan by the optimizer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The cost of whatever is done inside the functions is not included in the cost estimates found in the </a:t>
            </a:r>
            <a:r>
              <a:rPr lang="en-US" dirty="0" smtClean="0">
                <a:solidFill>
                  <a:srgbClr val="0070C0"/>
                </a:solidFill>
              </a:rPr>
              <a:t>graphical  execution </a:t>
            </a:r>
            <a:r>
              <a:rPr lang="en-US" dirty="0" smtClean="0"/>
              <a:t>plan for the query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The appropriate performance metric for queries using </a:t>
            </a:r>
            <a:r>
              <a:rPr lang="en-US" dirty="0" smtClean="0">
                <a:solidFill>
                  <a:srgbClr val="0070C0"/>
                </a:solidFill>
              </a:rPr>
              <a:t>UDFs</a:t>
            </a:r>
            <a:r>
              <a:rPr lang="en-US" dirty="0" smtClean="0"/>
              <a:t> is the execution time, which is returned using the </a:t>
            </a:r>
            <a:r>
              <a:rPr lang="en-US" dirty="0" smtClean="0">
                <a:solidFill>
                  <a:srgbClr val="0070C0"/>
                </a:solidFill>
              </a:rPr>
              <a:t>SET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70C0"/>
                </a:solidFill>
              </a:rPr>
              <a:t>STATISTICS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70C0"/>
                </a:solidFill>
              </a:rPr>
              <a:t>TIME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70C0"/>
                </a:solidFill>
              </a:rPr>
              <a:t>ON</a:t>
            </a:r>
            <a:endParaRPr lang="en-CA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66800" y="228600"/>
            <a:ext cx="7848600" cy="64633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AdventureWorks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; </a:t>
            </a:r>
          </a:p>
          <a:p>
            <a:r>
              <a:rPr lang="en-US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GO 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CREATE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FUNCTION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dbo.fnGetCustomerAccountNumber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(@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CustomerID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) </a:t>
            </a:r>
          </a:p>
          <a:p>
            <a:r>
              <a:rPr lang="en-US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RETURNS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VARCHAR(10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) </a:t>
            </a:r>
          </a:p>
          <a:p>
            <a:r>
              <a:rPr lang="en-US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 </a:t>
            </a:r>
          </a:p>
          <a:p>
            <a:r>
              <a:rPr lang="en-US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BEGIN 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FF33CC"/>
                </a:solidFill>
                <a:latin typeface="Courier New" pitchFamily="49" charset="0"/>
                <a:cs typeface="Courier New" pitchFamily="49" charset="0"/>
              </a:rPr>
              <a:t>ISNULL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 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   ( 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AccountNumber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Sales.Customer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WHERE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CustomerID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= @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CustomerID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), 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'NOT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FOUND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'); </a:t>
            </a:r>
          </a:p>
          <a:p>
            <a:r>
              <a:rPr lang="en-US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END </a:t>
            </a:r>
          </a:p>
          <a:p>
            <a:r>
              <a:rPr lang="en-US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GO </a:t>
            </a:r>
          </a:p>
          <a:p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SET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STATISTICS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IO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ON; </a:t>
            </a:r>
          </a:p>
          <a:p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SET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STATISTICS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TIME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ON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;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 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soh.SalesOrderID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,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soh.OrderDate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,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dbo.fnGetCustomerAccountNumber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soh.CustomerID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) </a:t>
            </a:r>
          </a:p>
          <a:p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Sales.SalesOrderHeader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soh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en-CA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Left Arrow 4"/>
          <p:cNvSpPr/>
          <p:nvPr/>
        </p:nvSpPr>
        <p:spPr>
          <a:xfrm rot="16200000">
            <a:off x="4375543" y="4625676"/>
            <a:ext cx="1588649" cy="132889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66800" y="228600"/>
            <a:ext cx="7924800" cy="45243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AdventureWorks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;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SET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STATISTICS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IO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ON; </a:t>
            </a:r>
          </a:p>
          <a:p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SET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STATISTICS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TIME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ON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;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 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soh.SalesOrderID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,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soh.OrderDate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,</a:t>
            </a:r>
            <a:r>
              <a:rPr lang="en-CA" b="1" dirty="0" smtClean="0">
                <a:solidFill>
                  <a:srgbClr val="FF33CC"/>
                </a:solidFill>
                <a:latin typeface="Courier New" pitchFamily="49" charset="0"/>
                <a:cs typeface="Courier New" pitchFamily="49" charset="0"/>
              </a:rPr>
              <a:t>ISNULL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(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   (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 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AccountNumber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Sales.Customer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WHERE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CustomerID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soh.CustomerID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   ), </a:t>
            </a:r>
            <a:r>
              <a:rPr lang="en-CA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'NOT FOUND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') </a:t>
            </a:r>
          </a:p>
          <a:p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Sales.SalesOrderHeader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 smtClean="0">
                <a:latin typeface="Courier New" pitchFamily="49" charset="0"/>
                <a:cs typeface="Courier New" pitchFamily="49" charset="0"/>
              </a:rPr>
              <a:t>soh</a:t>
            </a:r>
            <a:r>
              <a:rPr lang="en-CA" b="1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en-CA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6629400" y="2438400"/>
            <a:ext cx="609600" cy="1981200"/>
          </a:xfrm>
          <a:prstGeom prst="rightBrac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titled-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6200" y="625875"/>
            <a:ext cx="8915400" cy="5638799"/>
          </a:xfrm>
          <a:prstGeom prst="rect">
            <a:avLst/>
          </a:prstGeom>
        </p:spPr>
      </p:pic>
      <p:sp>
        <p:nvSpPr>
          <p:cNvPr id="6" name="Left Arrow 5"/>
          <p:cNvSpPr/>
          <p:nvPr/>
        </p:nvSpPr>
        <p:spPr>
          <a:xfrm rot="529549">
            <a:off x="4567113" y="1386763"/>
            <a:ext cx="3513862" cy="1675388"/>
          </a:xfrm>
          <a:prstGeom prst="lef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Query Cost did not take function into account 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8001000" cy="944562"/>
          </a:xfrm>
        </p:spPr>
        <p:txBody>
          <a:bodyPr/>
          <a:lstStyle/>
          <a:p>
            <a:pPr algn="ctr"/>
            <a:r>
              <a:rPr lang="en-CA" dirty="0" smtClean="0"/>
              <a:t>SQL Server Profiler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600200"/>
            <a:ext cx="7714488" cy="4648200"/>
          </a:xfrm>
        </p:spPr>
        <p:txBody>
          <a:bodyPr/>
          <a:lstStyle/>
          <a:p>
            <a:r>
              <a:rPr lang="en-US" dirty="0" smtClean="0"/>
              <a:t>SQL Server Profiler is used to listen for events that occur on a SQL Server instance</a:t>
            </a:r>
          </a:p>
          <a:p>
            <a:r>
              <a:rPr lang="en-US" dirty="0" smtClean="0"/>
              <a:t>For tuning, we typically use 	</a:t>
            </a:r>
            <a:r>
              <a:rPr lang="en-US" dirty="0" err="1" smtClean="0">
                <a:solidFill>
                  <a:srgbClr val="0070C0"/>
                </a:solidFill>
              </a:rPr>
              <a:t>SQL:BatchCompleted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	and </a:t>
            </a:r>
            <a:br>
              <a:rPr lang="en-US" dirty="0" smtClean="0"/>
            </a:br>
            <a:r>
              <a:rPr lang="en-US" dirty="0" smtClean="0"/>
              <a:t>	</a:t>
            </a:r>
            <a:r>
              <a:rPr lang="en-US" dirty="0" err="1" smtClean="0">
                <a:solidFill>
                  <a:srgbClr val="0070C0"/>
                </a:solidFill>
              </a:rPr>
              <a:t>RPC:Completed</a:t>
            </a:r>
            <a:r>
              <a:rPr lang="en-US" dirty="0" smtClean="0">
                <a:solidFill>
                  <a:srgbClr val="0070C0"/>
                </a:solidFill>
              </a:rPr>
              <a:t> events</a:t>
            </a:r>
            <a:endParaRPr lang="en-US" dirty="0" smtClean="0"/>
          </a:p>
          <a:p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799" y="457200"/>
            <a:ext cx="7924801" cy="5181600"/>
          </a:xfrm>
        </p:spPr>
      </p:pic>
    </p:spTree>
    <p:extLst>
      <p:ext uri="{BB962C8B-B14F-4D97-AF65-F5344CB8AC3E}">
        <p14:creationId xmlns:p14="http://schemas.microsoft.com/office/powerpoint/2010/main" val="3304220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457200"/>
            <a:ext cx="8001000" cy="62484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Useful columns for tuning are:</a:t>
            </a:r>
          </a:p>
          <a:p>
            <a:endParaRPr lang="en-US" dirty="0" smtClean="0"/>
          </a:p>
          <a:p>
            <a:pPr lvl="1">
              <a:lnSpc>
                <a:spcPct val="110000"/>
              </a:lnSpc>
            </a:pPr>
            <a:r>
              <a:rPr lang="en-US" dirty="0" smtClean="0">
                <a:solidFill>
                  <a:srgbClr val="0070C0"/>
                </a:solidFill>
              </a:rPr>
              <a:t>Duration</a:t>
            </a:r>
            <a:r>
              <a:rPr lang="en-US" dirty="0" smtClean="0"/>
              <a:t>   Returns the number of </a:t>
            </a:r>
            <a:r>
              <a:rPr lang="en-US" dirty="0" smtClean="0"/>
              <a:t>milliseconds</a:t>
            </a:r>
            <a:br>
              <a:rPr lang="en-US" dirty="0" smtClean="0"/>
            </a:br>
            <a:endParaRPr lang="en-US" dirty="0" smtClean="0"/>
          </a:p>
          <a:p>
            <a:pPr lvl="1">
              <a:lnSpc>
                <a:spcPct val="110000"/>
              </a:lnSpc>
            </a:pPr>
            <a:r>
              <a:rPr lang="en-US" dirty="0" smtClean="0">
                <a:solidFill>
                  <a:srgbClr val="0070C0"/>
                </a:solidFill>
              </a:rPr>
              <a:t>Reads</a:t>
            </a:r>
            <a:r>
              <a:rPr lang="en-US" dirty="0" smtClean="0"/>
              <a:t>   Returns the total number pages read during </a:t>
            </a:r>
            <a:r>
              <a:rPr lang="en-US" dirty="0" smtClean="0"/>
              <a:t>execution</a:t>
            </a:r>
            <a:br>
              <a:rPr lang="en-US" dirty="0" smtClean="0"/>
            </a:br>
            <a:endParaRPr lang="en-US" dirty="0" smtClean="0"/>
          </a:p>
          <a:p>
            <a:pPr lvl="1">
              <a:lnSpc>
                <a:spcPct val="110000"/>
              </a:lnSpc>
            </a:pPr>
            <a:r>
              <a:rPr lang="en-US" dirty="0" smtClean="0">
                <a:solidFill>
                  <a:srgbClr val="0070C0"/>
                </a:solidFill>
              </a:rPr>
              <a:t>Writes</a:t>
            </a:r>
            <a:r>
              <a:rPr lang="en-US" dirty="0" smtClean="0"/>
              <a:t>   Returns the total number of written during </a:t>
            </a:r>
            <a:r>
              <a:rPr lang="en-US" dirty="0" smtClean="0"/>
              <a:t>execution</a:t>
            </a:r>
            <a:br>
              <a:rPr lang="en-US" dirty="0" smtClean="0"/>
            </a:br>
            <a:endParaRPr lang="en-US" dirty="0" smtClean="0"/>
          </a:p>
          <a:p>
            <a:pPr lvl="1">
              <a:lnSpc>
                <a:spcPct val="110000"/>
              </a:lnSpc>
            </a:pPr>
            <a:r>
              <a:rPr lang="en-US" dirty="0" smtClean="0">
                <a:solidFill>
                  <a:srgbClr val="0070C0"/>
                </a:solidFill>
              </a:rPr>
              <a:t>CPU</a:t>
            </a:r>
            <a:r>
              <a:rPr lang="en-US" dirty="0" smtClean="0"/>
              <a:t>   Returns the total CPU time used during execution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2231</TotalTime>
  <Words>1154</Words>
  <Application>Microsoft Office PowerPoint</Application>
  <PresentationFormat>On-screen Show (4:3)</PresentationFormat>
  <Paragraphs>242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Solstice</vt:lpstr>
      <vt:lpstr>Lesson 15</vt:lpstr>
      <vt:lpstr>Main performance killers</vt:lpstr>
      <vt:lpstr>Tuning Queries</vt:lpstr>
      <vt:lpstr>Measuring Performance</vt:lpstr>
      <vt:lpstr>1) Query Cost</vt:lpstr>
      <vt:lpstr>2) Page Reads</vt:lpstr>
      <vt:lpstr>PowerPoint Presentation</vt:lpstr>
      <vt:lpstr>PowerPoint Presentation</vt:lpstr>
      <vt:lpstr>3) Query Execution Time</vt:lpstr>
      <vt:lpstr>PowerPoint Presentation</vt:lpstr>
      <vt:lpstr>Tuning Query Performance</vt:lpstr>
      <vt:lpstr>Graphical Execution Plan</vt:lpstr>
      <vt:lpstr>Guidelines </vt:lpstr>
      <vt:lpstr>PowerPoint Presentation</vt:lpstr>
      <vt:lpstr>Using Search Arguments</vt:lpstr>
      <vt:lpstr>PowerPoint Presentation</vt:lpstr>
      <vt:lpstr>Using Joins</vt:lpstr>
      <vt:lpstr>PowerPoint Presentation</vt:lpstr>
      <vt:lpstr>Non Correlated Subqueries</vt:lpstr>
      <vt:lpstr>Correlated Subqueries</vt:lpstr>
      <vt:lpstr>PowerPoint Presentation</vt:lpstr>
      <vt:lpstr>PowerPoint Presentation</vt:lpstr>
      <vt:lpstr>PowerPoint Presentation</vt:lpstr>
      <vt:lpstr>PowerPoint Presentation</vt:lpstr>
      <vt:lpstr>Scalar UDFs</vt:lpstr>
      <vt:lpstr>PowerPoint Presentation</vt:lpstr>
      <vt:lpstr>PowerPoint Presentation</vt:lpstr>
      <vt:lpstr>PowerPoint Presentation</vt:lpstr>
      <vt:lpstr>SQL Server Profiler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Habib</dc:creator>
  <cp:lastModifiedBy>Andrei</cp:lastModifiedBy>
  <cp:revision>177</cp:revision>
  <dcterms:created xsi:type="dcterms:W3CDTF">2006-08-16T00:00:00Z</dcterms:created>
  <dcterms:modified xsi:type="dcterms:W3CDTF">2017-06-28T01:06:11Z</dcterms:modified>
</cp:coreProperties>
</file>