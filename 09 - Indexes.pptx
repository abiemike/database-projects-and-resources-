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301" r:id="rId3"/>
    <p:sldId id="302" r:id="rId4"/>
    <p:sldId id="257" r:id="rId5"/>
    <p:sldId id="311" r:id="rId6"/>
    <p:sldId id="312" r:id="rId7"/>
    <p:sldId id="321" r:id="rId8"/>
    <p:sldId id="313" r:id="rId9"/>
    <p:sldId id="314" r:id="rId10"/>
    <p:sldId id="315" r:id="rId11"/>
    <p:sldId id="259" r:id="rId12"/>
    <p:sldId id="260" r:id="rId13"/>
    <p:sldId id="261" r:id="rId14"/>
    <p:sldId id="262" r:id="rId15"/>
    <p:sldId id="263" r:id="rId16"/>
    <p:sldId id="296" r:id="rId17"/>
    <p:sldId id="297" r:id="rId18"/>
    <p:sldId id="303" r:id="rId19"/>
    <p:sldId id="304" r:id="rId20"/>
    <p:sldId id="306" r:id="rId21"/>
    <p:sldId id="307" r:id="rId22"/>
    <p:sldId id="308" r:id="rId23"/>
    <p:sldId id="309" r:id="rId24"/>
    <p:sldId id="275" r:id="rId25"/>
    <p:sldId id="274" r:id="rId26"/>
    <p:sldId id="264" r:id="rId27"/>
    <p:sldId id="265" r:id="rId28"/>
    <p:sldId id="266" r:id="rId29"/>
    <p:sldId id="267" r:id="rId30"/>
    <p:sldId id="276" r:id="rId31"/>
    <p:sldId id="268" r:id="rId32"/>
    <p:sldId id="269" r:id="rId33"/>
    <p:sldId id="270" r:id="rId34"/>
    <p:sldId id="277" r:id="rId35"/>
    <p:sldId id="278" r:id="rId36"/>
    <p:sldId id="271" r:id="rId37"/>
    <p:sldId id="279" r:id="rId38"/>
    <p:sldId id="280" r:id="rId39"/>
    <p:sldId id="281" r:id="rId40"/>
    <p:sldId id="282" r:id="rId41"/>
    <p:sldId id="283" r:id="rId42"/>
    <p:sldId id="316" r:id="rId43"/>
    <p:sldId id="317" r:id="rId44"/>
    <p:sldId id="318" r:id="rId45"/>
    <p:sldId id="319" r:id="rId46"/>
    <p:sldId id="320" r:id="rId47"/>
    <p:sldId id="272" r:id="rId48"/>
    <p:sldId id="273" r:id="rId49"/>
    <p:sldId id="298" r:id="rId50"/>
    <p:sldId id="299"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CC"/>
    <a:srgbClr val="FF33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76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20" name="Footer Placeholder 19"/>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dirty="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10/31/2024</a:t>
            </a:fld>
            <a:endParaRPr lang="en-US" dirty="0"/>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youtube.com/watch?v=vDHFF4wjWYU"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Lesson 9</a:t>
            </a:r>
            <a:endParaRPr lang="en-CA" dirty="0"/>
          </a:p>
        </p:txBody>
      </p:sp>
      <p:sp>
        <p:nvSpPr>
          <p:cNvPr id="3" name="Subtitle 2"/>
          <p:cNvSpPr>
            <a:spLocks noGrp="1"/>
          </p:cNvSpPr>
          <p:nvPr>
            <p:ph type="subTitle" idx="1"/>
          </p:nvPr>
        </p:nvSpPr>
        <p:spPr/>
        <p:txBody>
          <a:bodyPr/>
          <a:lstStyle/>
          <a:p>
            <a:r>
              <a:rPr lang="en-US" b="1" u="sng" dirty="0"/>
              <a:t>Indexes</a:t>
            </a:r>
            <a:endParaRPr lang="en-CA"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52400"/>
            <a:ext cx="7498080" cy="914400"/>
          </a:xfrm>
        </p:spPr>
        <p:txBody>
          <a:bodyPr/>
          <a:lstStyle/>
          <a:p>
            <a:pPr algn="ctr"/>
            <a:r>
              <a:rPr lang="en-US" dirty="0"/>
              <a:t>Introduction to Indexes</a:t>
            </a:r>
            <a:endParaRPr lang="en-CA" dirty="0"/>
          </a:p>
        </p:txBody>
      </p:sp>
      <p:sp>
        <p:nvSpPr>
          <p:cNvPr id="3" name="Content Placeholder 2"/>
          <p:cNvSpPr>
            <a:spLocks noGrp="1"/>
          </p:cNvSpPr>
          <p:nvPr>
            <p:ph idx="1"/>
          </p:nvPr>
        </p:nvSpPr>
        <p:spPr>
          <a:xfrm>
            <a:off x="1143000" y="1219200"/>
            <a:ext cx="7790688" cy="5562600"/>
          </a:xfrm>
        </p:spPr>
        <p:txBody>
          <a:bodyPr>
            <a:normAutofit fontScale="92500" lnSpcReduction="10000"/>
          </a:bodyPr>
          <a:lstStyle/>
          <a:p>
            <a:r>
              <a:rPr lang="en-US" dirty="0"/>
              <a:t>An index is a lookup structure created on a table to optimize sort and query performance</a:t>
            </a:r>
            <a:br>
              <a:rPr lang="en-US" dirty="0"/>
            </a:br>
            <a:endParaRPr lang="en-US" dirty="0"/>
          </a:p>
          <a:p>
            <a:r>
              <a:rPr lang="en-US" dirty="0"/>
              <a:t>Indexes are created on a particular column(s), and store the data values for this column(s) in order</a:t>
            </a:r>
            <a:br>
              <a:rPr lang="en-US" dirty="0"/>
            </a:br>
            <a:endParaRPr lang="en-US" dirty="0"/>
          </a:p>
          <a:p>
            <a:r>
              <a:rPr lang="en-US" dirty="0"/>
              <a:t>When table data is not stored in any particular order, it is referred to as a </a:t>
            </a:r>
            <a:r>
              <a:rPr lang="en-US" dirty="0">
                <a:solidFill>
                  <a:schemeClr val="accent1"/>
                </a:solidFill>
              </a:rPr>
              <a:t>heap</a:t>
            </a:r>
            <a:br>
              <a:rPr lang="en-US" dirty="0">
                <a:solidFill>
                  <a:schemeClr val="accent1"/>
                </a:solidFill>
              </a:rPr>
            </a:br>
            <a:endParaRPr lang="en-US" dirty="0"/>
          </a:p>
          <a:p>
            <a:r>
              <a:rPr lang="en-US" dirty="0"/>
              <a:t>The heap is composed of multiple pages, with each page containing multiple table rows</a:t>
            </a:r>
          </a:p>
        </p:txBody>
      </p:sp>
    </p:spTree>
    <p:extLst>
      <p:ext uri="{BB962C8B-B14F-4D97-AF65-F5344CB8AC3E}">
        <p14:creationId xmlns:p14="http://schemas.microsoft.com/office/powerpoint/2010/main" val="3177735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81000"/>
            <a:ext cx="7790688" cy="6400800"/>
          </a:xfrm>
        </p:spPr>
        <p:txBody>
          <a:bodyPr>
            <a:normAutofit/>
          </a:bodyPr>
          <a:lstStyle/>
          <a:p>
            <a:r>
              <a:rPr lang="en-US" dirty="0"/>
              <a:t>When raw underlying data is stored in order, sorted by a column(s) ,the situation is referred to as a </a:t>
            </a:r>
            <a:r>
              <a:rPr lang="en-US" dirty="0">
                <a:solidFill>
                  <a:srgbClr val="0070C0"/>
                </a:solidFill>
              </a:rPr>
              <a:t>clustered index</a:t>
            </a:r>
            <a:br>
              <a:rPr lang="en-US" dirty="0"/>
            </a:br>
            <a:endParaRPr lang="en-US" dirty="0"/>
          </a:p>
          <a:p>
            <a:r>
              <a:rPr lang="en-US" dirty="0"/>
              <a:t>When searching for a particular value, the </a:t>
            </a:r>
            <a:r>
              <a:rPr lang="en-US" dirty="0">
                <a:solidFill>
                  <a:srgbClr val="0070C0"/>
                </a:solidFill>
              </a:rPr>
              <a:t>Query Optimizer</a:t>
            </a:r>
            <a:r>
              <a:rPr lang="en-US" dirty="0"/>
              <a:t> can execute the query more efficiently by performing an </a:t>
            </a:r>
            <a:r>
              <a:rPr lang="en-US" dirty="0">
                <a:solidFill>
                  <a:srgbClr val="0070C0"/>
                </a:solidFill>
              </a:rPr>
              <a:t>index lookup</a:t>
            </a:r>
            <a:r>
              <a:rPr lang="en-US" dirty="0"/>
              <a:t> rather than a </a:t>
            </a:r>
            <a:r>
              <a:rPr lang="en-US" dirty="0">
                <a:solidFill>
                  <a:srgbClr val="0070C0"/>
                </a:solidFill>
              </a:rPr>
              <a:t>table scan</a:t>
            </a:r>
            <a:br>
              <a:rPr lang="en-US" dirty="0">
                <a:solidFill>
                  <a:srgbClr val="0070C0"/>
                </a:solidFill>
              </a:rPr>
            </a:br>
            <a:endParaRPr lang="en-US" dirty="0"/>
          </a:p>
          <a:p>
            <a:r>
              <a:rPr lang="en-US" dirty="0"/>
              <a:t>Only one clustered index is allowed per table; usually this is created on the column designated as the PRIMARY KEY</a:t>
            </a:r>
            <a:endParaRPr lang="en-CA" dirty="0"/>
          </a:p>
          <a:p>
            <a:endParaRPr lang="en-CA" dirty="0"/>
          </a:p>
        </p:txBody>
      </p:sp>
    </p:spTree>
    <p:extLst>
      <p:ext uri="{BB962C8B-B14F-4D97-AF65-F5344CB8AC3E}">
        <p14:creationId xmlns:p14="http://schemas.microsoft.com/office/powerpoint/2010/main" val="368702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lstStyle/>
          <a:p>
            <a:pPr algn="ctr"/>
            <a:r>
              <a:rPr lang="en-US" dirty="0"/>
              <a:t>Indexes</a:t>
            </a:r>
            <a:endParaRPr lang="en-CA" dirty="0"/>
          </a:p>
        </p:txBody>
      </p:sp>
      <p:sp>
        <p:nvSpPr>
          <p:cNvPr id="3" name="Content Placeholder 2"/>
          <p:cNvSpPr>
            <a:spLocks noGrp="1"/>
          </p:cNvSpPr>
          <p:nvPr>
            <p:ph idx="1"/>
          </p:nvPr>
        </p:nvSpPr>
        <p:spPr>
          <a:xfrm>
            <a:off x="1219200" y="1447800"/>
            <a:ext cx="7714488" cy="5181600"/>
          </a:xfrm>
        </p:spPr>
        <p:txBody>
          <a:bodyPr>
            <a:normAutofit/>
          </a:bodyPr>
          <a:lstStyle/>
          <a:p>
            <a:r>
              <a:rPr lang="en-US" dirty="0"/>
              <a:t>There are two basic types of indexes:</a:t>
            </a:r>
          </a:p>
          <a:p>
            <a:pPr lvl="1"/>
            <a:r>
              <a:rPr lang="en-US" dirty="0">
                <a:solidFill>
                  <a:srgbClr val="0070C0"/>
                </a:solidFill>
              </a:rPr>
              <a:t>Clustered</a:t>
            </a:r>
            <a:r>
              <a:rPr lang="en-US" dirty="0"/>
              <a:t>: is the actual table, the bottom level (leaf) of a clustered index contains the actual rows</a:t>
            </a:r>
          </a:p>
          <a:p>
            <a:pPr lvl="1"/>
            <a:r>
              <a:rPr lang="en-US" dirty="0">
                <a:solidFill>
                  <a:srgbClr val="0070C0"/>
                </a:solidFill>
              </a:rPr>
              <a:t>Non</a:t>
            </a:r>
            <a:r>
              <a:rPr lang="en-US" dirty="0"/>
              <a:t> </a:t>
            </a:r>
            <a:r>
              <a:rPr lang="en-US" dirty="0">
                <a:solidFill>
                  <a:srgbClr val="0070C0"/>
                </a:solidFill>
              </a:rPr>
              <a:t>Clustered</a:t>
            </a:r>
            <a:r>
              <a:rPr lang="en-US" dirty="0"/>
              <a:t>: contains only the columns included in the index’s key, plus a pointer pointing to the actual data row</a:t>
            </a:r>
            <a:br>
              <a:rPr lang="en-US" dirty="0"/>
            </a:br>
            <a:endParaRPr lang="en-US" dirty="0"/>
          </a:p>
          <a:p>
            <a:r>
              <a:rPr lang="en-US" dirty="0"/>
              <a:t>Tables that do not have a clustered index defined on them are called a </a:t>
            </a:r>
            <a:r>
              <a:rPr lang="en-US" dirty="0">
                <a:solidFill>
                  <a:srgbClr val="0070C0"/>
                </a:solidFill>
              </a:rPr>
              <a:t>heap</a:t>
            </a:r>
            <a:endParaRPr lang="en-CA"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a:t>Clustered Indexes </a:t>
            </a:r>
          </a:p>
        </p:txBody>
      </p:sp>
      <p:sp>
        <p:nvSpPr>
          <p:cNvPr id="3" name="Content Placeholder 2"/>
          <p:cNvSpPr>
            <a:spLocks noGrp="1"/>
          </p:cNvSpPr>
          <p:nvPr>
            <p:ph idx="1"/>
          </p:nvPr>
        </p:nvSpPr>
        <p:spPr>
          <a:xfrm>
            <a:off x="1435608" y="1752600"/>
            <a:ext cx="7498080" cy="4495800"/>
          </a:xfrm>
        </p:spPr>
        <p:txBody>
          <a:bodyPr/>
          <a:lstStyle/>
          <a:p>
            <a:r>
              <a:rPr lang="en-US" dirty="0"/>
              <a:t>Index restrictions: </a:t>
            </a:r>
            <a:br>
              <a:rPr lang="en-US" dirty="0"/>
            </a:br>
            <a:endParaRPr lang="en-US" dirty="0"/>
          </a:p>
          <a:p>
            <a:pPr lvl="1"/>
            <a:r>
              <a:rPr lang="en-US" dirty="0"/>
              <a:t>You can define an index with a maximum of 16 columns</a:t>
            </a:r>
            <a:br>
              <a:rPr lang="en-US" dirty="0"/>
            </a:br>
            <a:endParaRPr lang="en-US" dirty="0"/>
          </a:p>
          <a:p>
            <a:pPr lvl="1"/>
            <a:r>
              <a:rPr lang="en-US" dirty="0"/>
              <a:t>The maximum size of the index key is 900 bytes. </a:t>
            </a:r>
            <a:endParaRPr lang="en-CA" dirty="0"/>
          </a:p>
        </p:txBody>
      </p:sp>
    </p:spTree>
    <p:extLst>
      <p:ext uri="{BB962C8B-B14F-4D97-AF65-F5344CB8AC3E}">
        <p14:creationId xmlns:p14="http://schemas.microsoft.com/office/powerpoint/2010/main" val="1450567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457200"/>
            <a:ext cx="7638288" cy="5791200"/>
          </a:xfrm>
        </p:spPr>
        <p:txBody>
          <a:bodyPr>
            <a:normAutofit/>
          </a:bodyPr>
          <a:lstStyle/>
          <a:p>
            <a:r>
              <a:rPr lang="en-US" dirty="0"/>
              <a:t>The column(s) defined for the clustered index are referred to as the </a:t>
            </a:r>
            <a:r>
              <a:rPr lang="en-US" dirty="0">
                <a:solidFill>
                  <a:srgbClr val="0070C0"/>
                </a:solidFill>
              </a:rPr>
              <a:t>clustering key</a:t>
            </a:r>
            <a:br>
              <a:rPr lang="en-US" dirty="0"/>
            </a:br>
            <a:r>
              <a:rPr lang="en-US" dirty="0"/>
              <a:t> </a:t>
            </a:r>
          </a:p>
          <a:p>
            <a:r>
              <a:rPr lang="en-US" dirty="0"/>
              <a:t>A clustered index causes SQL Server to arrange the data in the table according to the clustering key</a:t>
            </a:r>
            <a:br>
              <a:rPr lang="en-US" dirty="0"/>
            </a:br>
            <a:endParaRPr lang="en-US" dirty="0"/>
          </a:p>
          <a:p>
            <a:r>
              <a:rPr lang="en-US" dirty="0"/>
              <a:t>Because a table cannot be sorted more than one way, you can define only one clustered index on a table</a:t>
            </a:r>
            <a:endParaRPr lang="en-CA" dirty="0"/>
          </a:p>
        </p:txBody>
      </p:sp>
    </p:spTree>
    <p:extLst>
      <p:ext uri="{BB962C8B-B14F-4D97-AF65-F5344CB8AC3E}">
        <p14:creationId xmlns:p14="http://schemas.microsoft.com/office/powerpoint/2010/main" val="155793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0" y="228600"/>
            <a:ext cx="3733800" cy="685800"/>
          </a:xfrm>
        </p:spPr>
        <p:txBody>
          <a:bodyPr>
            <a:normAutofit fontScale="90000"/>
          </a:bodyPr>
          <a:lstStyle/>
          <a:p>
            <a:r>
              <a:rPr lang="en-CA" dirty="0"/>
              <a:t>Clustered Index</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1447800"/>
            <a:ext cx="6342716" cy="4800600"/>
          </a:xfrm>
        </p:spPr>
      </p:pic>
    </p:spTree>
    <p:extLst>
      <p:ext uri="{BB962C8B-B14F-4D97-AF65-F5344CB8AC3E}">
        <p14:creationId xmlns:p14="http://schemas.microsoft.com/office/powerpoint/2010/main" val="14000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7790688" cy="6324600"/>
          </a:xfrm>
        </p:spPr>
        <p:txBody>
          <a:bodyPr/>
          <a:lstStyle/>
          <a:p>
            <a:r>
              <a:rPr lang="en-US" dirty="0"/>
              <a:t>Because the leaf level of a clustered index is the row of data in the table, when SQL Server traverses the clustered index down to the leaf level, it has retrieved the data. No additional reads are required to locate the required data. </a:t>
            </a:r>
            <a:br>
              <a:rPr lang="en-US" dirty="0"/>
            </a:br>
            <a:endParaRPr lang="en-US" dirty="0"/>
          </a:p>
          <a:p>
            <a:r>
              <a:rPr lang="en-US" dirty="0"/>
              <a:t>Every table should have a clustered index. One of the main purposes of a clustered index is to eliminate </a:t>
            </a:r>
            <a:r>
              <a:rPr lang="en-US" dirty="0">
                <a:solidFill>
                  <a:srgbClr val="0070C0"/>
                </a:solidFill>
              </a:rPr>
              <a:t>forwarding pointers</a:t>
            </a:r>
            <a:r>
              <a:rPr lang="en-US" dirty="0"/>
              <a:t>. </a:t>
            </a:r>
            <a:endParaRPr lang="en-CA" dirty="0"/>
          </a:p>
        </p:txBody>
      </p:sp>
    </p:spTree>
    <p:extLst>
      <p:ext uri="{BB962C8B-B14F-4D97-AF65-F5344CB8AC3E}">
        <p14:creationId xmlns:p14="http://schemas.microsoft.com/office/powerpoint/2010/main" val="2646001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28600"/>
            <a:ext cx="7498080" cy="792162"/>
          </a:xfrm>
        </p:spPr>
        <p:txBody>
          <a:bodyPr/>
          <a:lstStyle/>
          <a:p>
            <a:r>
              <a:rPr lang="en-CA" dirty="0"/>
              <a:t>Nonclustered Indexes</a:t>
            </a:r>
          </a:p>
        </p:txBody>
      </p:sp>
      <p:sp>
        <p:nvSpPr>
          <p:cNvPr id="3" name="Content Placeholder 2"/>
          <p:cNvSpPr>
            <a:spLocks noGrp="1"/>
          </p:cNvSpPr>
          <p:nvPr>
            <p:ph idx="1"/>
          </p:nvPr>
        </p:nvSpPr>
        <p:spPr>
          <a:xfrm>
            <a:off x="1435608" y="1143000"/>
            <a:ext cx="7498080" cy="5486400"/>
          </a:xfrm>
        </p:spPr>
        <p:txBody>
          <a:bodyPr>
            <a:normAutofit lnSpcReduction="10000"/>
          </a:bodyPr>
          <a:lstStyle/>
          <a:p>
            <a:r>
              <a:rPr lang="en-US" dirty="0">
                <a:solidFill>
                  <a:srgbClr val="0070C0"/>
                </a:solidFill>
              </a:rPr>
              <a:t>Nonclustered </a:t>
            </a:r>
            <a:r>
              <a:rPr lang="en-US" dirty="0"/>
              <a:t>indexes do not impose a sort order on the table, so you can create multiple nonclustered indexes on a table. </a:t>
            </a:r>
            <a:br>
              <a:rPr lang="en-US" dirty="0"/>
            </a:br>
            <a:endParaRPr lang="en-US" dirty="0"/>
          </a:p>
          <a:p>
            <a:r>
              <a:rPr lang="en-US" dirty="0">
                <a:solidFill>
                  <a:srgbClr val="0070C0"/>
                </a:solidFill>
              </a:rPr>
              <a:t>Nonclustered </a:t>
            </a:r>
            <a:r>
              <a:rPr lang="en-US" dirty="0"/>
              <a:t>indexes have the same restrictions as a clustered index they can have a maximum of 900 bytes in the index key and a maximum of 16 columns.</a:t>
            </a:r>
            <a:br>
              <a:rPr lang="en-US" dirty="0"/>
            </a:br>
            <a:endParaRPr lang="en-US" dirty="0"/>
          </a:p>
          <a:p>
            <a:r>
              <a:rPr lang="en-US" dirty="0"/>
              <a:t>A table is limited to a maximum of 999 nonclustered indexes. </a:t>
            </a:r>
            <a:endParaRPr lang="en-CA" dirty="0"/>
          </a:p>
        </p:txBody>
      </p:sp>
    </p:spTree>
    <p:extLst>
      <p:ext uri="{BB962C8B-B14F-4D97-AF65-F5344CB8AC3E}">
        <p14:creationId xmlns:p14="http://schemas.microsoft.com/office/powerpoint/2010/main" val="2310714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457200"/>
            <a:ext cx="7562088" cy="6172200"/>
          </a:xfrm>
        </p:spPr>
        <p:txBody>
          <a:bodyPr>
            <a:normAutofit/>
          </a:bodyPr>
          <a:lstStyle/>
          <a:p>
            <a:r>
              <a:rPr lang="en-US" dirty="0"/>
              <a:t>The leaf level of a </a:t>
            </a:r>
            <a:r>
              <a:rPr lang="en-US" dirty="0">
                <a:solidFill>
                  <a:srgbClr val="0070C0"/>
                </a:solidFill>
              </a:rPr>
              <a:t>nonclustered </a:t>
            </a:r>
            <a:r>
              <a:rPr lang="en-US" dirty="0"/>
              <a:t>index contains a pointer to the data you require</a:t>
            </a:r>
            <a:br>
              <a:rPr lang="en-US" dirty="0"/>
            </a:br>
            <a:endParaRPr lang="en-US" dirty="0"/>
          </a:p>
          <a:p>
            <a:r>
              <a:rPr lang="en-US" dirty="0"/>
              <a:t>If a clustered index exists on the table, the leaf level of the </a:t>
            </a:r>
            <a:r>
              <a:rPr lang="en-US" dirty="0">
                <a:solidFill>
                  <a:srgbClr val="0070C0"/>
                </a:solidFill>
              </a:rPr>
              <a:t>nonclustered </a:t>
            </a:r>
            <a:r>
              <a:rPr lang="en-US" dirty="0"/>
              <a:t>index points at the clustering key</a:t>
            </a:r>
            <a:br>
              <a:rPr lang="en-US" dirty="0"/>
            </a:br>
            <a:endParaRPr lang="en-US" dirty="0"/>
          </a:p>
          <a:p>
            <a:r>
              <a:rPr lang="en-US" dirty="0"/>
              <a:t>If a clustered index does not exist on the table, the leaf level of the </a:t>
            </a:r>
            <a:r>
              <a:rPr lang="en-US" dirty="0">
                <a:solidFill>
                  <a:srgbClr val="0070C0"/>
                </a:solidFill>
              </a:rPr>
              <a:t>nonclustered </a:t>
            </a:r>
            <a:r>
              <a:rPr lang="en-US" dirty="0"/>
              <a:t>index points at the row of data in the table</a:t>
            </a:r>
            <a:endParaRPr lang="en-CA" dirty="0"/>
          </a:p>
        </p:txBody>
      </p:sp>
    </p:spTree>
    <p:extLst>
      <p:ext uri="{BB962C8B-B14F-4D97-AF65-F5344CB8AC3E}">
        <p14:creationId xmlns:p14="http://schemas.microsoft.com/office/powerpoint/2010/main" val="3166108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Index</a:t>
            </a:r>
            <a:endParaRPr lang="en-CA" dirty="0"/>
          </a:p>
        </p:txBody>
      </p:sp>
      <p:sp>
        <p:nvSpPr>
          <p:cNvPr id="3" name="Content Placeholder 2"/>
          <p:cNvSpPr>
            <a:spLocks noGrp="1"/>
          </p:cNvSpPr>
          <p:nvPr>
            <p:ph idx="1"/>
          </p:nvPr>
        </p:nvSpPr>
        <p:spPr>
          <a:xfrm>
            <a:off x="1435608" y="1447800"/>
            <a:ext cx="7498080" cy="4572000"/>
          </a:xfrm>
        </p:spPr>
        <p:txBody>
          <a:bodyPr>
            <a:normAutofit lnSpcReduction="10000"/>
          </a:bodyPr>
          <a:lstStyle/>
          <a:p>
            <a:r>
              <a:rPr lang="en-US" dirty="0"/>
              <a:t>It makes sense to create </a:t>
            </a:r>
            <a:r>
              <a:rPr lang="en-US" dirty="0">
                <a:solidFill>
                  <a:srgbClr val="0070C0"/>
                </a:solidFill>
              </a:rPr>
              <a:t>nonclustered </a:t>
            </a:r>
            <a:r>
              <a:rPr lang="en-US" dirty="0"/>
              <a:t>indexes on all frequently searched fields in a table.</a:t>
            </a:r>
            <a:br>
              <a:rPr lang="en-US" dirty="0"/>
            </a:br>
            <a:endParaRPr lang="en-US" dirty="0"/>
          </a:p>
          <a:p>
            <a:r>
              <a:rPr lang="en-US" dirty="0"/>
              <a:t>The trade-off with indexes is write performance.</a:t>
            </a:r>
            <a:br>
              <a:rPr lang="en-US" dirty="0"/>
            </a:br>
            <a:endParaRPr lang="en-US" dirty="0"/>
          </a:p>
          <a:p>
            <a:r>
              <a:rPr lang="en-US" dirty="0"/>
              <a:t>Every time a new row is inserted, the index must also be updated.</a:t>
            </a:r>
            <a:endParaRPr lang="en-CA"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90600" y="0"/>
            <a:ext cx="8153400" cy="6740307"/>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wrap="square">
            <a:spAutoFit/>
          </a:bodyPr>
          <a:lstStyle/>
          <a:p>
            <a:r>
              <a:rPr lang="en-CA" b="1" dirty="0">
                <a:solidFill>
                  <a:srgbClr val="0000FF"/>
                </a:solidFill>
                <a:latin typeface="Courier New" pitchFamily="49" charset="0"/>
                <a:cs typeface="Courier New" pitchFamily="49" charset="0"/>
              </a:rPr>
              <a:t>CREATE</a:t>
            </a:r>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UNIQUE</a:t>
            </a:r>
            <a:r>
              <a:rPr lang="en-CA" b="1" dirty="0">
                <a:latin typeface="Courier New" pitchFamily="49" charset="0"/>
                <a:cs typeface="Courier New" pitchFamily="49" charset="0"/>
              </a:rPr>
              <a:t> ] [ </a:t>
            </a:r>
            <a:r>
              <a:rPr lang="en-CA" b="1" dirty="0">
                <a:solidFill>
                  <a:srgbClr val="0000FF"/>
                </a:solidFill>
                <a:latin typeface="Courier New" pitchFamily="49" charset="0"/>
                <a:cs typeface="Courier New" pitchFamily="49" charset="0"/>
              </a:rPr>
              <a:t>CLUSTERED</a:t>
            </a:r>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NONCLUSTERED</a:t>
            </a:r>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INDEX</a:t>
            </a:r>
            <a:r>
              <a:rPr lang="en-CA" b="1" dirty="0">
                <a:latin typeface="Courier New" pitchFamily="49" charset="0"/>
                <a:cs typeface="Courier New" pitchFamily="49" charset="0"/>
              </a:rPr>
              <a:t> index_name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ON</a:t>
            </a:r>
            <a:r>
              <a:rPr lang="en-CA" b="1" dirty="0">
                <a:latin typeface="Courier New" pitchFamily="49" charset="0"/>
                <a:cs typeface="Courier New" pitchFamily="49" charset="0"/>
              </a:rPr>
              <a:t> &lt;</a:t>
            </a:r>
            <a:r>
              <a:rPr lang="en-CA" b="1" dirty="0">
                <a:solidFill>
                  <a:srgbClr val="C00000"/>
                </a:solidFill>
                <a:latin typeface="Courier New" pitchFamily="49" charset="0"/>
                <a:cs typeface="Courier New" pitchFamily="49" charset="0"/>
              </a:rPr>
              <a:t>object</a:t>
            </a:r>
            <a:r>
              <a:rPr lang="en-CA" b="1" dirty="0">
                <a:latin typeface="Courier New" pitchFamily="49" charset="0"/>
                <a:cs typeface="Courier New" pitchFamily="49" charset="0"/>
              </a:rPr>
              <a:t>&gt; ( column [ </a:t>
            </a:r>
            <a:r>
              <a:rPr lang="en-CA" b="1" dirty="0">
                <a:solidFill>
                  <a:srgbClr val="0000FF"/>
                </a:solidFill>
                <a:latin typeface="Courier New" pitchFamily="49" charset="0"/>
                <a:cs typeface="Courier New" pitchFamily="49" charset="0"/>
              </a:rPr>
              <a:t>ASC</a:t>
            </a:r>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DESC</a:t>
            </a:r>
            <a:r>
              <a:rPr lang="en-CA" b="1" dirty="0">
                <a:latin typeface="Courier New" pitchFamily="49" charset="0"/>
                <a:cs typeface="Courier New" pitchFamily="49" charset="0"/>
              </a:rPr>
              <a:t> ] [ ,...n ] )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INCLUDE</a:t>
            </a:r>
            <a:r>
              <a:rPr lang="en-CA" b="1" dirty="0">
                <a:latin typeface="Courier New" pitchFamily="49" charset="0"/>
                <a:cs typeface="Courier New" pitchFamily="49" charset="0"/>
              </a:rPr>
              <a:t> ( column_name [ ,...n ] )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WHERE</a:t>
            </a:r>
            <a:r>
              <a:rPr lang="en-CA" b="1" dirty="0">
                <a:latin typeface="Courier New" pitchFamily="49" charset="0"/>
                <a:cs typeface="Courier New" pitchFamily="49" charset="0"/>
              </a:rPr>
              <a:t> &lt;filter_predicate&gt;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WITH</a:t>
            </a:r>
            <a:r>
              <a:rPr lang="en-CA" b="1" dirty="0">
                <a:latin typeface="Courier New" pitchFamily="49" charset="0"/>
                <a:cs typeface="Courier New" pitchFamily="49" charset="0"/>
              </a:rPr>
              <a:t> ( &lt;</a:t>
            </a:r>
            <a:r>
              <a:rPr lang="en-CA" b="1" dirty="0">
                <a:solidFill>
                  <a:schemeClr val="accent2">
                    <a:lumMod val="75000"/>
                  </a:schemeClr>
                </a:solidFill>
                <a:latin typeface="Courier New" pitchFamily="49" charset="0"/>
                <a:cs typeface="Courier New" pitchFamily="49" charset="0"/>
              </a:rPr>
              <a:t>relational_index_option</a:t>
            </a:r>
            <a:r>
              <a:rPr lang="en-CA" b="1" dirty="0">
                <a:latin typeface="Courier New" pitchFamily="49" charset="0"/>
                <a:cs typeface="Courier New" pitchFamily="49" charset="0"/>
              </a:rPr>
              <a:t>&gt; [ ,...n ] ) ]</a:t>
            </a:r>
          </a:p>
          <a:p>
            <a:endParaRPr lang="en-CA" b="1" dirty="0">
              <a:latin typeface="Courier New" pitchFamily="49" charset="0"/>
              <a:cs typeface="Courier New" pitchFamily="49" charset="0"/>
            </a:endParaRPr>
          </a:p>
          <a:p>
            <a:r>
              <a:rPr lang="en-CA" b="1" dirty="0">
                <a:latin typeface="Courier New" pitchFamily="49" charset="0"/>
                <a:cs typeface="Courier New" pitchFamily="49" charset="0"/>
              </a:rPr>
              <a:t>&lt;</a:t>
            </a:r>
            <a:r>
              <a:rPr lang="en-CA" b="1" dirty="0">
                <a:solidFill>
                  <a:srgbClr val="C00000"/>
                </a:solidFill>
                <a:latin typeface="Courier New" pitchFamily="49" charset="0"/>
                <a:cs typeface="Courier New" pitchFamily="49" charset="0"/>
              </a:rPr>
              <a:t>object</a:t>
            </a:r>
            <a:r>
              <a:rPr lang="en-CA" b="1" dirty="0">
                <a:latin typeface="Courier New" pitchFamily="49" charset="0"/>
                <a:cs typeface="Courier New" pitchFamily="49" charset="0"/>
              </a:rPr>
              <a:t>&gt; ::=</a:t>
            </a:r>
          </a:p>
          <a:p>
            <a:r>
              <a:rPr lang="en-CA" b="1" dirty="0">
                <a:latin typeface="Courier New" pitchFamily="49" charset="0"/>
                <a:cs typeface="Courier New" pitchFamily="49" charset="0"/>
              </a:rPr>
              <a:t>{   [ database_name. [ schema_name ] . | schema_name. ] </a:t>
            </a:r>
          </a:p>
          <a:p>
            <a:r>
              <a:rPr lang="en-CA" b="1" dirty="0">
                <a:latin typeface="Courier New" pitchFamily="49" charset="0"/>
                <a:cs typeface="Courier New" pitchFamily="49" charset="0"/>
              </a:rPr>
              <a:t>    table_or_view_name  </a:t>
            </a:r>
          </a:p>
          <a:p>
            <a:r>
              <a:rPr lang="en-CA" b="1" dirty="0">
                <a:latin typeface="Courier New" pitchFamily="49" charset="0"/>
                <a:cs typeface="Courier New" pitchFamily="49" charset="0"/>
              </a:rPr>
              <a:t>}</a:t>
            </a:r>
          </a:p>
          <a:p>
            <a:endParaRPr lang="en-CA" b="1" dirty="0">
              <a:latin typeface="Courier New" pitchFamily="49" charset="0"/>
              <a:cs typeface="Courier New" pitchFamily="49" charset="0"/>
            </a:endParaRPr>
          </a:p>
          <a:p>
            <a:r>
              <a:rPr lang="en-CA" b="1" dirty="0">
                <a:latin typeface="Courier New" pitchFamily="49" charset="0"/>
                <a:cs typeface="Courier New" pitchFamily="49" charset="0"/>
              </a:rPr>
              <a:t>&lt;</a:t>
            </a:r>
            <a:r>
              <a:rPr lang="en-CA" b="1" dirty="0">
                <a:solidFill>
                  <a:schemeClr val="accent2">
                    <a:lumMod val="75000"/>
                  </a:schemeClr>
                </a:solidFill>
                <a:latin typeface="Courier New" pitchFamily="49" charset="0"/>
                <a:cs typeface="Courier New" pitchFamily="49" charset="0"/>
              </a:rPr>
              <a:t>relational_index_option</a:t>
            </a:r>
            <a:r>
              <a:rPr lang="en-CA" b="1" dirty="0">
                <a:latin typeface="Courier New" pitchFamily="49" charset="0"/>
                <a:cs typeface="Courier New" pitchFamily="49" charset="0"/>
              </a:rPr>
              <a:t>&gt;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PAD_INDEX</a:t>
            </a:r>
            <a:r>
              <a:rPr lang="en-CA" b="1" dirty="0">
                <a:latin typeface="Courier New" pitchFamily="49" charset="0"/>
                <a:cs typeface="Courier New" pitchFamily="49" charset="0"/>
              </a:rPr>
              <a:t> = { ON | OFF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FILLFACTOR</a:t>
            </a:r>
            <a:r>
              <a:rPr lang="en-CA" b="1" dirty="0">
                <a:latin typeface="Courier New" pitchFamily="49" charset="0"/>
                <a:cs typeface="Courier New" pitchFamily="49" charset="0"/>
              </a:rPr>
              <a:t> = fillfactor</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SORT_IN_TEMPDB</a:t>
            </a:r>
            <a:r>
              <a:rPr lang="en-CA" b="1" dirty="0">
                <a:latin typeface="Courier New" pitchFamily="49" charset="0"/>
                <a:cs typeface="Courier New" pitchFamily="49" charset="0"/>
              </a:rPr>
              <a:t> = { ON | OFF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IGNORE_DUP_KEY</a:t>
            </a:r>
            <a:r>
              <a:rPr lang="en-CA" b="1" dirty="0">
                <a:latin typeface="Courier New" pitchFamily="49" charset="0"/>
                <a:cs typeface="Courier New" pitchFamily="49" charset="0"/>
              </a:rPr>
              <a:t> = { ON | OFF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STATISTICS_NORECOMPUTE</a:t>
            </a:r>
            <a:r>
              <a:rPr lang="en-CA" b="1" dirty="0">
                <a:latin typeface="Courier New" pitchFamily="49" charset="0"/>
                <a:cs typeface="Courier New" pitchFamily="49" charset="0"/>
              </a:rPr>
              <a:t> = { ON | OFF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DROP_EXISTING</a:t>
            </a:r>
            <a:r>
              <a:rPr lang="en-CA" b="1" dirty="0">
                <a:latin typeface="Courier New" pitchFamily="49" charset="0"/>
                <a:cs typeface="Courier New" pitchFamily="49" charset="0"/>
              </a:rPr>
              <a:t> = { ON | OFF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ONLINE</a:t>
            </a:r>
            <a:r>
              <a:rPr lang="en-CA" b="1" dirty="0">
                <a:latin typeface="Courier New" pitchFamily="49" charset="0"/>
                <a:cs typeface="Courier New" pitchFamily="49" charset="0"/>
              </a:rPr>
              <a:t> = { ON | OFF }</a:t>
            </a:r>
          </a:p>
          <a:p>
            <a:r>
              <a:rPr lang="en-CA" b="1" dirty="0">
                <a:latin typeface="Courier New" pitchFamily="49" charset="0"/>
                <a:cs typeface="Courier New" pitchFamily="49" charset="0"/>
              </a:rPr>
              <a:t>  | </a:t>
            </a:r>
            <a:r>
              <a:rPr lang="en-CA" b="1" dirty="0">
                <a:solidFill>
                  <a:srgbClr val="0000FF"/>
                </a:solidFill>
                <a:latin typeface="Courier New" pitchFamily="49" charset="0"/>
                <a:cs typeface="Courier New" pitchFamily="49" charset="0"/>
              </a:rPr>
              <a:t>DATA_COMPRESSION</a:t>
            </a:r>
            <a:r>
              <a:rPr lang="en-CA" b="1" dirty="0">
                <a:latin typeface="Courier New" pitchFamily="49" charset="0"/>
                <a:cs typeface="Courier New" pitchFamily="49" charset="0"/>
              </a:rPr>
              <a:t> = { NONE | ROW | PAGE} </a:t>
            </a:r>
          </a:p>
          <a:p>
            <a:r>
              <a:rPr lang="en-CA" b="1" dirty="0">
                <a:latin typeface="Courier New" pitchFamily="49" charset="0"/>
                <a:cs typeface="Courier New" pitchFamily="49" charset="0"/>
              </a:rPr>
              <a:t>}</a:t>
            </a:r>
          </a:p>
          <a:p>
            <a:endParaRPr lang="en-CA" b="1" dirty="0">
              <a:latin typeface="Courier New" pitchFamily="49" charset="0"/>
              <a:cs typeface="Courier New" pitchFamily="49" charset="0"/>
            </a:endParaRPr>
          </a:p>
          <a:p>
            <a:endParaRPr lang="en-CA" b="1" dirty="0">
              <a:latin typeface="Courier New" pitchFamily="49" charset="0"/>
              <a:cs typeface="Courier New"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28600"/>
            <a:ext cx="8077200" cy="6629400"/>
          </a:xfrm>
        </p:spPr>
        <p:txBody>
          <a:bodyPr/>
          <a:lstStyle/>
          <a:p>
            <a:r>
              <a:rPr lang="en-CA" dirty="0">
                <a:solidFill>
                  <a:srgbClr val="0070C0"/>
                </a:solidFill>
              </a:rPr>
              <a:t>UNIQUE</a:t>
            </a:r>
            <a:r>
              <a:rPr lang="en-CA" dirty="0"/>
              <a:t>:</a:t>
            </a:r>
            <a:r>
              <a:rPr lang="en-US" dirty="0"/>
              <a:t> No two rows are permitted to have the same index key value</a:t>
            </a:r>
          </a:p>
          <a:p>
            <a:pPr lvl="1"/>
            <a:r>
              <a:rPr lang="en-US" dirty="0"/>
              <a:t>A clustered index on a view must be unique</a:t>
            </a:r>
            <a:br>
              <a:rPr lang="en-US" dirty="0"/>
            </a:br>
            <a:endParaRPr lang="en-US" dirty="0"/>
          </a:p>
          <a:p>
            <a:r>
              <a:rPr lang="en-CA" dirty="0">
                <a:solidFill>
                  <a:srgbClr val="0070C0"/>
                </a:solidFill>
              </a:rPr>
              <a:t>CLUSTERED</a:t>
            </a:r>
            <a:r>
              <a:rPr lang="en-CA" dirty="0"/>
              <a:t>:</a:t>
            </a:r>
            <a:r>
              <a:rPr lang="en-US" dirty="0"/>
              <a:t> Creates an index in which the logical order of the key values determines the physical order of the corresponding rows in a table. Max 16 cols. Max size 900 bytes</a:t>
            </a:r>
          </a:p>
          <a:p>
            <a:pPr lvl="1"/>
            <a:r>
              <a:rPr lang="en-US" dirty="0"/>
              <a:t>Existing non-clustered indexes on tables are rebuilt when a clustered index is created</a:t>
            </a:r>
            <a:endParaRPr lang="en-CA"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7790688" cy="6248400"/>
          </a:xfrm>
        </p:spPr>
        <p:txBody>
          <a:bodyPr>
            <a:normAutofit/>
          </a:bodyPr>
          <a:lstStyle/>
          <a:p>
            <a:r>
              <a:rPr lang="en-CA" dirty="0">
                <a:solidFill>
                  <a:srgbClr val="0070C0"/>
                </a:solidFill>
              </a:rPr>
              <a:t>NONCLUSTERED</a:t>
            </a:r>
            <a:r>
              <a:rPr lang="en-CA" dirty="0"/>
              <a:t>:</a:t>
            </a:r>
            <a:r>
              <a:rPr lang="en-US" dirty="0"/>
              <a:t> (default) Each table can have up to 999 non-clustered indexes</a:t>
            </a:r>
            <a:br>
              <a:rPr lang="en-US" dirty="0"/>
            </a:br>
            <a:endParaRPr lang="en-US" dirty="0"/>
          </a:p>
          <a:p>
            <a:r>
              <a:rPr lang="en-CA" dirty="0">
                <a:solidFill>
                  <a:srgbClr val="0070C0"/>
                </a:solidFill>
              </a:rPr>
              <a:t>Column</a:t>
            </a:r>
            <a:r>
              <a:rPr lang="en-CA" dirty="0"/>
              <a:t>: </a:t>
            </a:r>
            <a:r>
              <a:rPr lang="en-US" dirty="0"/>
              <a:t>Is the column or columns on which the index is based</a:t>
            </a:r>
          </a:p>
          <a:p>
            <a:pPr lvl="1"/>
            <a:r>
              <a:rPr lang="en-US" dirty="0"/>
              <a:t>List the columns to be used as key, in sort-priority order</a:t>
            </a:r>
          </a:p>
          <a:p>
            <a:pPr lvl="1"/>
            <a:r>
              <a:rPr lang="en-US" dirty="0"/>
              <a:t>Max 16 columns can be combined into a single composite index key. </a:t>
            </a:r>
          </a:p>
          <a:p>
            <a:pPr lvl="1"/>
            <a:r>
              <a:rPr lang="en-US" dirty="0"/>
              <a:t>The maximum allowable size of the combined index values is 900 bytes.</a:t>
            </a:r>
          </a:p>
          <a:p>
            <a:endParaRPr lang="en-US" dirty="0"/>
          </a:p>
          <a:p>
            <a:endParaRPr lang="en-CA"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04800"/>
            <a:ext cx="7714488" cy="6324600"/>
          </a:xfrm>
        </p:spPr>
        <p:txBody>
          <a:bodyPr>
            <a:normAutofit/>
          </a:bodyPr>
          <a:lstStyle/>
          <a:p>
            <a:r>
              <a:rPr lang="en-CA" dirty="0">
                <a:solidFill>
                  <a:srgbClr val="0070C0"/>
                </a:solidFill>
              </a:rPr>
              <a:t>INCLUDE</a:t>
            </a:r>
            <a:r>
              <a:rPr lang="en-CA" dirty="0"/>
              <a:t>:</a:t>
            </a:r>
            <a:r>
              <a:rPr lang="en-US" dirty="0"/>
              <a:t> Specifies the non-key columns to be added to the </a:t>
            </a:r>
            <a:r>
              <a:rPr lang="en-US" dirty="0">
                <a:solidFill>
                  <a:srgbClr val="0070C0"/>
                </a:solidFill>
              </a:rPr>
              <a:t>leaf level </a:t>
            </a:r>
            <a:r>
              <a:rPr lang="en-US" dirty="0"/>
              <a:t>of the non-clustered index max 1023. </a:t>
            </a:r>
          </a:p>
          <a:p>
            <a:pPr lvl="1"/>
            <a:r>
              <a:rPr lang="en-US" dirty="0"/>
              <a:t>The </a:t>
            </a:r>
            <a:r>
              <a:rPr lang="en-US" dirty="0">
                <a:solidFill>
                  <a:srgbClr val="0070C0"/>
                </a:solidFill>
              </a:rPr>
              <a:t>non-clustered</a:t>
            </a:r>
            <a:r>
              <a:rPr lang="en-US" dirty="0"/>
              <a:t> index can be unique or non-unique. </a:t>
            </a:r>
          </a:p>
          <a:p>
            <a:pPr lvl="1"/>
            <a:r>
              <a:rPr lang="en-US" dirty="0"/>
              <a:t>Column names cannot be repeated in the </a:t>
            </a:r>
            <a:r>
              <a:rPr lang="en-US" dirty="0">
                <a:solidFill>
                  <a:srgbClr val="0070C0"/>
                </a:solidFill>
              </a:rPr>
              <a:t>INCLUDE</a:t>
            </a:r>
            <a:r>
              <a:rPr lang="en-US" dirty="0"/>
              <a:t> list and cannot be used simultaneously as both key and non-key columns. </a:t>
            </a:r>
          </a:p>
          <a:p>
            <a:pPr lvl="1"/>
            <a:r>
              <a:rPr lang="en-US" dirty="0">
                <a:solidFill>
                  <a:srgbClr val="0070C0"/>
                </a:solidFill>
              </a:rPr>
              <a:t>Non-clustered</a:t>
            </a:r>
            <a:r>
              <a:rPr lang="en-US" dirty="0"/>
              <a:t> indexes always contain the clustered index columns if a clustered index is defined on the table</a:t>
            </a:r>
          </a:p>
          <a:p>
            <a:endParaRPr lang="en-CA"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381000"/>
            <a:ext cx="7866888" cy="6324600"/>
          </a:xfrm>
        </p:spPr>
        <p:txBody>
          <a:bodyPr>
            <a:normAutofit/>
          </a:bodyPr>
          <a:lstStyle/>
          <a:p>
            <a:r>
              <a:rPr lang="en-US" sz="2800" dirty="0">
                <a:solidFill>
                  <a:srgbClr val="0070C0"/>
                </a:solidFill>
              </a:rPr>
              <a:t>WHERE</a:t>
            </a:r>
            <a:r>
              <a:rPr lang="en-US" sz="2800" dirty="0"/>
              <a:t>: Creates a filtered index by specifying which rows to include in the index. </a:t>
            </a:r>
          </a:p>
          <a:p>
            <a:pPr lvl="1"/>
            <a:r>
              <a:rPr lang="en-US" sz="2400" dirty="0"/>
              <a:t>The filtered index must be a non-clustered index on a table. </a:t>
            </a:r>
          </a:p>
          <a:p>
            <a:pPr lvl="1"/>
            <a:r>
              <a:rPr lang="en-US" sz="2400" dirty="0"/>
              <a:t>Creates filtered statistics for the data rows in the filtered index.</a:t>
            </a:r>
            <a:br>
              <a:rPr lang="en-US" sz="2400" dirty="0"/>
            </a:br>
            <a:endParaRPr lang="en-US" sz="2400" dirty="0"/>
          </a:p>
          <a:p>
            <a:r>
              <a:rPr lang="en-US" sz="2800" dirty="0">
                <a:solidFill>
                  <a:srgbClr val="0070C0"/>
                </a:solidFill>
              </a:rPr>
              <a:t>FILLFACTOR</a:t>
            </a:r>
            <a:r>
              <a:rPr lang="en-US" sz="2800" b="1" dirty="0"/>
              <a:t>: </a:t>
            </a:r>
            <a:r>
              <a:rPr lang="en-US" sz="2800" dirty="0"/>
              <a:t>Specifies a percentage indicating how full the </a:t>
            </a:r>
            <a:r>
              <a:rPr lang="en-US" sz="2800" u="sng" dirty="0"/>
              <a:t>leaf level </a:t>
            </a:r>
            <a:r>
              <a:rPr lang="en-US" sz="2800" dirty="0"/>
              <a:t>of each index page during index creation or rebuild would be. A fill factor of 80 means 20% of each page will be empty when creating or rebuilding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609600"/>
            <a:ext cx="7638288" cy="5638800"/>
          </a:xfrm>
        </p:spPr>
        <p:txBody>
          <a:bodyPr>
            <a:normAutofit/>
          </a:bodyPr>
          <a:lstStyle/>
          <a:p>
            <a:r>
              <a:rPr lang="en-US" dirty="0">
                <a:solidFill>
                  <a:srgbClr val="0070C0"/>
                </a:solidFill>
              </a:rPr>
              <a:t>PAD_INDEX</a:t>
            </a:r>
            <a:r>
              <a:rPr lang="en-US" dirty="0"/>
              <a:t> </a:t>
            </a:r>
            <a:r>
              <a:rPr lang="en-US" dirty="0">
                <a:solidFill>
                  <a:srgbClr val="0070C0"/>
                </a:solidFill>
              </a:rPr>
              <a:t>=  ON | </a:t>
            </a:r>
            <a:r>
              <a:rPr lang="en-US" dirty="0">
                <a:solidFill>
                  <a:srgbClr val="FF0000"/>
                </a:solidFill>
              </a:rPr>
              <a:t>OFF</a:t>
            </a:r>
            <a:r>
              <a:rPr lang="en-US" dirty="0">
                <a:solidFill>
                  <a:srgbClr val="0070C0"/>
                </a:solidFill>
              </a:rPr>
              <a:t> </a:t>
            </a:r>
            <a:r>
              <a:rPr lang="en-US" dirty="0">
                <a:solidFill>
                  <a:srgbClr val="FF0000"/>
                </a:solidFill>
              </a:rPr>
              <a:t> </a:t>
            </a:r>
            <a:r>
              <a:rPr lang="en-US" dirty="0"/>
              <a:t>Specifies index padding. </a:t>
            </a:r>
          </a:p>
          <a:p>
            <a:pPr lvl="1"/>
            <a:r>
              <a:rPr lang="en-US" dirty="0"/>
              <a:t>The default is OFF. </a:t>
            </a:r>
            <a:br>
              <a:rPr lang="en-US" dirty="0"/>
            </a:br>
            <a:endParaRPr lang="en-US" dirty="0"/>
          </a:p>
          <a:p>
            <a:pPr lvl="1"/>
            <a:r>
              <a:rPr lang="en-US" dirty="0">
                <a:solidFill>
                  <a:srgbClr val="0070C0"/>
                </a:solidFill>
              </a:rPr>
              <a:t>ON</a:t>
            </a:r>
            <a:r>
              <a:rPr lang="en-US" dirty="0"/>
              <a:t>: The percentage of free space that is specified by </a:t>
            </a:r>
            <a:r>
              <a:rPr lang="en-US" sz="2400" dirty="0">
                <a:solidFill>
                  <a:srgbClr val="0070C0"/>
                </a:solidFill>
              </a:rPr>
              <a:t>FILLFACTOR</a:t>
            </a:r>
            <a:r>
              <a:rPr lang="en-US" dirty="0"/>
              <a:t> is applied to the </a:t>
            </a:r>
            <a:r>
              <a:rPr lang="en-US" u="sng" dirty="0"/>
              <a:t>intermediate-level</a:t>
            </a:r>
            <a:r>
              <a:rPr lang="en-US" dirty="0"/>
              <a:t> and </a:t>
            </a:r>
            <a:r>
              <a:rPr lang="en-US" u="sng" dirty="0"/>
              <a:t>root pages </a:t>
            </a:r>
            <a:r>
              <a:rPr lang="en-US" dirty="0"/>
              <a:t>of the index.</a:t>
            </a:r>
            <a:br>
              <a:rPr lang="en-US" dirty="0"/>
            </a:br>
            <a:endParaRPr lang="en-US" dirty="0"/>
          </a:p>
          <a:p>
            <a:pPr lvl="1"/>
            <a:r>
              <a:rPr lang="en-US" dirty="0">
                <a:solidFill>
                  <a:srgbClr val="0070C0"/>
                </a:solidFill>
              </a:rPr>
              <a:t>OFF</a:t>
            </a:r>
            <a:r>
              <a:rPr lang="en-US" dirty="0"/>
              <a:t>: The intermediate-level pages are filled to near capacity, leaving sufficient space for at least one row</a:t>
            </a:r>
          </a:p>
          <a:p>
            <a:endParaRPr lang="en-CA"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457200"/>
            <a:ext cx="7790688" cy="5943600"/>
          </a:xfrm>
        </p:spPr>
        <p:txBody>
          <a:bodyPr>
            <a:normAutofit fontScale="92500"/>
          </a:bodyPr>
          <a:lstStyle/>
          <a:p>
            <a:pPr>
              <a:buNone/>
            </a:pPr>
            <a:r>
              <a:rPr lang="en-CA" dirty="0">
                <a:solidFill>
                  <a:srgbClr val="0070C0"/>
                </a:solidFill>
              </a:rPr>
              <a:t>SORT_IN_TEMPDB = ON | </a:t>
            </a:r>
            <a:r>
              <a:rPr lang="en-CA" dirty="0">
                <a:solidFill>
                  <a:srgbClr val="FF0000"/>
                </a:solidFill>
              </a:rPr>
              <a:t>OFF </a:t>
            </a:r>
          </a:p>
          <a:p>
            <a:r>
              <a:rPr lang="en-US" dirty="0"/>
              <a:t>Specifies whether the data should be sorted in the </a:t>
            </a:r>
            <a:r>
              <a:rPr lang="en-US" dirty="0">
                <a:solidFill>
                  <a:srgbClr val="0070C0"/>
                </a:solidFill>
              </a:rPr>
              <a:t>tempdb</a:t>
            </a:r>
            <a:r>
              <a:rPr lang="en-US" dirty="0"/>
              <a:t> database instead of the  current database. This may give performance advantages if the tempdb database is stored on a different disk to the current database</a:t>
            </a:r>
            <a:br>
              <a:rPr lang="en-US" dirty="0"/>
            </a:br>
            <a:endParaRPr lang="en-US" dirty="0"/>
          </a:p>
          <a:p>
            <a:pPr>
              <a:buNone/>
            </a:pPr>
            <a:r>
              <a:rPr lang="en-CA" dirty="0">
                <a:solidFill>
                  <a:srgbClr val="0070C0"/>
                </a:solidFill>
              </a:rPr>
              <a:t>IGNORE_DUP_KEY = ON | </a:t>
            </a:r>
            <a:r>
              <a:rPr lang="en-CA" dirty="0">
                <a:solidFill>
                  <a:srgbClr val="FF0000"/>
                </a:solidFill>
              </a:rPr>
              <a:t>OFF </a:t>
            </a:r>
          </a:p>
          <a:p>
            <a:r>
              <a:rPr lang="en-US" dirty="0"/>
              <a:t>Allows any rows to be inserted that do not produce duplicate values and reject only the rows that cause duplicates in a multi-row insert operation</a:t>
            </a:r>
            <a:endParaRPr lang="en-CA" dirty="0"/>
          </a:p>
        </p:txBody>
      </p:sp>
    </p:spTree>
    <p:extLst>
      <p:ext uri="{BB962C8B-B14F-4D97-AF65-F5344CB8AC3E}">
        <p14:creationId xmlns:p14="http://schemas.microsoft.com/office/powerpoint/2010/main" val="2287643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304800"/>
            <a:ext cx="7924800" cy="6324600"/>
          </a:xfrm>
        </p:spPr>
        <p:txBody>
          <a:bodyPr>
            <a:normAutofit fontScale="92500" lnSpcReduction="10000"/>
          </a:bodyPr>
          <a:lstStyle/>
          <a:p>
            <a:pPr>
              <a:buNone/>
            </a:pPr>
            <a:r>
              <a:rPr lang="en-CA" dirty="0">
                <a:solidFill>
                  <a:srgbClr val="0070C0"/>
                </a:solidFill>
              </a:rPr>
              <a:t>DROP_EXISTING = ON | </a:t>
            </a:r>
            <a:r>
              <a:rPr lang="en-CA" dirty="0">
                <a:solidFill>
                  <a:srgbClr val="FF0000"/>
                </a:solidFill>
              </a:rPr>
              <a:t>OFF</a:t>
            </a:r>
          </a:p>
          <a:p>
            <a:r>
              <a:rPr lang="en-US" dirty="0"/>
              <a:t>Specifies that the existing index with the same name should be dropped and then be re-created. This equates to an index rebuild.</a:t>
            </a:r>
            <a:r>
              <a:rPr lang="en-CA" dirty="0"/>
              <a:t> </a:t>
            </a:r>
            <a:br>
              <a:rPr lang="en-CA" dirty="0"/>
            </a:br>
            <a:endParaRPr lang="en-CA" dirty="0"/>
          </a:p>
          <a:p>
            <a:pPr marL="82296" indent="0">
              <a:buNone/>
            </a:pPr>
            <a:r>
              <a:rPr lang="en-CA" dirty="0">
                <a:solidFill>
                  <a:srgbClr val="0070C0"/>
                </a:solidFill>
              </a:rPr>
              <a:t>ONLINE</a:t>
            </a:r>
            <a:r>
              <a:rPr lang="en-CA" dirty="0"/>
              <a:t> </a:t>
            </a:r>
            <a:r>
              <a:rPr lang="en-CA" dirty="0">
                <a:solidFill>
                  <a:srgbClr val="0070C0"/>
                </a:solidFill>
              </a:rPr>
              <a:t>=  ON | </a:t>
            </a:r>
            <a:r>
              <a:rPr lang="en-CA" dirty="0">
                <a:solidFill>
                  <a:srgbClr val="FF0000"/>
                </a:solidFill>
              </a:rPr>
              <a:t>OFF </a:t>
            </a:r>
          </a:p>
          <a:p>
            <a:r>
              <a:rPr lang="en-CA" dirty="0"/>
              <a:t>Specifies whether underlying tables and indexes are available for queries and data modification during the index operation. </a:t>
            </a:r>
            <a:br>
              <a:rPr lang="en-CA" dirty="0"/>
            </a:br>
            <a:endParaRPr lang="en-CA" dirty="0"/>
          </a:p>
          <a:p>
            <a:pPr>
              <a:buNone/>
            </a:pPr>
            <a:r>
              <a:rPr lang="en-CA" dirty="0">
                <a:solidFill>
                  <a:srgbClr val="0070C0"/>
                </a:solidFill>
              </a:rPr>
              <a:t>DATA_COMPRESSION =  </a:t>
            </a:r>
            <a:r>
              <a:rPr lang="en-CA" dirty="0">
                <a:solidFill>
                  <a:srgbClr val="FF0000"/>
                </a:solidFill>
              </a:rPr>
              <a:t>NONE</a:t>
            </a:r>
            <a:r>
              <a:rPr lang="en-CA" dirty="0">
                <a:solidFill>
                  <a:srgbClr val="0070C0"/>
                </a:solidFill>
              </a:rPr>
              <a:t> | ROW | PAGE</a:t>
            </a:r>
          </a:p>
          <a:p>
            <a:r>
              <a:rPr lang="en-US" dirty="0"/>
              <a:t>Use data compression at row or page level  of the index</a:t>
            </a:r>
            <a:endParaRPr lang="en-CA" dirty="0"/>
          </a:p>
        </p:txBody>
      </p:sp>
    </p:spTree>
    <p:extLst>
      <p:ext uri="{BB962C8B-B14F-4D97-AF65-F5344CB8AC3E}">
        <p14:creationId xmlns:p14="http://schemas.microsoft.com/office/powerpoint/2010/main" val="3308286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8153400" cy="6863417"/>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r>
              <a:rPr lang="en-US" sz="2000" b="1" dirty="0">
                <a:solidFill>
                  <a:schemeClr val="accent4"/>
                </a:solidFill>
                <a:latin typeface="Courier New" pitchFamily="49" charset="0"/>
                <a:cs typeface="Courier New" pitchFamily="49" charset="0"/>
              </a:rPr>
              <a:t>--Create the table specifying that the primary key </a:t>
            </a:r>
          </a:p>
          <a:p>
            <a:r>
              <a:rPr lang="en-US" sz="2000" b="1" dirty="0">
                <a:solidFill>
                  <a:schemeClr val="accent4"/>
                </a:solidFill>
                <a:latin typeface="Courier New" pitchFamily="49" charset="0"/>
                <a:cs typeface="Courier New" pitchFamily="49" charset="0"/>
              </a:rPr>
              <a:t>--index is to be created as nonclustered</a:t>
            </a:r>
          </a:p>
          <a:p>
            <a:endParaRPr lang="en-US" sz="2000" b="1" dirty="0">
              <a:latin typeface="Courier New" pitchFamily="49" charset="0"/>
              <a:cs typeface="Courier New" pitchFamily="49" charset="0"/>
            </a:endParaRPr>
          </a:p>
          <a:p>
            <a:r>
              <a:rPr lang="en-CA" sz="2000" b="1" dirty="0">
                <a:solidFill>
                  <a:srgbClr val="0000FF"/>
                </a:solidFill>
                <a:latin typeface="Courier New" pitchFamily="49" charset="0"/>
                <a:cs typeface="Courier New" pitchFamily="49" charset="0"/>
              </a:rPr>
              <a:t>CREATE</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TABLE</a:t>
            </a:r>
            <a:r>
              <a:rPr lang="en-CA" sz="2000" b="1" dirty="0">
                <a:solidFill>
                  <a:prstClr val="black"/>
                </a:solidFill>
                <a:latin typeface="Courier New" pitchFamily="49" charset="0"/>
                <a:cs typeface="Courier New" pitchFamily="49" charset="0"/>
              </a:rPr>
              <a:t> Stars</a:t>
            </a:r>
          </a:p>
          <a:p>
            <a:r>
              <a:rPr lang="en-CA" sz="2000" b="1" dirty="0">
                <a:solidFill>
                  <a:srgbClr val="0000FF"/>
                </a:solidFill>
                <a:latin typeface="Courier New" pitchFamily="49" charset="0"/>
                <a:cs typeface="Courier New" pitchFamily="49" charset="0"/>
              </a:rPr>
              <a:t>	</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StarID </a:t>
            </a:r>
            <a:r>
              <a:rPr lang="en-CA" sz="2000" b="1" dirty="0">
                <a:solidFill>
                  <a:srgbClr val="0000FF"/>
                </a:solidFill>
                <a:latin typeface="Courier New" pitchFamily="49" charset="0"/>
                <a:cs typeface="Courier New" pitchFamily="49" charset="0"/>
              </a:rPr>
              <a:t>int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PRIMARY</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KEY</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NONCLUSTERED</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StarName </a:t>
            </a:r>
            <a:r>
              <a:rPr lang="en-CA" sz="2000" b="1" dirty="0">
                <a:solidFill>
                  <a:srgbClr val="0000FF"/>
                </a:solidFill>
                <a:latin typeface="Courier New" pitchFamily="49" charset="0"/>
                <a:cs typeface="Courier New" pitchFamily="49" charset="0"/>
              </a:rPr>
              <a:t>varchar</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50</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Unique</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SolarMass </a:t>
            </a:r>
            <a:r>
              <a:rPr lang="en-CA" sz="2000" b="1" dirty="0">
                <a:solidFill>
                  <a:srgbClr val="0000FF"/>
                </a:solidFill>
                <a:latin typeface="Courier New" pitchFamily="49" charset="0"/>
                <a:cs typeface="Courier New" pitchFamily="49" charset="0"/>
              </a:rPr>
              <a:t>decimal</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10</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2</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CHECK</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SolarMass </a:t>
            </a:r>
            <a:r>
              <a:rPr lang="en-CA" sz="2000" b="1" dirty="0">
                <a:solidFill>
                  <a:srgbClr val="808080"/>
                </a:solidFill>
                <a:latin typeface="Courier New" pitchFamily="49" charset="0"/>
                <a:cs typeface="Courier New" pitchFamily="49" charset="0"/>
              </a:rPr>
              <a:t>&gt;</a:t>
            </a:r>
            <a:r>
              <a:rPr lang="en-CA" sz="2000" b="1" dirty="0">
                <a:solidFill>
                  <a:prstClr val="black"/>
                </a:solidFill>
                <a:latin typeface="Courier New" pitchFamily="49" charset="0"/>
                <a:cs typeface="Courier New" pitchFamily="49" charset="0"/>
              </a:rPr>
              <a:t> 0</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StarType </a:t>
            </a:r>
            <a:r>
              <a:rPr lang="en-CA" sz="2000" b="1" dirty="0">
                <a:solidFill>
                  <a:srgbClr val="0000FF"/>
                </a:solidFill>
                <a:latin typeface="Courier New" pitchFamily="49" charset="0"/>
                <a:cs typeface="Courier New" pitchFamily="49" charset="0"/>
              </a:rPr>
              <a:t>varchar</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50</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DEFAULT</a:t>
            </a:r>
            <a:r>
              <a:rPr lang="en-CA" sz="2000" b="1" dirty="0">
                <a:solidFill>
                  <a:prstClr val="black"/>
                </a:solidFill>
                <a:latin typeface="Courier New" pitchFamily="49" charset="0"/>
                <a:cs typeface="Courier New" pitchFamily="49" charset="0"/>
              </a:rPr>
              <a:t> </a:t>
            </a:r>
            <a:r>
              <a:rPr lang="en-CA" sz="2000" b="1" dirty="0">
                <a:solidFill>
                  <a:srgbClr val="FF0000"/>
                </a:solidFill>
                <a:latin typeface="Courier New" pitchFamily="49" charset="0"/>
                <a:cs typeface="Courier New" pitchFamily="49" charset="0"/>
              </a:rPr>
              <a:t>'Orange Giant'</a:t>
            </a:r>
            <a:r>
              <a:rPr lang="en-CA" sz="2000" b="1" dirty="0">
                <a:solidFill>
                  <a:srgbClr val="808080"/>
                </a:solidFill>
                <a:latin typeface="Courier New" pitchFamily="49" charset="0"/>
                <a:cs typeface="Courier New" pitchFamily="49" charset="0"/>
              </a:rPr>
              <a:t>);</a:t>
            </a:r>
          </a:p>
          <a:p>
            <a:r>
              <a:rPr lang="en-CA" sz="2000" b="1" dirty="0">
                <a:solidFill>
                  <a:srgbClr val="0000FF"/>
                </a:solidFill>
                <a:latin typeface="Courier New" pitchFamily="49" charset="0"/>
                <a:cs typeface="Courier New" pitchFamily="49" charset="0"/>
              </a:rPr>
              <a:t>GO</a:t>
            </a:r>
            <a:br>
              <a:rPr lang="en-CA" sz="2000" b="1" dirty="0">
                <a:solidFill>
                  <a:srgbClr val="0000FF"/>
                </a:solidFill>
                <a:latin typeface="Courier New" pitchFamily="49" charset="0"/>
                <a:cs typeface="Courier New" pitchFamily="49" charset="0"/>
              </a:rPr>
            </a:br>
            <a:endParaRPr lang="en-CA" sz="2000" b="1" dirty="0">
              <a:solidFill>
                <a:srgbClr val="0000FF"/>
              </a:solidFill>
              <a:latin typeface="Courier New" pitchFamily="49" charset="0"/>
              <a:cs typeface="Courier New" pitchFamily="49" charset="0"/>
            </a:endParaRPr>
          </a:p>
          <a:p>
            <a:r>
              <a:rPr lang="en-CA" sz="2000" b="1" dirty="0">
                <a:solidFill>
                  <a:srgbClr val="0000FF"/>
                </a:solidFill>
                <a:latin typeface="Courier New" pitchFamily="49" charset="0"/>
                <a:cs typeface="Courier New" pitchFamily="49" charset="0"/>
              </a:rPr>
              <a:t>CREATE</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CLUSTERED</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INDEX</a:t>
            </a:r>
            <a:r>
              <a:rPr lang="en-CA" sz="2000" b="1" dirty="0">
                <a:solidFill>
                  <a:prstClr val="black"/>
                </a:solidFill>
                <a:latin typeface="Courier New" pitchFamily="49" charset="0"/>
                <a:cs typeface="Courier New" pitchFamily="49" charset="0"/>
              </a:rPr>
              <a:t> Ix_Star_Name</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ON</a:t>
            </a:r>
            <a:r>
              <a:rPr lang="en-CA" sz="2000" b="1" dirty="0">
                <a:solidFill>
                  <a:prstClr val="black"/>
                </a:solidFill>
                <a:latin typeface="Courier New" pitchFamily="49" charset="0"/>
                <a:cs typeface="Courier New" pitchFamily="49" charset="0"/>
              </a:rPr>
              <a:t> Stars</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StarName</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WITH </a:t>
            </a:r>
            <a:r>
              <a:rPr lang="en-CA" sz="2000" b="1" dirty="0">
                <a:solidFill>
                  <a:srgbClr val="808080"/>
                </a:solidFill>
                <a:latin typeface="Courier New" pitchFamily="49" charset="0"/>
                <a:cs typeface="Courier New" pitchFamily="49" charset="0"/>
              </a:rPr>
              <a:t>(</a:t>
            </a:r>
            <a:r>
              <a:rPr lang="en-CA" sz="2000" b="1" dirty="0">
                <a:solidFill>
                  <a:srgbClr val="0000FF"/>
                </a:solidFill>
                <a:latin typeface="Courier New" pitchFamily="49" charset="0"/>
                <a:cs typeface="Courier New" pitchFamily="49" charset="0"/>
              </a:rPr>
              <a:t>PAD_INDEX</a:t>
            </a:r>
            <a:r>
              <a:rPr lang="en-CA" sz="2000" b="1" dirty="0">
                <a:solidFill>
                  <a:prstClr val="black"/>
                </a:solidFill>
                <a:latin typeface="Courier New" pitchFamily="49" charset="0"/>
                <a:cs typeface="Courier New" pitchFamily="49" charset="0"/>
              </a:rPr>
              <a:t> </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ON</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FILLFACTOR</a:t>
            </a:r>
            <a:r>
              <a:rPr lang="en-CA" sz="2000" b="1" dirty="0">
                <a:solidFill>
                  <a:prstClr val="black"/>
                </a:solidFill>
                <a:latin typeface="Courier New" pitchFamily="49" charset="0"/>
                <a:cs typeface="Courier New" pitchFamily="49" charset="0"/>
              </a:rPr>
              <a:t> </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70</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ONLINE</a:t>
            </a:r>
            <a:r>
              <a:rPr lang="en-CA" sz="2000" b="1" dirty="0">
                <a:solidFill>
                  <a:prstClr val="black"/>
                </a:solidFill>
                <a:latin typeface="Courier New" pitchFamily="49" charset="0"/>
                <a:cs typeface="Courier New" pitchFamily="49" charset="0"/>
              </a:rPr>
              <a:t> </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ON</a:t>
            </a:r>
            <a:r>
              <a:rPr lang="en-CA" sz="2000" b="1" dirty="0">
                <a:solidFill>
                  <a:srgbClr val="808080"/>
                </a:solidFill>
                <a:latin typeface="Courier New" pitchFamily="49" charset="0"/>
                <a:cs typeface="Courier New" pitchFamily="49" charset="0"/>
              </a:rPr>
              <a:t>);</a:t>
            </a:r>
          </a:p>
          <a:p>
            <a:r>
              <a:rPr lang="en-CA" sz="2000" b="1" dirty="0">
                <a:solidFill>
                  <a:srgbClr val="0000FF"/>
                </a:solidFill>
                <a:latin typeface="Courier New" pitchFamily="49" charset="0"/>
                <a:cs typeface="Courier New" pitchFamily="49" charset="0"/>
              </a:rPr>
              <a:t>GO</a:t>
            </a:r>
            <a:br>
              <a:rPr lang="en-CA" sz="2000" b="1" dirty="0">
                <a:solidFill>
                  <a:srgbClr val="0000FF"/>
                </a:solidFill>
                <a:latin typeface="Courier New" pitchFamily="49" charset="0"/>
                <a:cs typeface="Courier New" pitchFamily="49" charset="0"/>
              </a:rPr>
            </a:br>
            <a:endParaRPr lang="en-CA" sz="2000" b="1" dirty="0">
              <a:solidFill>
                <a:srgbClr val="0000FF"/>
              </a:solidFill>
              <a:latin typeface="Courier New" pitchFamily="49" charset="0"/>
              <a:cs typeface="Courier New" pitchFamily="49" charset="0"/>
            </a:endParaRPr>
          </a:p>
          <a:p>
            <a:r>
              <a:rPr lang="en-CA" sz="2000" b="1" dirty="0">
                <a:solidFill>
                  <a:srgbClr val="0000FF"/>
                </a:solidFill>
                <a:latin typeface="Courier New" pitchFamily="49" charset="0"/>
                <a:cs typeface="Courier New" pitchFamily="49" charset="0"/>
              </a:rPr>
              <a:t>CREATE</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NONCLUSTERED</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INDEX</a:t>
            </a:r>
            <a:r>
              <a:rPr lang="en-CA" sz="2000" b="1" dirty="0">
                <a:solidFill>
                  <a:prstClr val="black"/>
                </a:solidFill>
                <a:latin typeface="Courier New" pitchFamily="49" charset="0"/>
                <a:cs typeface="Courier New" pitchFamily="49" charset="0"/>
              </a:rPr>
              <a:t> Ix_Star_Type</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ON</a:t>
            </a:r>
            <a:r>
              <a:rPr lang="en-CA" sz="2000" b="1" dirty="0">
                <a:solidFill>
                  <a:prstClr val="black"/>
                </a:solidFill>
                <a:latin typeface="Courier New" pitchFamily="49" charset="0"/>
                <a:cs typeface="Courier New" pitchFamily="49" charset="0"/>
              </a:rPr>
              <a:t> Stars</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StarType</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WITH </a:t>
            </a:r>
            <a:r>
              <a:rPr lang="en-CA" sz="2000" b="1" dirty="0">
                <a:solidFill>
                  <a:srgbClr val="808080"/>
                </a:solidFill>
                <a:latin typeface="Courier New" pitchFamily="49" charset="0"/>
                <a:cs typeface="Courier New" pitchFamily="49" charset="0"/>
              </a:rPr>
              <a:t>(</a:t>
            </a:r>
            <a:r>
              <a:rPr lang="en-CA" sz="2000" b="1" dirty="0">
                <a:solidFill>
                  <a:srgbClr val="0000FF"/>
                </a:solidFill>
                <a:latin typeface="Courier New" pitchFamily="49" charset="0"/>
                <a:cs typeface="Courier New" pitchFamily="49" charset="0"/>
              </a:rPr>
              <a:t>PAD_INDEX</a:t>
            </a:r>
            <a:r>
              <a:rPr lang="en-CA" sz="2000" b="1" dirty="0">
                <a:solidFill>
                  <a:prstClr val="black"/>
                </a:solidFill>
                <a:latin typeface="Courier New" pitchFamily="49" charset="0"/>
                <a:cs typeface="Courier New" pitchFamily="49" charset="0"/>
              </a:rPr>
              <a:t> </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ON</a:t>
            </a:r>
            <a:r>
              <a:rPr lang="en-CA" sz="2000" b="1" dirty="0">
                <a:solidFill>
                  <a:srgbClr val="808080"/>
                </a:solidFill>
                <a:latin typeface="Courier New" pitchFamily="49" charset="0"/>
                <a:cs typeface="Courier New" pitchFamily="49" charset="0"/>
              </a:rPr>
              <a:t>,</a:t>
            </a:r>
          </a:p>
          <a:p>
            <a:r>
              <a:rPr lang="en-CA" sz="2000" b="1" dirty="0">
                <a:solidFill>
                  <a:prstClr val="black"/>
                </a:solidFill>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FILLFACTOR</a:t>
            </a:r>
            <a:r>
              <a:rPr lang="en-CA" sz="2000" b="1" dirty="0">
                <a:solidFill>
                  <a:prstClr val="black"/>
                </a:solidFill>
                <a:latin typeface="Courier New" pitchFamily="49" charset="0"/>
                <a:cs typeface="Courier New" pitchFamily="49" charset="0"/>
              </a:rPr>
              <a:t> </a:t>
            </a:r>
            <a:r>
              <a:rPr lang="en-CA" sz="2000" b="1" dirty="0">
                <a:solidFill>
                  <a:srgbClr val="808080"/>
                </a:solidFill>
                <a:latin typeface="Courier New" pitchFamily="49" charset="0"/>
                <a:cs typeface="Courier New" pitchFamily="49" charset="0"/>
              </a:rPr>
              <a:t>=</a:t>
            </a:r>
            <a:r>
              <a:rPr lang="en-CA" sz="2000" b="1" dirty="0">
                <a:solidFill>
                  <a:prstClr val="black"/>
                </a:solidFill>
                <a:latin typeface="Courier New" pitchFamily="49" charset="0"/>
                <a:cs typeface="Courier New" pitchFamily="49" charset="0"/>
              </a:rPr>
              <a:t> 90</a:t>
            </a:r>
            <a:r>
              <a:rPr lang="en-CA" sz="2000" b="1" dirty="0">
                <a:solidFill>
                  <a:srgbClr val="808080"/>
                </a:solidFill>
                <a:latin typeface="Courier New" pitchFamily="49" charset="0"/>
                <a:cs typeface="Courier New" pitchFamily="49" charset="0"/>
              </a:rPr>
              <a:t>);</a:t>
            </a:r>
          </a:p>
          <a:p>
            <a:r>
              <a:rPr lang="en-CA" sz="2000" b="1" dirty="0">
                <a:solidFill>
                  <a:srgbClr val="0000FF"/>
                </a:solidFill>
                <a:latin typeface="Courier New" pitchFamily="49" charset="0"/>
                <a:cs typeface="Courier New" pitchFamily="49" charset="0"/>
              </a:rPr>
              <a:t>GO</a:t>
            </a:r>
            <a:endParaRPr lang="en-CA" sz="2000" b="1" dirty="0">
              <a:latin typeface="Courier New" pitchFamily="49" charset="0"/>
              <a:cs typeface="Courier New" pitchFamily="49" charset="0"/>
            </a:endParaRPr>
          </a:p>
        </p:txBody>
      </p:sp>
    </p:spTree>
    <p:extLst>
      <p:ext uri="{BB962C8B-B14F-4D97-AF65-F5344CB8AC3E}">
        <p14:creationId xmlns:p14="http://schemas.microsoft.com/office/powerpoint/2010/main" val="1751907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7498080" cy="990600"/>
          </a:xfrm>
        </p:spPr>
        <p:txBody>
          <a:bodyPr/>
          <a:lstStyle/>
          <a:p>
            <a:pPr algn="ctr"/>
            <a:r>
              <a:rPr lang="en-CA" dirty="0"/>
              <a:t> Index Architecture</a:t>
            </a:r>
          </a:p>
        </p:txBody>
      </p:sp>
      <p:sp>
        <p:nvSpPr>
          <p:cNvPr id="3" name="Content Placeholder 2"/>
          <p:cNvSpPr>
            <a:spLocks noGrp="1"/>
          </p:cNvSpPr>
          <p:nvPr>
            <p:ph idx="1"/>
          </p:nvPr>
        </p:nvSpPr>
        <p:spPr>
          <a:xfrm>
            <a:off x="1143000" y="914400"/>
            <a:ext cx="7790688" cy="5867400"/>
          </a:xfrm>
        </p:spPr>
        <p:txBody>
          <a:bodyPr>
            <a:normAutofit lnSpcReduction="10000"/>
          </a:bodyPr>
          <a:lstStyle/>
          <a:p>
            <a:r>
              <a:rPr lang="en-US" dirty="0"/>
              <a:t>The structure that SQL Server uses to build and maintain indexes is called a balanced tree (B-tree)</a:t>
            </a:r>
            <a:br>
              <a:rPr lang="en-US" dirty="0"/>
            </a:br>
            <a:endParaRPr lang="en-US" dirty="0"/>
          </a:p>
          <a:p>
            <a:r>
              <a:rPr lang="en-US" dirty="0"/>
              <a:t>A B-tree is constructed of a root node that contains a single page of data, one or more optional intermediate level pages, and one or more optional leaf level pages. </a:t>
            </a:r>
            <a:br>
              <a:rPr lang="en-US" dirty="0"/>
            </a:br>
            <a:endParaRPr lang="en-US" dirty="0"/>
          </a:p>
          <a:p>
            <a:r>
              <a:rPr lang="en-US" dirty="0"/>
              <a:t>A B-tree is always symmetrical, with the same number of pages on both the left and right halves at each level. </a:t>
            </a:r>
            <a:endParaRPr lang="en-CA" dirty="0"/>
          </a:p>
        </p:txBody>
      </p:sp>
    </p:spTree>
    <p:extLst>
      <p:ext uri="{BB962C8B-B14F-4D97-AF65-F5344CB8AC3E}">
        <p14:creationId xmlns:p14="http://schemas.microsoft.com/office/powerpoint/2010/main" val="3617054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1" y="1329678"/>
            <a:ext cx="7620000" cy="5375922"/>
          </a:xfrm>
          <a:prstGeom prst="rect">
            <a:avLst/>
          </a:prstGeom>
        </p:spPr>
      </p:pic>
      <p:sp>
        <p:nvSpPr>
          <p:cNvPr id="3" name="Rectangle 2"/>
          <p:cNvSpPr/>
          <p:nvPr/>
        </p:nvSpPr>
        <p:spPr>
          <a:xfrm>
            <a:off x="1371600" y="353650"/>
            <a:ext cx="6324600" cy="369332"/>
          </a:xfrm>
          <a:prstGeom prst="rect">
            <a:avLst/>
          </a:prstGeom>
        </p:spPr>
        <p:txBody>
          <a:bodyPr wrap="square">
            <a:spAutoFit/>
          </a:bodyPr>
          <a:lstStyle/>
          <a:p>
            <a:r>
              <a:rPr lang="en-CA" dirty="0">
                <a:hlinkClick r:id="rId3"/>
              </a:rPr>
              <a:t>Balanced Tree</a:t>
            </a:r>
            <a:endParaRPr lang="en-CA" u="sng" dirty="0">
              <a:solidFill>
                <a:srgbClr val="0000FF"/>
              </a:solidFill>
            </a:endParaRPr>
          </a:p>
        </p:txBody>
      </p:sp>
    </p:spTree>
    <p:extLst>
      <p:ext uri="{BB962C8B-B14F-4D97-AF65-F5344CB8AC3E}">
        <p14:creationId xmlns:p14="http://schemas.microsoft.com/office/powerpoint/2010/main" val="3091000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533400"/>
            <a:ext cx="7638288" cy="5715000"/>
          </a:xfrm>
        </p:spPr>
        <p:txBody>
          <a:bodyPr>
            <a:normAutofit/>
          </a:bodyPr>
          <a:lstStyle/>
          <a:p>
            <a:r>
              <a:rPr lang="en-US" dirty="0"/>
              <a:t>The number of index rows on a page is determined by the storage space required by the columns that are defined in the index.</a:t>
            </a:r>
            <a:br>
              <a:rPr lang="en-US" dirty="0"/>
            </a:br>
            <a:endParaRPr lang="en-US" dirty="0"/>
          </a:p>
          <a:p>
            <a:r>
              <a:rPr lang="en-US" dirty="0"/>
              <a:t>Pages in SQL Server can store up to 8,060 bytes of data. So an index created on a column with an INT data type (4 Byte) can store 2,015 values on a single page within the index</a:t>
            </a:r>
            <a:endParaRPr lang="en-CA" dirty="0"/>
          </a:p>
        </p:txBody>
      </p:sp>
    </p:spTree>
    <p:extLst>
      <p:ext uri="{BB962C8B-B14F-4D97-AF65-F5344CB8AC3E}">
        <p14:creationId xmlns:p14="http://schemas.microsoft.com/office/powerpoint/2010/main" val="6638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990600" y="152400"/>
            <a:ext cx="8153400" cy="1905000"/>
          </a:xfrm>
          <a:prstGeom prst="rect">
            <a:avLst/>
          </a:prstGeom>
        </p:spPr>
        <p:txBody>
          <a:bodyPr>
            <a:normAutofit fontScale="85000" lnSpcReduction="10000"/>
          </a:bodyPr>
          <a:lstStyle/>
          <a:p>
            <a:pPr marL="365760" marR="0" lvl="0" indent="-283464" algn="l" defTabSz="914400" rtl="0" eaLnBrk="1" fontAlgn="auto" latinLnBrk="0" hangingPunct="1">
              <a:lnSpc>
                <a:spcPct val="100000"/>
              </a:lnSpc>
              <a:spcBef>
                <a:spcPts val="600"/>
              </a:spcBef>
              <a:spcAft>
                <a:spcPts val="0"/>
              </a:spcAft>
              <a:buClr>
                <a:schemeClr val="accent1"/>
              </a:buClr>
              <a:buSzPct val="80000"/>
              <a:buFont typeface="Wingdings 2"/>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The </a:t>
            </a:r>
            <a:r>
              <a:rPr kumimoji="0" lang="en-US" sz="3200" b="0" i="0" u="none" strike="noStrike" kern="1200" cap="none" spc="0" normalizeH="0" baseline="0" noProof="0" dirty="0">
                <a:ln>
                  <a:noFill/>
                </a:ln>
                <a:solidFill>
                  <a:srgbClr val="0070C0"/>
                </a:solidFill>
                <a:effectLst/>
                <a:uLnTx/>
                <a:uFillTx/>
                <a:latin typeface="+mn-lt"/>
                <a:ea typeface="+mn-ea"/>
                <a:cs typeface="+mn-cs"/>
              </a:rPr>
              <a:t>root</a:t>
            </a:r>
            <a:r>
              <a:rPr kumimoji="0" lang="en-US" sz="3200" b="0" i="0" u="none" strike="noStrike" kern="1200" cap="none" spc="0" normalizeH="0" baseline="0" noProof="0" dirty="0">
                <a:ln>
                  <a:noFill/>
                </a:ln>
                <a:solidFill>
                  <a:schemeClr val="tx1"/>
                </a:solidFill>
                <a:effectLst/>
                <a:uLnTx/>
                <a:uFillTx/>
                <a:latin typeface="+mn-lt"/>
                <a:ea typeface="+mn-ea"/>
                <a:cs typeface="+mn-cs"/>
              </a:rPr>
              <a:t> and </a:t>
            </a:r>
            <a:r>
              <a:rPr kumimoji="0" lang="en-US" sz="3200" b="0" i="0" u="none" strike="noStrike" kern="1200" cap="none" spc="0" normalizeH="0" baseline="0" noProof="0" dirty="0">
                <a:ln>
                  <a:noFill/>
                </a:ln>
                <a:solidFill>
                  <a:srgbClr val="0070C0"/>
                </a:solidFill>
                <a:effectLst/>
                <a:uLnTx/>
                <a:uFillTx/>
                <a:latin typeface="+mn-lt"/>
                <a:ea typeface="+mn-ea"/>
                <a:cs typeface="+mn-cs"/>
              </a:rPr>
              <a:t>intermediate</a:t>
            </a:r>
            <a:r>
              <a:rPr kumimoji="0" lang="en-US" sz="3200" b="0" i="0" u="none" strike="noStrike" kern="1200" cap="none" spc="0" normalizeH="0" baseline="0" noProof="0" dirty="0">
                <a:ln>
                  <a:noFill/>
                </a:ln>
                <a:solidFill>
                  <a:schemeClr val="tx1"/>
                </a:solidFill>
                <a:effectLst/>
                <a:uLnTx/>
                <a:uFillTx/>
                <a:latin typeface="+mn-lt"/>
                <a:ea typeface="+mn-ea"/>
                <a:cs typeface="+mn-cs"/>
              </a:rPr>
              <a:t> levels of the index are constructed by taking the first entry from every page in the level below, along with a pointer to the page where the data value came from</a:t>
            </a:r>
            <a:endParaRPr kumimoji="0" lang="en-CA"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5" name="Picture 4" descr="F06xx03.jpg"/>
          <p:cNvPicPr>
            <a:picLocks noChangeAspect="1"/>
          </p:cNvPicPr>
          <p:nvPr/>
        </p:nvPicPr>
        <p:blipFill>
          <a:blip r:embed="rId2" cstate="print"/>
          <a:stretch>
            <a:fillRect/>
          </a:stretch>
        </p:blipFill>
        <p:spPr>
          <a:xfrm>
            <a:off x="1447800" y="1981200"/>
            <a:ext cx="7160542" cy="4733831"/>
          </a:xfrm>
          <a:prstGeom prst="rect">
            <a:avLst/>
          </a:prstGeom>
          <a:ln w="19050">
            <a:solidFill>
              <a:srgbClr val="FF0000"/>
            </a:solidFill>
          </a:ln>
          <a:effectLst>
            <a:outerShdw blurRad="50800" dist="38100" dir="2700000" algn="tl" rotWithShape="0">
              <a:prstClr val="black">
                <a:alpha val="40000"/>
              </a:prst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20762"/>
          </a:xfrm>
        </p:spPr>
        <p:txBody>
          <a:bodyPr/>
          <a:lstStyle/>
          <a:p>
            <a:pPr algn="ctr"/>
            <a:r>
              <a:rPr lang="en-US" dirty="0"/>
              <a:t>Covered Indexes</a:t>
            </a:r>
            <a:endParaRPr lang="en-CA" dirty="0"/>
          </a:p>
        </p:txBody>
      </p:sp>
      <p:sp>
        <p:nvSpPr>
          <p:cNvPr id="3" name="Content Placeholder 2"/>
          <p:cNvSpPr>
            <a:spLocks noGrp="1"/>
          </p:cNvSpPr>
          <p:nvPr>
            <p:ph idx="1"/>
          </p:nvPr>
        </p:nvSpPr>
        <p:spPr>
          <a:xfrm>
            <a:off x="1143000" y="1447800"/>
            <a:ext cx="7790688" cy="5257800"/>
          </a:xfrm>
        </p:spPr>
        <p:txBody>
          <a:bodyPr>
            <a:normAutofit/>
          </a:bodyPr>
          <a:lstStyle/>
          <a:p>
            <a:r>
              <a:rPr lang="en-US" dirty="0"/>
              <a:t>In a </a:t>
            </a:r>
            <a:r>
              <a:rPr lang="en-US" dirty="0">
                <a:solidFill>
                  <a:srgbClr val="0070C0"/>
                </a:solidFill>
              </a:rPr>
              <a:t>covered index </a:t>
            </a:r>
            <a:r>
              <a:rPr lang="en-US" dirty="0"/>
              <a:t>there is no need to use lookups between the non-clustered index and the table to return the query results</a:t>
            </a:r>
            <a:br>
              <a:rPr lang="en-US" dirty="0"/>
            </a:br>
            <a:endParaRPr lang="en-US" dirty="0"/>
          </a:p>
          <a:p>
            <a:r>
              <a:rPr lang="en-US" dirty="0"/>
              <a:t>The performance gained by using a covered index is great for queries that return a large number of rows (a nonselective query) and smaller for queries that return few rows (a selective query)</a:t>
            </a:r>
            <a:endParaRPr lang="en-CA"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077501786"/>
              </p:ext>
            </p:extLst>
          </p:nvPr>
        </p:nvGraphicFramePr>
        <p:xfrm>
          <a:off x="1143000" y="533400"/>
          <a:ext cx="5486400" cy="8280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0840">
                <a:tc gridSpan="3">
                  <a:txBody>
                    <a:bodyPr/>
                    <a:lstStyle/>
                    <a:p>
                      <a:pPr algn="ctr"/>
                      <a:r>
                        <a:rPr lang="en-US" dirty="0"/>
                        <a:t>TABLE A</a:t>
                      </a:r>
                      <a:endParaRPr lang="en-CA" dirty="0"/>
                    </a:p>
                  </a:txBody>
                  <a:tcPr/>
                </a:tc>
                <a:tc hMerge="1">
                  <a:txBody>
                    <a:bodyPr/>
                    <a:lstStyle/>
                    <a:p>
                      <a:endParaRPr lang="en-CA" dirty="0"/>
                    </a:p>
                  </a:txBody>
                  <a:tcPr/>
                </a:tc>
                <a:tc hMerge="1">
                  <a:txBody>
                    <a:bodyPr/>
                    <a:lstStyle/>
                    <a:p>
                      <a:endParaRPr lang="en-CA" dirty="0"/>
                    </a:p>
                  </a:txBody>
                  <a:tcPr/>
                </a:tc>
                <a:extLst>
                  <a:ext uri="{0D108BD9-81ED-4DB2-BD59-A6C34878D82A}">
                    <a16:rowId xmlns:a16="http://schemas.microsoft.com/office/drawing/2014/main" val="10000"/>
                  </a:ext>
                </a:extLst>
              </a:tr>
              <a:tr h="370840">
                <a:tc>
                  <a:txBody>
                    <a:bodyPr/>
                    <a:lstStyle/>
                    <a:p>
                      <a:r>
                        <a:rPr lang="en-US" sz="2400" b="1" dirty="0">
                          <a:latin typeface="Courier" pitchFamily="49" charset="0"/>
                        </a:rPr>
                        <a:t>Col1</a:t>
                      </a:r>
                      <a:endParaRPr lang="en-CA" sz="2400" b="1" dirty="0">
                        <a:latin typeface="Courier" pitchFamily="49" charset="0"/>
                      </a:endParaRPr>
                    </a:p>
                  </a:txBody>
                  <a:tcPr/>
                </a:tc>
                <a:tc>
                  <a:txBody>
                    <a:bodyPr/>
                    <a:lstStyle/>
                    <a:p>
                      <a:r>
                        <a:rPr lang="en-US" sz="2400" b="1" dirty="0">
                          <a:latin typeface="Courier" pitchFamily="49" charset="0"/>
                        </a:rPr>
                        <a:t>Col2</a:t>
                      </a:r>
                      <a:endParaRPr lang="en-CA" sz="2400" b="1" dirty="0">
                        <a:latin typeface="Courier" pitchFamily="49" charset="0"/>
                      </a:endParaRPr>
                    </a:p>
                  </a:txBody>
                  <a:tcPr/>
                </a:tc>
                <a:tc>
                  <a:txBody>
                    <a:bodyPr/>
                    <a:lstStyle/>
                    <a:p>
                      <a:r>
                        <a:rPr lang="en-US" sz="2400" b="1" dirty="0">
                          <a:latin typeface="Courier" pitchFamily="49" charset="0"/>
                        </a:rPr>
                        <a:t>Col3</a:t>
                      </a:r>
                      <a:endParaRPr lang="en-CA" sz="2400" b="1" dirty="0">
                        <a:latin typeface="Courier" pitchFamily="49" charset="0"/>
                      </a:endParaRP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28600" y="1543975"/>
            <a:ext cx="8839200" cy="2862322"/>
          </a:xfrm>
          <a:prstGeom prst="rect">
            <a:avLst/>
          </a:prstGeom>
          <a:solidFill>
            <a:schemeClr val="accent1">
              <a:lumMod val="20000"/>
              <a:lumOff val="80000"/>
            </a:schemeClr>
          </a:solidFill>
        </p:spPr>
        <p:txBody>
          <a:bodyPr wrap="square">
            <a:spAutoFit/>
          </a:bodyPr>
          <a:lstStyle/>
          <a:p>
            <a:r>
              <a:rPr lang="en-CA" sz="1600" b="1" dirty="0">
                <a:solidFill>
                  <a:srgbClr val="0000FF"/>
                </a:solidFill>
                <a:latin typeface="Courier New" pitchFamily="49" charset="0"/>
                <a:cs typeface="Courier New" pitchFamily="49" charset="0"/>
              </a:rPr>
              <a:t>SELECT</a:t>
            </a:r>
            <a:r>
              <a:rPr lang="en-CA" sz="1600" b="1" dirty="0">
                <a:solidFill>
                  <a:prstClr val="black"/>
                </a:solidFill>
                <a:latin typeface="Courier New" pitchFamily="49" charset="0"/>
                <a:cs typeface="Courier New" pitchFamily="49" charset="0"/>
              </a:rPr>
              <a:t> Col1 </a:t>
            </a:r>
            <a:r>
              <a:rPr lang="en-CA" sz="1600" b="1" dirty="0">
                <a:solidFill>
                  <a:srgbClr val="0000FF"/>
                </a:solidFill>
                <a:latin typeface="Courier New" pitchFamily="49" charset="0"/>
                <a:cs typeface="Courier New" pitchFamily="49" charset="0"/>
              </a:rPr>
              <a:t>FROM</a:t>
            </a:r>
            <a:r>
              <a:rPr lang="en-CA" sz="1600" b="1" dirty="0">
                <a:solidFill>
                  <a:prstClr val="black"/>
                </a:solidFill>
                <a:latin typeface="Courier New" pitchFamily="49" charset="0"/>
                <a:cs typeface="Courier New" pitchFamily="49" charset="0"/>
              </a:rPr>
              <a:t> </a:t>
            </a:r>
            <a:r>
              <a:rPr lang="en-CA" sz="1600" b="1" dirty="0" err="1">
                <a:solidFill>
                  <a:prstClr val="black"/>
                </a:solidFill>
                <a:latin typeface="Courier New" pitchFamily="49" charset="0"/>
                <a:cs typeface="Courier New" pitchFamily="49" charset="0"/>
              </a:rPr>
              <a:t>Test</a:t>
            </a:r>
            <a:r>
              <a:rPr lang="en-CA" sz="1600" b="1" dirty="0" err="1">
                <a:solidFill>
                  <a:srgbClr val="808080"/>
                </a:solidFill>
                <a:latin typeface="Courier New" pitchFamily="49" charset="0"/>
                <a:cs typeface="Courier New" pitchFamily="49" charset="0"/>
              </a:rPr>
              <a:t>.</a:t>
            </a:r>
            <a:r>
              <a:rPr lang="en-CA" sz="1600" b="1" dirty="0" err="1">
                <a:solidFill>
                  <a:prstClr val="black"/>
                </a:solidFill>
                <a:latin typeface="Courier New" pitchFamily="49" charset="0"/>
                <a:cs typeface="Courier New" pitchFamily="49" charset="0"/>
              </a:rPr>
              <a:t>TableA</a:t>
            </a:r>
            <a:r>
              <a:rPr lang="en-CA" sz="1600" b="1" dirty="0">
                <a:solidFill>
                  <a:prstClr val="black"/>
                </a:solidFill>
                <a:latin typeface="Courier New" pitchFamily="49" charset="0"/>
                <a:cs typeface="Courier New" pitchFamily="49" charset="0"/>
              </a:rPr>
              <a:t> </a:t>
            </a:r>
            <a:r>
              <a:rPr lang="en-CA" sz="1600" b="1" dirty="0">
                <a:solidFill>
                  <a:srgbClr val="0000FF"/>
                </a:solidFill>
                <a:latin typeface="Courier New" pitchFamily="49" charset="0"/>
                <a:cs typeface="Courier New" pitchFamily="49" charset="0"/>
              </a:rPr>
              <a:t>WHERE</a:t>
            </a:r>
            <a:r>
              <a:rPr lang="en-CA" sz="1600" b="1" dirty="0">
                <a:solidFill>
                  <a:prstClr val="black"/>
                </a:solidFill>
                <a:latin typeface="Courier New" pitchFamily="49" charset="0"/>
                <a:cs typeface="Courier New" pitchFamily="49" charset="0"/>
              </a:rPr>
              <a:t> Col2 </a:t>
            </a:r>
            <a:r>
              <a:rPr lang="en-CA" sz="1600" b="1" dirty="0">
                <a:solidFill>
                  <a:srgbClr val="808080"/>
                </a:solidFill>
                <a:latin typeface="Courier New" pitchFamily="49" charset="0"/>
                <a:cs typeface="Courier New" pitchFamily="49" charset="0"/>
              </a:rPr>
              <a:t>=</a:t>
            </a:r>
            <a:r>
              <a:rPr lang="en-CA" sz="1600" b="1" dirty="0">
                <a:solidFill>
                  <a:prstClr val="black"/>
                </a:solidFill>
                <a:latin typeface="Courier New" pitchFamily="49" charset="0"/>
                <a:cs typeface="Courier New" pitchFamily="49" charset="0"/>
              </a:rPr>
              <a:t> 1</a:t>
            </a:r>
            <a:r>
              <a:rPr lang="en-CA" sz="1600" b="1" dirty="0">
                <a:solidFill>
                  <a:srgbClr val="808080"/>
                </a:solidFill>
                <a:latin typeface="Courier New" pitchFamily="49" charset="0"/>
                <a:cs typeface="Courier New" pitchFamily="49" charset="0"/>
              </a:rPr>
              <a:t>;</a:t>
            </a:r>
            <a:br>
              <a:rPr lang="en-CA" sz="1600" b="1" dirty="0">
                <a:solidFill>
                  <a:srgbClr val="808080"/>
                </a:solidFill>
                <a:latin typeface="Courier New" pitchFamily="49" charset="0"/>
                <a:cs typeface="Courier New" pitchFamily="49" charset="0"/>
              </a:rPr>
            </a:br>
            <a:endParaRPr lang="en-US" sz="1600" b="1" dirty="0">
              <a:latin typeface="Courier New" pitchFamily="49" charset="0"/>
              <a:cs typeface="Courier New" pitchFamily="49" charset="0"/>
            </a:endParaRPr>
          </a:p>
          <a:p>
            <a:endParaRPr lang="en-US" sz="1600" b="1" dirty="0">
              <a:latin typeface="Courier New" pitchFamily="49" charset="0"/>
              <a:cs typeface="Courier New" pitchFamily="49" charset="0"/>
            </a:endParaRPr>
          </a:p>
          <a:p>
            <a:endParaRPr lang="en-US" sz="1600" b="1" dirty="0">
              <a:latin typeface="Courier New" pitchFamily="49" charset="0"/>
              <a:cs typeface="Courier New" pitchFamily="49" charset="0"/>
            </a:endParaRPr>
          </a:p>
          <a:p>
            <a:endParaRPr lang="en-US" sz="1600" b="1" dirty="0">
              <a:latin typeface="Courier New" pitchFamily="49" charset="0"/>
              <a:cs typeface="Courier New" pitchFamily="49" charset="0"/>
            </a:endParaRPr>
          </a:p>
          <a:p>
            <a:endParaRPr lang="en-US" sz="1600" b="1" dirty="0">
              <a:latin typeface="Courier New" pitchFamily="49" charset="0"/>
              <a:cs typeface="Courier New" pitchFamily="49" charset="0"/>
            </a:endParaRPr>
          </a:p>
          <a:p>
            <a:r>
              <a:rPr lang="it-IT" sz="1400" b="1" dirty="0">
                <a:solidFill>
                  <a:srgbClr val="0000FF"/>
                </a:solidFill>
                <a:latin typeface="Courier New" pitchFamily="49" charset="0"/>
                <a:cs typeface="Courier New" pitchFamily="49" charset="0"/>
              </a:rPr>
              <a:t>CREATE</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NONCLUSTERED</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INDEX</a:t>
            </a:r>
            <a:r>
              <a:rPr lang="it-IT" sz="1400" b="1" dirty="0">
                <a:solidFill>
                  <a:prstClr val="black"/>
                </a:solidFill>
                <a:latin typeface="Courier New" pitchFamily="49" charset="0"/>
                <a:cs typeface="Courier New" pitchFamily="49" charset="0"/>
              </a:rPr>
              <a:t> TestIndex </a:t>
            </a:r>
            <a:r>
              <a:rPr lang="it-IT" sz="1400" b="1" dirty="0">
                <a:solidFill>
                  <a:srgbClr val="0000FF"/>
                </a:solidFill>
                <a:latin typeface="Courier New" pitchFamily="49" charset="0"/>
                <a:cs typeface="Courier New" pitchFamily="49" charset="0"/>
              </a:rPr>
              <a:t>ON</a:t>
            </a:r>
            <a:r>
              <a:rPr lang="it-IT" sz="1400" b="1" dirty="0">
                <a:solidFill>
                  <a:prstClr val="black"/>
                </a:solidFill>
                <a:latin typeface="Courier New" pitchFamily="49" charset="0"/>
                <a:cs typeface="Courier New" pitchFamily="49" charset="0"/>
              </a:rPr>
              <a:t> Test</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TableA</a:t>
            </a:r>
            <a:r>
              <a:rPr lang="it-IT" sz="1400" b="1" dirty="0">
                <a:solidFill>
                  <a:srgbClr val="0000FF"/>
                </a:solidFill>
                <a:latin typeface="Courier New" pitchFamily="49" charset="0"/>
                <a:cs typeface="Courier New" pitchFamily="49" charset="0"/>
              </a:rPr>
              <a:t>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Col1</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Col2</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p>
          <a:p>
            <a:r>
              <a:rPr lang="it-IT" sz="1400" b="1" dirty="0">
                <a:solidFill>
                  <a:srgbClr val="0000FF"/>
                </a:solidFill>
                <a:latin typeface="Courier New" pitchFamily="49" charset="0"/>
                <a:cs typeface="Courier New" pitchFamily="49" charset="0"/>
              </a:rPr>
              <a:t>CREATE</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NONCLUSTERED</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INDEX</a:t>
            </a:r>
            <a:r>
              <a:rPr lang="it-IT" sz="1400" b="1" dirty="0">
                <a:solidFill>
                  <a:prstClr val="black"/>
                </a:solidFill>
                <a:latin typeface="Courier New" pitchFamily="49" charset="0"/>
                <a:cs typeface="Courier New" pitchFamily="49" charset="0"/>
              </a:rPr>
              <a:t> TestIndex </a:t>
            </a:r>
            <a:r>
              <a:rPr lang="it-IT" sz="1400" b="1" dirty="0">
                <a:solidFill>
                  <a:srgbClr val="0000FF"/>
                </a:solidFill>
                <a:latin typeface="Courier New" pitchFamily="49" charset="0"/>
                <a:cs typeface="Courier New" pitchFamily="49" charset="0"/>
              </a:rPr>
              <a:t>ON</a:t>
            </a:r>
            <a:r>
              <a:rPr lang="it-IT" sz="1400" b="1" dirty="0">
                <a:solidFill>
                  <a:prstClr val="black"/>
                </a:solidFill>
                <a:latin typeface="Courier New" pitchFamily="49" charset="0"/>
                <a:cs typeface="Courier New" pitchFamily="49" charset="0"/>
              </a:rPr>
              <a:t> Test</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TableA</a:t>
            </a:r>
            <a:r>
              <a:rPr lang="it-IT" sz="1400" b="1" dirty="0">
                <a:solidFill>
                  <a:srgbClr val="0000FF"/>
                </a:solidFill>
                <a:latin typeface="Courier New" pitchFamily="49" charset="0"/>
                <a:cs typeface="Courier New" pitchFamily="49" charset="0"/>
              </a:rPr>
              <a:t>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Col2</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Col1</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p>
          <a:p>
            <a:r>
              <a:rPr lang="it-IT" sz="1400" b="1" dirty="0">
                <a:solidFill>
                  <a:srgbClr val="0000FF"/>
                </a:solidFill>
                <a:latin typeface="Courier New" pitchFamily="49" charset="0"/>
                <a:cs typeface="Courier New" pitchFamily="49" charset="0"/>
              </a:rPr>
              <a:t>CREATE</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NONCLUSTERED</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INDEX</a:t>
            </a:r>
            <a:r>
              <a:rPr lang="it-IT" sz="1400" b="1" dirty="0">
                <a:solidFill>
                  <a:prstClr val="black"/>
                </a:solidFill>
                <a:latin typeface="Courier New" pitchFamily="49" charset="0"/>
                <a:cs typeface="Courier New" pitchFamily="49" charset="0"/>
              </a:rPr>
              <a:t> TestIndex </a:t>
            </a:r>
            <a:r>
              <a:rPr lang="it-IT" sz="1400" b="1" dirty="0">
                <a:solidFill>
                  <a:srgbClr val="0000FF"/>
                </a:solidFill>
                <a:latin typeface="Courier New" pitchFamily="49" charset="0"/>
                <a:cs typeface="Courier New" pitchFamily="49" charset="0"/>
              </a:rPr>
              <a:t>ON</a:t>
            </a:r>
            <a:r>
              <a:rPr lang="it-IT" sz="1400" b="1" dirty="0">
                <a:solidFill>
                  <a:prstClr val="black"/>
                </a:solidFill>
                <a:latin typeface="Courier New" pitchFamily="49" charset="0"/>
                <a:cs typeface="Courier New" pitchFamily="49" charset="0"/>
              </a:rPr>
              <a:t> Test</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TableA</a:t>
            </a:r>
            <a:r>
              <a:rPr lang="it-IT" sz="1400" b="1" dirty="0">
                <a:solidFill>
                  <a:srgbClr val="0000FF"/>
                </a:solidFill>
                <a:latin typeface="Courier New" pitchFamily="49" charset="0"/>
                <a:cs typeface="Courier New" pitchFamily="49" charset="0"/>
              </a:rPr>
              <a:t>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Col1</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INCLUDE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Col2</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p>
          <a:p>
            <a:r>
              <a:rPr lang="it-IT" sz="1400" b="1" dirty="0">
                <a:solidFill>
                  <a:srgbClr val="0000FF"/>
                </a:solidFill>
                <a:latin typeface="Courier New" pitchFamily="49" charset="0"/>
                <a:cs typeface="Courier New" pitchFamily="49" charset="0"/>
              </a:rPr>
              <a:t>CREATE</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NONCLUSTERED</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INDEX</a:t>
            </a:r>
            <a:r>
              <a:rPr lang="it-IT" sz="1400" b="1" dirty="0">
                <a:solidFill>
                  <a:prstClr val="black"/>
                </a:solidFill>
                <a:latin typeface="Courier New" pitchFamily="49" charset="0"/>
                <a:cs typeface="Courier New" pitchFamily="49" charset="0"/>
              </a:rPr>
              <a:t> TestIndex </a:t>
            </a:r>
            <a:r>
              <a:rPr lang="it-IT" sz="1400" b="1" dirty="0">
                <a:solidFill>
                  <a:srgbClr val="0000FF"/>
                </a:solidFill>
                <a:latin typeface="Courier New" pitchFamily="49" charset="0"/>
                <a:cs typeface="Courier New" pitchFamily="49" charset="0"/>
              </a:rPr>
              <a:t>ON</a:t>
            </a:r>
            <a:r>
              <a:rPr lang="it-IT" sz="1400" b="1" dirty="0">
                <a:solidFill>
                  <a:prstClr val="black"/>
                </a:solidFill>
                <a:latin typeface="Courier New" pitchFamily="49" charset="0"/>
                <a:cs typeface="Courier New" pitchFamily="49" charset="0"/>
              </a:rPr>
              <a:t> Test</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TableA</a:t>
            </a:r>
            <a:r>
              <a:rPr lang="it-IT" sz="1400" b="1" dirty="0">
                <a:solidFill>
                  <a:srgbClr val="0000FF"/>
                </a:solidFill>
                <a:latin typeface="Courier New" pitchFamily="49" charset="0"/>
                <a:cs typeface="Courier New" pitchFamily="49" charset="0"/>
              </a:rPr>
              <a:t>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Col2</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INCLUDE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Col1</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p>
          <a:p>
            <a:r>
              <a:rPr lang="it-IT" sz="1400" b="1" dirty="0">
                <a:solidFill>
                  <a:srgbClr val="0000FF"/>
                </a:solidFill>
                <a:latin typeface="Courier New" pitchFamily="49" charset="0"/>
                <a:cs typeface="Courier New" pitchFamily="49" charset="0"/>
              </a:rPr>
              <a:t>CREATE</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NONCLUSTERED</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INDEX</a:t>
            </a:r>
            <a:r>
              <a:rPr lang="it-IT" sz="1400" b="1" dirty="0">
                <a:solidFill>
                  <a:prstClr val="black"/>
                </a:solidFill>
                <a:latin typeface="Courier New" pitchFamily="49" charset="0"/>
                <a:cs typeface="Courier New" pitchFamily="49" charset="0"/>
              </a:rPr>
              <a:t> TestIndex </a:t>
            </a:r>
            <a:r>
              <a:rPr lang="it-IT" sz="1400" b="1" dirty="0">
                <a:solidFill>
                  <a:srgbClr val="0000FF"/>
                </a:solidFill>
                <a:latin typeface="Courier New" pitchFamily="49" charset="0"/>
                <a:cs typeface="Courier New" pitchFamily="49" charset="0"/>
              </a:rPr>
              <a:t>ON</a:t>
            </a:r>
            <a:r>
              <a:rPr lang="it-IT" sz="1400" b="1" dirty="0">
                <a:solidFill>
                  <a:prstClr val="black"/>
                </a:solidFill>
                <a:latin typeface="Courier New" pitchFamily="49" charset="0"/>
                <a:cs typeface="Courier New" pitchFamily="49" charset="0"/>
              </a:rPr>
              <a:t> Test</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TableA</a:t>
            </a:r>
            <a:r>
              <a:rPr lang="it-IT" sz="1400" b="1" dirty="0">
                <a:solidFill>
                  <a:srgbClr val="0000FF"/>
                </a:solidFill>
                <a:latin typeface="Courier New" pitchFamily="49" charset="0"/>
                <a:cs typeface="Courier New" pitchFamily="49" charset="0"/>
              </a:rPr>
              <a:t>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Col1</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Col2</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Col3</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p>
          <a:p>
            <a:r>
              <a:rPr lang="it-IT" sz="1400" b="1" dirty="0">
                <a:solidFill>
                  <a:srgbClr val="0000FF"/>
                </a:solidFill>
                <a:latin typeface="Courier New" pitchFamily="49" charset="0"/>
                <a:cs typeface="Courier New" pitchFamily="49" charset="0"/>
              </a:rPr>
              <a:t>CREATE</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NONCLUSTERED</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INDEX</a:t>
            </a:r>
            <a:r>
              <a:rPr lang="it-IT" sz="1400" b="1" dirty="0">
                <a:solidFill>
                  <a:prstClr val="black"/>
                </a:solidFill>
                <a:latin typeface="Courier New" pitchFamily="49" charset="0"/>
                <a:cs typeface="Courier New" pitchFamily="49" charset="0"/>
              </a:rPr>
              <a:t> TestIndex </a:t>
            </a:r>
            <a:r>
              <a:rPr lang="it-IT" sz="1400" b="1" dirty="0">
                <a:solidFill>
                  <a:srgbClr val="0000FF"/>
                </a:solidFill>
                <a:latin typeface="Courier New" pitchFamily="49" charset="0"/>
                <a:cs typeface="Courier New" pitchFamily="49" charset="0"/>
              </a:rPr>
              <a:t>ON</a:t>
            </a:r>
            <a:r>
              <a:rPr lang="it-IT" sz="1400" b="1" dirty="0">
                <a:solidFill>
                  <a:prstClr val="black"/>
                </a:solidFill>
                <a:latin typeface="Courier New" pitchFamily="49" charset="0"/>
                <a:cs typeface="Courier New" pitchFamily="49" charset="0"/>
              </a:rPr>
              <a:t> Test</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TableA</a:t>
            </a:r>
            <a:r>
              <a:rPr lang="it-IT" sz="1400" b="1" dirty="0">
                <a:solidFill>
                  <a:srgbClr val="0000FF"/>
                </a:solidFill>
                <a:latin typeface="Courier New" pitchFamily="49" charset="0"/>
                <a:cs typeface="Courier New" pitchFamily="49" charset="0"/>
              </a:rPr>
              <a:t>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Col3</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a:t>
            </a:r>
            <a:r>
              <a:rPr lang="it-IT" sz="1400" b="1" dirty="0">
                <a:solidFill>
                  <a:srgbClr val="0000FF"/>
                </a:solidFill>
                <a:latin typeface="Courier New" pitchFamily="49" charset="0"/>
                <a:cs typeface="Courier New" pitchFamily="49" charset="0"/>
              </a:rPr>
              <a:t>INCLUDE </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Col1</a:t>
            </a:r>
            <a:r>
              <a:rPr lang="it-IT" sz="1400" b="1" dirty="0">
                <a:solidFill>
                  <a:srgbClr val="808080"/>
                </a:solidFill>
                <a:latin typeface="Courier New" pitchFamily="49" charset="0"/>
                <a:cs typeface="Courier New" pitchFamily="49" charset="0"/>
              </a:rPr>
              <a:t>,</a:t>
            </a:r>
            <a:r>
              <a:rPr lang="it-IT" sz="1400" b="1" dirty="0">
                <a:solidFill>
                  <a:prstClr val="black"/>
                </a:solidFill>
                <a:latin typeface="Courier New" pitchFamily="49" charset="0"/>
                <a:cs typeface="Courier New" pitchFamily="49" charset="0"/>
              </a:rPr>
              <a:t> Col2</a:t>
            </a:r>
            <a:r>
              <a:rPr lang="it-IT" sz="1400" b="1" dirty="0">
                <a:solidFill>
                  <a:srgbClr val="808080"/>
                </a:solidFill>
                <a:latin typeface="Courier New" pitchFamily="49" charset="0"/>
                <a:cs typeface="Courier New" pitchFamily="49" charset="0"/>
              </a:rPr>
              <a:t>);</a:t>
            </a:r>
            <a:endParaRPr lang="en-CA" sz="1400" b="1" dirty="0">
              <a:latin typeface="Courier New" pitchFamily="49" charset="0"/>
              <a:cs typeface="Courier New" pitchFamily="49" charset="0"/>
            </a:endParaRPr>
          </a:p>
        </p:txBody>
      </p:sp>
      <p:sp>
        <p:nvSpPr>
          <p:cNvPr id="6" name="Rectangle 5"/>
          <p:cNvSpPr/>
          <p:nvPr/>
        </p:nvSpPr>
        <p:spPr>
          <a:xfrm>
            <a:off x="1143000" y="2133600"/>
            <a:ext cx="548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66"/>
                </a:solidFill>
              </a:rPr>
              <a:t>These are all covered indexes for above query</a:t>
            </a:r>
            <a:endParaRPr lang="en-CA" b="1" dirty="0">
              <a:solidFill>
                <a:srgbClr val="FFFF6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143000"/>
            <a:ext cx="7638288" cy="5105400"/>
          </a:xfrm>
        </p:spPr>
        <p:txBody>
          <a:bodyPr/>
          <a:lstStyle/>
          <a:p>
            <a:r>
              <a:rPr lang="en-US" dirty="0"/>
              <a:t>A </a:t>
            </a:r>
            <a:r>
              <a:rPr lang="en-US" dirty="0">
                <a:solidFill>
                  <a:srgbClr val="0070C0"/>
                </a:solidFill>
              </a:rPr>
              <a:t>covered index </a:t>
            </a:r>
            <a:r>
              <a:rPr lang="en-US" dirty="0"/>
              <a:t>always performs better than a </a:t>
            </a:r>
            <a:r>
              <a:rPr lang="en-US" dirty="0">
                <a:solidFill>
                  <a:srgbClr val="0070C0"/>
                </a:solidFill>
              </a:rPr>
              <a:t>non-covered</a:t>
            </a:r>
            <a:r>
              <a:rPr lang="en-US" dirty="0"/>
              <a:t> index</a:t>
            </a:r>
            <a:br>
              <a:rPr lang="en-US" dirty="0"/>
            </a:br>
            <a:endParaRPr lang="en-US" dirty="0"/>
          </a:p>
          <a:p>
            <a:endParaRPr lang="en-US" dirty="0"/>
          </a:p>
          <a:p>
            <a:r>
              <a:rPr lang="en-US" dirty="0"/>
              <a:t>For queries that return a very limited number of rows, a non-covered index also performs very well.</a:t>
            </a:r>
            <a:endParaRPr lang="en-CA"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498080" cy="715962"/>
          </a:xfrm>
        </p:spPr>
        <p:txBody>
          <a:bodyPr>
            <a:normAutofit fontScale="90000"/>
          </a:bodyPr>
          <a:lstStyle/>
          <a:p>
            <a:pPr algn="ctr"/>
            <a:r>
              <a:rPr lang="en-US" dirty="0"/>
              <a:t>Included Columns</a:t>
            </a:r>
            <a:endParaRPr lang="en-CA" dirty="0"/>
          </a:p>
        </p:txBody>
      </p:sp>
      <p:sp>
        <p:nvSpPr>
          <p:cNvPr id="3" name="Content Placeholder 2"/>
          <p:cNvSpPr>
            <a:spLocks noGrp="1"/>
          </p:cNvSpPr>
          <p:nvPr>
            <p:ph idx="1"/>
          </p:nvPr>
        </p:nvSpPr>
        <p:spPr>
          <a:xfrm>
            <a:off x="1219200" y="1066800"/>
            <a:ext cx="7714488" cy="5715000"/>
          </a:xfrm>
        </p:spPr>
        <p:txBody>
          <a:bodyPr>
            <a:normAutofit fontScale="92500" lnSpcReduction="10000"/>
          </a:bodyPr>
          <a:lstStyle/>
          <a:p>
            <a:r>
              <a:rPr lang="en-CA" dirty="0"/>
              <a:t>Included columns cannot be </a:t>
            </a:r>
            <a:r>
              <a:rPr lang="en-US" dirty="0"/>
              <a:t>used for tasks such as filtering or sorting;</a:t>
            </a:r>
            <a:br>
              <a:rPr lang="en-US" dirty="0"/>
            </a:br>
            <a:endParaRPr lang="en-US" dirty="0"/>
          </a:p>
          <a:p>
            <a:r>
              <a:rPr lang="en-US" dirty="0"/>
              <a:t>Their benefit is reducing page reads through covering queries by avoiding table lookups;</a:t>
            </a:r>
            <a:br>
              <a:rPr lang="en-US" dirty="0"/>
            </a:br>
            <a:endParaRPr lang="en-US" dirty="0"/>
          </a:p>
          <a:p>
            <a:r>
              <a:rPr lang="en-US" dirty="0"/>
              <a:t>Only columns that are used for filtering, grouping, or sorting should be part of the index key;</a:t>
            </a:r>
            <a:br>
              <a:rPr lang="en-US" dirty="0"/>
            </a:br>
            <a:endParaRPr lang="en-US" dirty="0"/>
          </a:p>
          <a:p>
            <a:r>
              <a:rPr lang="en-US" dirty="0"/>
              <a:t>An index can have a maximum of 1,023 included columns;</a:t>
            </a:r>
            <a:endParaRPr lang="en-CA"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19200" y="0"/>
            <a:ext cx="7543800" cy="6555641"/>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r>
              <a:rPr lang="en-CA" sz="2000" b="1" dirty="0">
                <a:solidFill>
                  <a:srgbClr val="0000FF"/>
                </a:solidFill>
                <a:latin typeface="Courier New" pitchFamily="49" charset="0"/>
                <a:cs typeface="Courier New" pitchFamily="49" charset="0"/>
              </a:rPr>
              <a:t>CREATE</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TABLE</a:t>
            </a:r>
            <a:r>
              <a:rPr lang="en-CA" sz="2000" b="1" dirty="0">
                <a:latin typeface="Courier New" pitchFamily="49" charset="0"/>
                <a:cs typeface="Courier New" pitchFamily="49" charset="0"/>
              </a:rPr>
              <a:t> </a:t>
            </a:r>
            <a:r>
              <a:rPr lang="en-CA" sz="2000" b="1" dirty="0" err="1">
                <a:latin typeface="Courier New" pitchFamily="49" charset="0"/>
                <a:cs typeface="Courier New" pitchFamily="49" charset="0"/>
              </a:rPr>
              <a:t>dbo.IncludedColumnsTest</a:t>
            </a:r>
            <a:r>
              <a:rPr lang="en-CA" sz="2000" b="1" dirty="0">
                <a:latin typeface="Courier New" pitchFamily="49" charset="0"/>
                <a:cs typeface="Courier New" pitchFamily="49" charset="0"/>
              </a:rPr>
              <a:t>( </a:t>
            </a:r>
          </a:p>
          <a:p>
            <a:r>
              <a:rPr lang="en-CA" sz="2000" b="1" dirty="0">
                <a:latin typeface="Courier New" pitchFamily="49" charset="0"/>
                <a:cs typeface="Courier New" pitchFamily="49" charset="0"/>
              </a:rPr>
              <a:t>     PKCol </a:t>
            </a:r>
            <a:r>
              <a:rPr lang="en-CA" sz="2000" b="1" dirty="0">
                <a:solidFill>
                  <a:srgbClr val="0000FF"/>
                </a:solidFill>
                <a:latin typeface="Courier New" pitchFamily="49" charset="0"/>
                <a:cs typeface="Courier New" pitchFamily="49" charset="0"/>
              </a:rPr>
              <a:t>UNIQUEIDENTIFIER</a:t>
            </a:r>
            <a:r>
              <a:rPr lang="en-CA" sz="2000" b="1" dirty="0">
                <a:latin typeface="Courier New" pitchFamily="49" charset="0"/>
                <a:cs typeface="Courier New" pitchFamily="49" charset="0"/>
              </a:rPr>
              <a:t> NOT NULL </a:t>
            </a:r>
          </a:p>
          <a:p>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DEFAULT</a:t>
            </a:r>
            <a:r>
              <a:rPr lang="en-CA" sz="2000" b="1" dirty="0">
                <a:latin typeface="Courier New" pitchFamily="49" charset="0"/>
                <a:cs typeface="Courier New" pitchFamily="49" charset="0"/>
              </a:rPr>
              <a:t> </a:t>
            </a:r>
            <a:r>
              <a:rPr lang="en-CA" sz="2000" b="1" dirty="0">
                <a:solidFill>
                  <a:srgbClr val="FF3399"/>
                </a:solidFill>
                <a:latin typeface="Courier New" pitchFamily="49" charset="0"/>
                <a:cs typeface="Courier New" pitchFamily="49" charset="0"/>
              </a:rPr>
              <a:t>NEWSEQUENTIALID</a:t>
            </a:r>
            <a:r>
              <a:rPr lang="en-CA" sz="2000" b="1" dirty="0">
                <a:latin typeface="Courier New" pitchFamily="49" charset="0"/>
                <a:cs typeface="Courier New" pitchFamily="49" charset="0"/>
              </a:rPr>
              <a:t>() </a:t>
            </a:r>
          </a:p>
          <a:p>
            <a:r>
              <a:rPr lang="en-CA" sz="2000" b="1" dirty="0">
                <a:solidFill>
                  <a:srgbClr val="0000FF"/>
                </a:solidFill>
                <a:latin typeface="Courier New" pitchFamily="49" charset="0"/>
                <a:cs typeface="Courier New" pitchFamily="49" charset="0"/>
              </a:rPr>
              <a:t>           PRIMARY</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KEY</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CLUSTERED </a:t>
            </a:r>
          </a:p>
          <a:p>
            <a:r>
              <a:rPr lang="en-CA" sz="2000" b="1" dirty="0">
                <a:latin typeface="Courier New" pitchFamily="49" charset="0"/>
                <a:cs typeface="Courier New" pitchFamily="49" charset="0"/>
              </a:rPr>
              <a:t>    ,Col1  </a:t>
            </a:r>
            <a:r>
              <a:rPr lang="en-CA" sz="2000" b="1" dirty="0">
                <a:solidFill>
                  <a:srgbClr val="0000FF"/>
                </a:solidFill>
                <a:latin typeface="Courier New" pitchFamily="49" charset="0"/>
                <a:cs typeface="Courier New" pitchFamily="49" charset="0"/>
              </a:rPr>
              <a:t>INT</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IDENTITY</a:t>
            </a:r>
            <a:r>
              <a:rPr lang="en-CA" sz="2000" b="1" dirty="0">
                <a:latin typeface="Courier New" pitchFamily="49" charset="0"/>
                <a:cs typeface="Courier New" pitchFamily="49" charset="0"/>
              </a:rPr>
              <a:t> NOT NULL </a:t>
            </a:r>
          </a:p>
          <a:p>
            <a:r>
              <a:rPr lang="en-CA" sz="2000" b="1" dirty="0">
                <a:latin typeface="Courier New" pitchFamily="49" charset="0"/>
                <a:cs typeface="Courier New" pitchFamily="49" charset="0"/>
              </a:rPr>
              <a:t>    ,Col2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,Col3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,Col4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,Col5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,Col6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,Col7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,Col8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,Col9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,Col10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,Col11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,Col12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,Col13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,Col14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,Col15 </a:t>
            </a:r>
            <a:r>
              <a:rPr lang="en-CA" sz="2000" b="1" dirty="0">
                <a:solidFill>
                  <a:srgbClr val="0000FF"/>
                </a:solidFill>
                <a:latin typeface="Courier New" pitchFamily="49" charset="0"/>
                <a:cs typeface="Courier New" pitchFamily="49" charset="0"/>
              </a:rPr>
              <a:t>CHAR</a:t>
            </a:r>
            <a:r>
              <a:rPr lang="en-CA" sz="2000" b="1" dirty="0">
                <a:latin typeface="Courier New" pitchFamily="49" charset="0"/>
                <a:cs typeface="Courier New" pitchFamily="49" charset="0"/>
              </a:rPr>
              <a:t> (20) NOT NULL </a:t>
            </a:r>
          </a:p>
          <a:p>
            <a:r>
              <a:rPr lang="en-CA" sz="2000" b="1" dirty="0">
                <a:latin typeface="Courier New" pitchFamily="49" charset="0"/>
                <a:cs typeface="Courier New" pitchFamily="49" charset="0"/>
              </a:rPr>
              <a:t>    ,Col16 </a:t>
            </a:r>
            <a:r>
              <a:rPr lang="en-CA" sz="2000" b="1" dirty="0">
                <a:solidFill>
                  <a:srgbClr val="0000FF"/>
                </a:solidFill>
                <a:latin typeface="Courier New" pitchFamily="49" charset="0"/>
                <a:cs typeface="Courier New" pitchFamily="49" charset="0"/>
              </a:rPr>
              <a:t>CHAR </a:t>
            </a:r>
            <a:r>
              <a:rPr lang="en-CA" sz="2000" b="1" dirty="0">
                <a:latin typeface="Courier New" pitchFamily="49" charset="0"/>
                <a:cs typeface="Courier New" pitchFamily="49" charset="0"/>
              </a:rPr>
              <a:t>(20) NOT NULL </a:t>
            </a:r>
          </a:p>
          <a:p>
            <a:r>
              <a:rPr lang="en-CA" sz="2000" b="1" dirty="0">
                <a:latin typeface="Courier New" pitchFamily="49" charset="0"/>
                <a:cs typeface="Courier New" pitchFamily="49"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6800" y="0"/>
            <a:ext cx="8077200" cy="6463308"/>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r>
              <a:rPr lang="en-CA" b="1" dirty="0">
                <a:solidFill>
                  <a:srgbClr val="0000FF"/>
                </a:solidFill>
                <a:latin typeface="Courier New" pitchFamily="49" charset="0"/>
                <a:cs typeface="Courier New" pitchFamily="49" charset="0"/>
              </a:rPr>
              <a:t>INSERT</a:t>
            </a:r>
            <a:r>
              <a:rPr lang="en-CA" b="1" dirty="0">
                <a:latin typeface="Courier New" pitchFamily="49" charset="0"/>
                <a:cs typeface="Courier New" pitchFamily="49" charset="0"/>
              </a:rPr>
              <a:t> </a:t>
            </a:r>
            <a:r>
              <a:rPr lang="en-CA" b="1" dirty="0" err="1">
                <a:latin typeface="Courier New" pitchFamily="49" charset="0"/>
                <a:cs typeface="Courier New" pitchFamily="49" charset="0"/>
              </a:rPr>
              <a:t>dbo.IncludedColumnsTest</a:t>
            </a:r>
            <a:r>
              <a:rPr lang="en-CA" b="1" dirty="0">
                <a:latin typeface="Courier New" pitchFamily="49" charset="0"/>
                <a:cs typeface="Courier New" pitchFamily="49" charset="0"/>
              </a:rPr>
              <a:t> (Col2, Col3, Col4, Col5, </a:t>
            </a:r>
          </a:p>
          <a:p>
            <a:r>
              <a:rPr lang="en-CA" b="1" dirty="0">
                <a:latin typeface="Courier New" pitchFamily="49" charset="0"/>
                <a:cs typeface="Courier New" pitchFamily="49" charset="0"/>
              </a:rPr>
              <a:t>      Col6, Col7, Col8, Col9, Col10, Col11, Col12, Col13, </a:t>
            </a:r>
          </a:p>
          <a:p>
            <a:r>
              <a:rPr lang="en-CA" b="1" dirty="0">
                <a:latin typeface="Courier New" pitchFamily="49" charset="0"/>
                <a:cs typeface="Courier New" pitchFamily="49" charset="0"/>
              </a:rPr>
              <a:t>      Col14, Col15, Col16) </a:t>
            </a:r>
          </a:p>
          <a:p>
            <a:r>
              <a:rPr lang="en-CA" b="1" dirty="0">
                <a:solidFill>
                  <a:srgbClr val="0000FF"/>
                </a:solidFill>
                <a:latin typeface="Courier New" pitchFamily="49" charset="0"/>
                <a:cs typeface="Courier New" pitchFamily="49" charset="0"/>
              </a:rPr>
              <a:t>SELECT</a:t>
            </a:r>
            <a:r>
              <a:rPr lang="en-CA" b="1" dirty="0">
                <a:latin typeface="Courier New" pitchFamily="49" charset="0"/>
                <a:cs typeface="Courier New" pitchFamily="49" charset="0"/>
              </a:rPr>
              <a:t> TOP(1000000)  </a:t>
            </a:r>
          </a:p>
          <a:p>
            <a:r>
              <a:rPr lang="en-CA" b="1" dirty="0">
                <a:latin typeface="Courier New" pitchFamily="49" charset="0"/>
                <a:cs typeface="Courier New" pitchFamily="49" charset="0"/>
              </a:rPr>
              <a:t>     </a:t>
            </a:r>
            <a:r>
              <a:rPr lang="en-CA" b="1" dirty="0">
                <a:solidFill>
                  <a:srgbClr val="FF3399"/>
                </a:solidFill>
                <a:latin typeface="Courier New" pitchFamily="49" charset="0"/>
                <a:cs typeface="Courier New" pitchFamily="49" charset="0"/>
              </a:rPr>
              <a:t>CAST</a:t>
            </a:r>
            <a:r>
              <a:rPr lang="en-CA" b="1" dirty="0">
                <a:latin typeface="Courier New" pitchFamily="49" charset="0"/>
                <a:cs typeface="Courier New" pitchFamily="49" charset="0"/>
              </a:rPr>
              <a:t> (message_id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CHAR(20))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Col2 </a:t>
            </a:r>
          </a:p>
          <a:p>
            <a:r>
              <a:rPr lang="en-CA" b="1" dirty="0">
                <a:latin typeface="Courier New" pitchFamily="49" charset="0"/>
                <a:cs typeface="Courier New" pitchFamily="49" charset="0"/>
              </a:rPr>
              <a:t>    ,</a:t>
            </a:r>
            <a:r>
              <a:rPr lang="en-CA" b="1" dirty="0">
                <a:solidFill>
                  <a:srgbClr val="FF3399"/>
                </a:solidFill>
                <a:latin typeface="Courier New" pitchFamily="49" charset="0"/>
                <a:cs typeface="Courier New" pitchFamily="49" charset="0"/>
              </a:rPr>
              <a:t>CAST</a:t>
            </a:r>
            <a:r>
              <a:rPr lang="en-CA" b="1" dirty="0">
                <a:latin typeface="Courier New" pitchFamily="49" charset="0"/>
                <a:cs typeface="Courier New" pitchFamily="49" charset="0"/>
              </a:rPr>
              <a:t> (message_id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CHAR(20))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Col3 </a:t>
            </a:r>
          </a:p>
          <a:p>
            <a:r>
              <a:rPr lang="en-CA" b="1" dirty="0">
                <a:latin typeface="Courier New" pitchFamily="49" charset="0"/>
                <a:cs typeface="Courier New" pitchFamily="49" charset="0"/>
              </a:rPr>
              <a:t>    ,</a:t>
            </a:r>
            <a:r>
              <a:rPr lang="en-CA" b="1" dirty="0">
                <a:solidFill>
                  <a:srgbClr val="FF3399"/>
                </a:solidFill>
                <a:latin typeface="Courier New" pitchFamily="49" charset="0"/>
                <a:cs typeface="Courier New" pitchFamily="49" charset="0"/>
              </a:rPr>
              <a:t>CAST</a:t>
            </a:r>
            <a:r>
              <a:rPr lang="en-CA" b="1" dirty="0">
                <a:latin typeface="Courier New" pitchFamily="49" charset="0"/>
                <a:cs typeface="Courier New" pitchFamily="49" charset="0"/>
              </a:rPr>
              <a:t> (message_id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CHAR(20))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Col4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Col5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Col6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Col7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Col8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Col9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Col10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Col11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Col12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Col13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Col14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Col15 </a:t>
            </a:r>
          </a:p>
          <a:p>
            <a:r>
              <a:rPr lang="en-US" b="1" dirty="0">
                <a:latin typeface="Courier New" pitchFamily="49" charset="0"/>
                <a:cs typeface="Courier New" pitchFamily="49" charset="0"/>
              </a:rPr>
              <a:t>    ,</a:t>
            </a:r>
            <a:r>
              <a:rPr lang="en-US" b="1" dirty="0">
                <a:solidFill>
                  <a:srgbClr val="FF3399"/>
                </a:solidFill>
                <a:latin typeface="Courier New" pitchFamily="49" charset="0"/>
                <a:cs typeface="Courier New" pitchFamily="49" charset="0"/>
              </a:rPr>
              <a:t>CAST</a:t>
            </a:r>
            <a:r>
              <a:rPr lang="en-US" b="1" dirty="0">
                <a:latin typeface="Courier New" pitchFamily="49" charset="0"/>
                <a:cs typeface="Courier New" pitchFamily="49" charset="0"/>
              </a:rPr>
              <a:t> (message_id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CHAR(20))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Col16 </a:t>
            </a:r>
          </a:p>
          <a:p>
            <a:r>
              <a:rPr lang="en-US" b="1" dirty="0">
                <a:solidFill>
                  <a:srgbClr val="0000FF"/>
                </a:solidFill>
                <a:latin typeface="Courier New" pitchFamily="49" charset="0"/>
                <a:cs typeface="Courier New" pitchFamily="49" charset="0"/>
              </a:rPr>
              <a:t>FROM</a:t>
            </a:r>
            <a:r>
              <a:rPr lang="en-US" b="1" dirty="0">
                <a:latin typeface="Courier New" pitchFamily="49" charset="0"/>
                <a:cs typeface="Courier New" pitchFamily="49" charset="0"/>
              </a:rPr>
              <a:t> sys.messages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sm </a:t>
            </a:r>
          </a:p>
          <a:p>
            <a:r>
              <a:rPr lang="en-US" b="1" dirty="0">
                <a:latin typeface="Courier New" pitchFamily="49" charset="0"/>
                <a:cs typeface="Courier New" pitchFamily="49" charset="0"/>
              </a:rPr>
              <a:t>CROSS JOIN ( </a:t>
            </a:r>
          </a:p>
          <a:p>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SELECT</a:t>
            </a:r>
            <a:r>
              <a:rPr lang="en-US" b="1" dirty="0">
                <a:latin typeface="Courier New" pitchFamily="49" charset="0"/>
                <a:cs typeface="Courier New" pitchFamily="49" charset="0"/>
              </a:rPr>
              <a:t> TOP(15) 1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Col </a:t>
            </a:r>
            <a:r>
              <a:rPr lang="en-US" b="1" dirty="0">
                <a:solidFill>
                  <a:srgbClr val="0000FF"/>
                </a:solidFill>
                <a:latin typeface="Courier New" pitchFamily="49" charset="0"/>
                <a:cs typeface="Courier New" pitchFamily="49" charset="0"/>
              </a:rPr>
              <a:t>FROM</a:t>
            </a:r>
            <a:r>
              <a:rPr lang="en-US" b="1" dirty="0">
                <a:latin typeface="Courier New" pitchFamily="49" charset="0"/>
                <a:cs typeface="Courier New" pitchFamily="49" charset="0"/>
              </a:rPr>
              <a:t> sys.messages  </a:t>
            </a:r>
          </a:p>
          <a:p>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AS</a:t>
            </a:r>
            <a:r>
              <a:rPr lang="en-US" b="1" dirty="0">
                <a:latin typeface="Courier New" pitchFamily="49" charset="0"/>
                <a:cs typeface="Courier New" pitchFamily="49" charset="0"/>
              </a:rPr>
              <a:t> x;</a:t>
            </a:r>
            <a:endParaRPr lang="en-CA" b="1" dirty="0">
              <a:latin typeface="Courier New" pitchFamily="49" charset="0"/>
              <a:cs typeface="Courier New" pitchFamily="49" charset="0"/>
            </a:endParaRPr>
          </a:p>
        </p:txBody>
      </p:sp>
      <p:sp>
        <p:nvSpPr>
          <p:cNvPr id="5" name="Rectangle 4"/>
          <p:cNvSpPr/>
          <p:nvPr/>
        </p:nvSpPr>
        <p:spPr>
          <a:xfrm>
            <a:off x="7391400" y="1066800"/>
            <a:ext cx="1524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Populating the table with 1,000,000 rows</a:t>
            </a:r>
            <a:endParaRPr lang="en-CA"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228601"/>
            <a:ext cx="8001000" cy="3693319"/>
          </a:xfrm>
          <a:prstGeom prst="rect">
            <a:avLst/>
          </a:prstGeom>
          <a:solidFill>
            <a:schemeClr val="accent1">
              <a:lumMod val="20000"/>
              <a:lumOff val="80000"/>
            </a:schemeClr>
          </a:solidFill>
        </p:spPr>
        <p:txBody>
          <a:bodyPr wrap="square">
            <a:spAutoFit/>
          </a:bodyPr>
          <a:lstStyle/>
          <a:p>
            <a:r>
              <a:rPr lang="it-IT" b="1" dirty="0">
                <a:solidFill>
                  <a:srgbClr val="0000FF"/>
                </a:solidFill>
                <a:latin typeface="Courier New" pitchFamily="49" charset="0"/>
                <a:cs typeface="Courier New" pitchFamily="49" charset="0"/>
              </a:rPr>
              <a:t>CREATE</a:t>
            </a:r>
            <a:r>
              <a:rPr lang="it-IT" b="1" dirty="0">
                <a:latin typeface="Courier New" pitchFamily="49" charset="0"/>
                <a:cs typeface="Courier New" pitchFamily="49" charset="0"/>
              </a:rPr>
              <a:t> </a:t>
            </a:r>
            <a:r>
              <a:rPr lang="it-IT" b="1" dirty="0">
                <a:solidFill>
                  <a:srgbClr val="0000FF"/>
                </a:solidFill>
                <a:latin typeface="Courier New" pitchFamily="49" charset="0"/>
                <a:cs typeface="Courier New" pitchFamily="49" charset="0"/>
              </a:rPr>
              <a:t>NONCLUSTERED</a:t>
            </a:r>
            <a:r>
              <a:rPr lang="it-IT" b="1" dirty="0">
                <a:latin typeface="Courier New" pitchFamily="49" charset="0"/>
                <a:cs typeface="Courier New" pitchFamily="49" charset="0"/>
              </a:rPr>
              <a:t> </a:t>
            </a:r>
            <a:r>
              <a:rPr lang="it-IT" b="1" dirty="0">
                <a:solidFill>
                  <a:srgbClr val="0000FF"/>
                </a:solidFill>
                <a:latin typeface="Courier New" pitchFamily="49" charset="0"/>
                <a:cs typeface="Courier New" pitchFamily="49" charset="0"/>
              </a:rPr>
              <a:t>INDEX</a:t>
            </a:r>
            <a:r>
              <a:rPr lang="it-IT" b="1" dirty="0">
                <a:latin typeface="Courier New" pitchFamily="49" charset="0"/>
                <a:cs typeface="Courier New" pitchFamily="49" charset="0"/>
              </a:rPr>
              <a:t> IncludedColumns </a:t>
            </a:r>
            <a:r>
              <a:rPr lang="it-IT" b="1" dirty="0">
                <a:solidFill>
                  <a:srgbClr val="0000FF"/>
                </a:solidFill>
                <a:latin typeface="Courier New" pitchFamily="49" charset="0"/>
                <a:cs typeface="Courier New" pitchFamily="49" charset="0"/>
              </a:rPr>
              <a:t>ON</a:t>
            </a:r>
            <a:r>
              <a:rPr lang="it-IT" b="1" dirty="0">
                <a:latin typeface="Courier New" pitchFamily="49" charset="0"/>
                <a:cs typeface="Courier New" pitchFamily="49" charset="0"/>
              </a:rPr>
              <a:t> dbo.IncludedColumnsTest (Col1)  </a:t>
            </a:r>
          </a:p>
          <a:p>
            <a:r>
              <a:rPr lang="it-IT" b="1" dirty="0">
                <a:latin typeface="Courier New" pitchFamily="49" charset="0"/>
                <a:cs typeface="Courier New" pitchFamily="49" charset="0"/>
              </a:rPr>
              <a:t>   </a:t>
            </a:r>
            <a:r>
              <a:rPr lang="it-IT" b="1" dirty="0">
                <a:solidFill>
                  <a:srgbClr val="0000FF"/>
                </a:solidFill>
                <a:latin typeface="Courier New" pitchFamily="49" charset="0"/>
                <a:cs typeface="Courier New" pitchFamily="49" charset="0"/>
              </a:rPr>
              <a:t>INCLUDE</a:t>
            </a:r>
            <a:r>
              <a:rPr lang="it-IT" b="1" dirty="0">
                <a:latin typeface="Courier New" pitchFamily="49" charset="0"/>
                <a:cs typeface="Courier New" pitchFamily="49" charset="0"/>
              </a:rPr>
              <a:t> (Col2, Col3, Col4, Col5, Col6, Col7, Col8, </a:t>
            </a:r>
          </a:p>
          <a:p>
            <a:r>
              <a:rPr lang="it-IT" b="1" dirty="0">
                <a:latin typeface="Courier New" pitchFamily="49" charset="0"/>
                <a:cs typeface="Courier New" pitchFamily="49" charset="0"/>
              </a:rPr>
              <a:t>            Col9, Col10, Col11, Col12,  Col13, Col14,     </a:t>
            </a:r>
          </a:p>
          <a:p>
            <a:r>
              <a:rPr lang="it-IT" b="1" dirty="0">
                <a:latin typeface="Courier New" pitchFamily="49" charset="0"/>
                <a:cs typeface="Courier New" pitchFamily="49" charset="0"/>
              </a:rPr>
              <a:t>            Col15, Col16); </a:t>
            </a:r>
          </a:p>
          <a:p>
            <a:r>
              <a:rPr lang="it-IT" b="1" dirty="0">
                <a:latin typeface="Courier New" pitchFamily="49" charset="0"/>
                <a:cs typeface="Courier New" pitchFamily="49" charset="0"/>
              </a:rPr>
              <a:t> </a:t>
            </a:r>
          </a:p>
          <a:p>
            <a:endParaRPr lang="it-IT" b="1" dirty="0">
              <a:latin typeface="Courier New" pitchFamily="49" charset="0"/>
              <a:cs typeface="Courier New" pitchFamily="49" charset="0"/>
            </a:endParaRPr>
          </a:p>
          <a:p>
            <a:endParaRPr lang="it-IT" b="1" dirty="0">
              <a:latin typeface="Courier New" pitchFamily="49" charset="0"/>
              <a:cs typeface="Courier New" pitchFamily="49" charset="0"/>
            </a:endParaRPr>
          </a:p>
          <a:p>
            <a:r>
              <a:rPr lang="it-IT" b="1" dirty="0">
                <a:solidFill>
                  <a:srgbClr val="0000FF"/>
                </a:solidFill>
                <a:latin typeface="Courier New" pitchFamily="49" charset="0"/>
                <a:cs typeface="Courier New" pitchFamily="49" charset="0"/>
              </a:rPr>
              <a:t>CREATE</a:t>
            </a:r>
            <a:r>
              <a:rPr lang="it-IT" b="1" dirty="0">
                <a:latin typeface="Courier New" pitchFamily="49" charset="0"/>
                <a:cs typeface="Courier New" pitchFamily="49" charset="0"/>
              </a:rPr>
              <a:t> </a:t>
            </a:r>
            <a:r>
              <a:rPr lang="it-IT" b="1" dirty="0">
                <a:solidFill>
                  <a:srgbClr val="0000FF"/>
                </a:solidFill>
                <a:latin typeface="Courier New" pitchFamily="49" charset="0"/>
                <a:cs typeface="Courier New" pitchFamily="49" charset="0"/>
              </a:rPr>
              <a:t>NONCLUSTERED</a:t>
            </a:r>
            <a:r>
              <a:rPr lang="it-IT" b="1" dirty="0">
                <a:latin typeface="Courier New" pitchFamily="49" charset="0"/>
                <a:cs typeface="Courier New" pitchFamily="49" charset="0"/>
              </a:rPr>
              <a:t> </a:t>
            </a:r>
            <a:r>
              <a:rPr lang="it-IT" b="1" dirty="0">
                <a:solidFill>
                  <a:srgbClr val="0000FF"/>
                </a:solidFill>
                <a:latin typeface="Courier New" pitchFamily="49" charset="0"/>
                <a:cs typeface="Courier New" pitchFamily="49" charset="0"/>
              </a:rPr>
              <a:t>INDEX</a:t>
            </a:r>
            <a:r>
              <a:rPr lang="it-IT" b="1" dirty="0">
                <a:latin typeface="Courier New" pitchFamily="49" charset="0"/>
                <a:cs typeface="Courier New" pitchFamily="49" charset="0"/>
              </a:rPr>
              <a:t> NoIncludedColumns </a:t>
            </a:r>
            <a:r>
              <a:rPr lang="it-IT" b="1" dirty="0">
                <a:solidFill>
                  <a:srgbClr val="0000FF"/>
                </a:solidFill>
                <a:latin typeface="Courier New" pitchFamily="49" charset="0"/>
                <a:cs typeface="Courier New" pitchFamily="49" charset="0"/>
              </a:rPr>
              <a:t>ON</a:t>
            </a:r>
            <a:r>
              <a:rPr lang="it-IT" b="1" dirty="0">
                <a:latin typeface="Courier New" pitchFamily="49" charset="0"/>
                <a:cs typeface="Courier New" pitchFamily="49" charset="0"/>
              </a:rPr>
              <a:t> dbo.IncludedColumnsTest  </a:t>
            </a:r>
          </a:p>
          <a:p>
            <a:r>
              <a:rPr lang="it-IT" b="1" dirty="0">
                <a:latin typeface="Courier New" pitchFamily="49" charset="0"/>
                <a:cs typeface="Courier New" pitchFamily="49" charset="0"/>
              </a:rPr>
              <a:t>   (Col1, Col2, Col3, Col4, Col5, Col6, Col7, Col8, </a:t>
            </a:r>
          </a:p>
          <a:p>
            <a:r>
              <a:rPr lang="it-IT" b="1" dirty="0">
                <a:latin typeface="Courier New" pitchFamily="49" charset="0"/>
                <a:cs typeface="Courier New" pitchFamily="49" charset="0"/>
              </a:rPr>
              <a:t>    Col9, Col10, Col11,Col12, Col13, Col14, Col15, </a:t>
            </a:r>
          </a:p>
          <a:p>
            <a:r>
              <a:rPr lang="it-IT" b="1" dirty="0">
                <a:latin typeface="Courier New" pitchFamily="49" charset="0"/>
                <a:cs typeface="Courier New" pitchFamily="49" charset="0"/>
              </a:rPr>
              <a:t>    Col16);</a:t>
            </a:r>
            <a:endParaRPr lang="en-CA" b="1" dirty="0">
              <a:latin typeface="Courier New" pitchFamily="49" charset="0"/>
              <a:cs typeface="Courier New" pitchFamily="49" charset="0"/>
            </a:endParaRPr>
          </a:p>
        </p:txBody>
      </p:sp>
      <p:sp>
        <p:nvSpPr>
          <p:cNvPr id="3" name="Rectangle 2"/>
          <p:cNvSpPr/>
          <p:nvPr/>
        </p:nvSpPr>
        <p:spPr>
          <a:xfrm>
            <a:off x="1905000" y="1905000"/>
            <a:ext cx="3886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16 column wide index key</a:t>
            </a:r>
            <a:endParaRPr lang="en-CA" b="1" dirty="0"/>
          </a:p>
        </p:txBody>
      </p:sp>
      <p:sp>
        <p:nvSpPr>
          <p:cNvPr id="5" name="Rectangle 4"/>
          <p:cNvSpPr/>
          <p:nvPr/>
        </p:nvSpPr>
        <p:spPr>
          <a:xfrm>
            <a:off x="1143000" y="4419600"/>
            <a:ext cx="8001000" cy="2246769"/>
          </a:xfrm>
          <a:prstGeom prst="rect">
            <a:avLst/>
          </a:prstGeom>
          <a:solidFill>
            <a:schemeClr val="accent1">
              <a:lumMod val="20000"/>
              <a:lumOff val="80000"/>
            </a:schemeClr>
          </a:solidFill>
        </p:spPr>
        <p:txBody>
          <a:bodyPr wrap="square">
            <a:spAutoFit/>
          </a:bodyPr>
          <a:lstStyle/>
          <a:p>
            <a:r>
              <a:rPr lang="en-CA" sz="2000" dirty="0"/>
              <a:t>You can retrieve information about index from the </a:t>
            </a:r>
            <a:r>
              <a:rPr lang="en-CA" sz="2000" dirty="0">
                <a:solidFill>
                  <a:srgbClr val="0070C0"/>
                </a:solidFill>
              </a:rPr>
              <a:t>sys.dm_db_index_physical_stats</a:t>
            </a:r>
            <a:r>
              <a:rPr lang="en-CA" sz="2000" dirty="0"/>
              <a:t> dynamic management function :</a:t>
            </a:r>
          </a:p>
          <a:p>
            <a:endParaRPr lang="en-CA" sz="2000" b="1" dirty="0">
              <a:solidFill>
                <a:srgbClr val="0000FF"/>
              </a:solidFill>
              <a:latin typeface="Courier New" pitchFamily="49" charset="0"/>
              <a:cs typeface="Courier New" pitchFamily="49" charset="0"/>
            </a:endParaRPr>
          </a:p>
          <a:p>
            <a:r>
              <a:rPr lang="en-CA" sz="2000" b="1" dirty="0">
                <a:solidFill>
                  <a:srgbClr val="0000FF"/>
                </a:solidFill>
                <a:latin typeface="Courier New" pitchFamily="49" charset="0"/>
                <a:cs typeface="Courier New" pitchFamily="49" charset="0"/>
              </a:rPr>
              <a:t>SELECT</a:t>
            </a:r>
            <a:r>
              <a:rPr lang="en-CA" sz="2000" b="1" dirty="0">
                <a:latin typeface="Courier New" pitchFamily="49" charset="0"/>
                <a:cs typeface="Courier New" pitchFamily="49" charset="0"/>
              </a:rPr>
              <a:t> * </a:t>
            </a:r>
            <a:r>
              <a:rPr lang="en-CA" sz="2000" b="1" dirty="0">
                <a:solidFill>
                  <a:srgbClr val="0000FF"/>
                </a:solidFill>
                <a:latin typeface="Courier New" pitchFamily="49" charset="0"/>
                <a:cs typeface="Courier New" pitchFamily="49" charset="0"/>
              </a:rPr>
              <a:t>FROM</a:t>
            </a:r>
            <a:r>
              <a:rPr lang="en-CA" sz="2000" b="1" dirty="0">
                <a:latin typeface="Courier New" pitchFamily="49" charset="0"/>
                <a:cs typeface="Courier New" pitchFamily="49" charset="0"/>
              </a:rPr>
              <a:t> </a:t>
            </a:r>
            <a:r>
              <a:rPr lang="en-CA" sz="2000" b="1" dirty="0" err="1">
                <a:solidFill>
                  <a:srgbClr val="FF3399"/>
                </a:solidFill>
                <a:latin typeface="Courier New" pitchFamily="49" charset="0"/>
                <a:cs typeface="Courier New" pitchFamily="49" charset="0"/>
              </a:rPr>
              <a:t>sys.dm_db_index_physical_stats</a:t>
            </a:r>
            <a:r>
              <a:rPr lang="en-CA" sz="2000" b="1" dirty="0">
                <a:latin typeface="Courier New" pitchFamily="49" charset="0"/>
                <a:cs typeface="Courier New" pitchFamily="49" charset="0"/>
              </a:rPr>
              <a:t>( </a:t>
            </a:r>
          </a:p>
          <a:p>
            <a:r>
              <a:rPr lang="en-CA" sz="2000" b="1" dirty="0">
                <a:latin typeface="Courier New" pitchFamily="49" charset="0"/>
                <a:cs typeface="Courier New" pitchFamily="49" charset="0"/>
              </a:rPr>
              <a:t>   </a:t>
            </a:r>
            <a:r>
              <a:rPr lang="en-CA" sz="2000" b="1" dirty="0">
                <a:solidFill>
                  <a:srgbClr val="FF3399"/>
                </a:solidFill>
                <a:latin typeface="Courier New" pitchFamily="49" charset="0"/>
                <a:cs typeface="Courier New" pitchFamily="49" charset="0"/>
              </a:rPr>
              <a:t>DB_ID</a:t>
            </a:r>
            <a:r>
              <a:rPr lang="en-CA" sz="2000" b="1" dirty="0">
                <a:latin typeface="Courier New" pitchFamily="49" charset="0"/>
                <a:cs typeface="Courier New" pitchFamily="49" charset="0"/>
              </a:rPr>
              <a:t>(),</a:t>
            </a:r>
            <a:r>
              <a:rPr lang="en-CA" sz="2000" b="1" dirty="0">
                <a:solidFill>
                  <a:srgbClr val="FF3399"/>
                </a:solidFill>
                <a:latin typeface="Courier New" pitchFamily="49" charset="0"/>
                <a:cs typeface="Courier New" pitchFamily="49" charset="0"/>
              </a:rPr>
              <a:t>OBJECT_ID</a:t>
            </a:r>
            <a:r>
              <a:rPr lang="en-CA" sz="2000" b="1" dirty="0">
                <a:latin typeface="Courier New" pitchFamily="49" charset="0"/>
                <a:cs typeface="Courier New" pitchFamily="49" charset="0"/>
              </a:rPr>
              <a:t>(</a:t>
            </a:r>
            <a:r>
              <a:rPr lang="en-CA" sz="2000" b="1" dirty="0">
                <a:solidFill>
                  <a:srgbClr val="FF0000"/>
                </a:solidFill>
                <a:latin typeface="Courier New" pitchFamily="49" charset="0"/>
                <a:cs typeface="Courier New" pitchFamily="49" charset="0"/>
              </a:rPr>
              <a:t>'</a:t>
            </a:r>
            <a:r>
              <a:rPr lang="en-CA" sz="2000" b="1" dirty="0" err="1">
                <a:solidFill>
                  <a:srgbClr val="FF0000"/>
                </a:solidFill>
                <a:latin typeface="Courier New" pitchFamily="49" charset="0"/>
                <a:cs typeface="Courier New" pitchFamily="49" charset="0"/>
              </a:rPr>
              <a:t>IncludedColumnsTest</a:t>
            </a:r>
            <a:r>
              <a:rPr lang="en-CA" sz="2000" b="1" dirty="0">
                <a:latin typeface="Courier New" pitchFamily="49" charset="0"/>
                <a:cs typeface="Courier New" pitchFamily="49" charset="0"/>
              </a:rPr>
              <a:t>'), </a:t>
            </a:r>
          </a:p>
          <a:p>
            <a:r>
              <a:rPr lang="en-CA" sz="2000" b="1" dirty="0">
                <a:latin typeface="Courier New" pitchFamily="49" charset="0"/>
                <a:cs typeface="Courier New" pitchFamily="49" charset="0"/>
              </a:rPr>
              <a:t>   NULL, NULL, </a:t>
            </a:r>
            <a:r>
              <a:rPr lang="en-CA" sz="2000" b="1" dirty="0">
                <a:solidFill>
                  <a:srgbClr val="FF0000"/>
                </a:solidFill>
                <a:latin typeface="Courier New" pitchFamily="49" charset="0"/>
                <a:cs typeface="Courier New" pitchFamily="49" charset="0"/>
              </a:rPr>
              <a:t>'DETAILED</a:t>
            </a:r>
            <a:r>
              <a:rPr lang="en-CA" sz="2000" b="1" dirty="0">
                <a:latin typeface="Courier New" pitchFamily="49" charset="0"/>
                <a:cs typeface="Courier New" pitchFamily="49" charset="0"/>
              </a:rPr>
              <a:t>' </a:t>
            </a:r>
          </a:p>
          <a:p>
            <a:r>
              <a:rPr lang="en-CA" sz="2000" b="1" dirty="0">
                <a:latin typeface="Courier New" pitchFamily="49" charset="0"/>
                <a:cs typeface="Courier New" pitchFamily="49"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61134505"/>
              </p:ext>
            </p:extLst>
          </p:nvPr>
        </p:nvGraphicFramePr>
        <p:xfrm>
          <a:off x="1295400" y="1219200"/>
          <a:ext cx="7499349" cy="4668520"/>
        </p:xfrm>
        <a:graphic>
          <a:graphicData uri="http://schemas.openxmlformats.org/drawingml/2006/table">
            <a:tbl>
              <a:tblPr firstRow="1" bandRow="1">
                <a:tableStyleId>{5C22544A-7EE6-4342-B048-85BDC9FD1C3A}</a:tableStyleId>
              </a:tblPr>
              <a:tblGrid>
                <a:gridCol w="2499783">
                  <a:extLst>
                    <a:ext uri="{9D8B030D-6E8A-4147-A177-3AD203B41FA5}">
                      <a16:colId xmlns:a16="http://schemas.microsoft.com/office/drawing/2014/main" val="20000"/>
                    </a:ext>
                  </a:extLst>
                </a:gridCol>
                <a:gridCol w="2499783">
                  <a:extLst>
                    <a:ext uri="{9D8B030D-6E8A-4147-A177-3AD203B41FA5}">
                      <a16:colId xmlns:a16="http://schemas.microsoft.com/office/drawing/2014/main" val="20001"/>
                    </a:ext>
                  </a:extLst>
                </a:gridCol>
                <a:gridCol w="2499783">
                  <a:extLst>
                    <a:ext uri="{9D8B030D-6E8A-4147-A177-3AD203B41FA5}">
                      <a16:colId xmlns:a16="http://schemas.microsoft.com/office/drawing/2014/main" val="20002"/>
                    </a:ext>
                  </a:extLst>
                </a:gridCol>
              </a:tblGrid>
              <a:tr h="370840">
                <a:tc>
                  <a:txBody>
                    <a:bodyPr/>
                    <a:lstStyle/>
                    <a:p>
                      <a:endParaRPr lang="en-CA" dirty="0"/>
                    </a:p>
                  </a:txBody>
                  <a:tcPr/>
                </a:tc>
                <a:tc>
                  <a:txBody>
                    <a:bodyPr/>
                    <a:lstStyle/>
                    <a:p>
                      <a:pPr algn="ctr"/>
                      <a:r>
                        <a:rPr lang="en-CA" dirty="0"/>
                        <a:t>INCLUDED</a:t>
                      </a:r>
                    </a:p>
                    <a:p>
                      <a:pPr algn="ctr"/>
                      <a:r>
                        <a:rPr lang="en-CA" dirty="0"/>
                        <a:t>COLUMN</a:t>
                      </a:r>
                    </a:p>
                  </a:txBody>
                  <a:tcPr/>
                </a:tc>
                <a:tc>
                  <a:txBody>
                    <a:bodyPr/>
                    <a:lstStyle/>
                    <a:p>
                      <a:pPr algn="ctr"/>
                      <a:r>
                        <a:rPr lang="en-CA" dirty="0"/>
                        <a:t>NOINCLUDED</a:t>
                      </a:r>
                    </a:p>
                    <a:p>
                      <a:pPr algn="ctr"/>
                      <a:r>
                        <a:rPr lang="en-CA" dirty="0"/>
                        <a:t>COLUMN</a:t>
                      </a:r>
                    </a:p>
                  </a:txBody>
                  <a:tcPr/>
                </a:tc>
                <a:extLst>
                  <a:ext uri="{0D108BD9-81ED-4DB2-BD59-A6C34878D82A}">
                    <a16:rowId xmlns:a16="http://schemas.microsoft.com/office/drawing/2014/main" val="10000"/>
                  </a:ext>
                </a:extLst>
              </a:tr>
              <a:tr h="370840">
                <a:tc>
                  <a:txBody>
                    <a:bodyPr/>
                    <a:lstStyle/>
                    <a:p>
                      <a:r>
                        <a:rPr lang="en-CA" dirty="0"/>
                        <a:t>Total size</a:t>
                      </a:r>
                    </a:p>
                  </a:txBody>
                  <a:tcPr/>
                </a:tc>
                <a:tc>
                  <a:txBody>
                    <a:bodyPr/>
                    <a:lstStyle/>
                    <a:p>
                      <a:r>
                        <a:rPr lang="en-CA" dirty="0"/>
                        <a:t>40,147 pages</a:t>
                      </a:r>
                    </a:p>
                  </a:txBody>
                  <a:tcPr/>
                </a:tc>
                <a:tc>
                  <a:txBody>
                    <a:bodyPr/>
                    <a:lstStyle/>
                    <a:p>
                      <a:r>
                        <a:rPr lang="en-CA" dirty="0"/>
                        <a:t>41,743 pages</a:t>
                      </a:r>
                    </a:p>
                  </a:txBody>
                  <a:tcPr/>
                </a:tc>
                <a:extLst>
                  <a:ext uri="{0D108BD9-81ED-4DB2-BD59-A6C34878D82A}">
                    <a16:rowId xmlns:a16="http://schemas.microsoft.com/office/drawing/2014/main" val="10001"/>
                  </a:ext>
                </a:extLst>
              </a:tr>
              <a:tr h="370840">
                <a:tc>
                  <a:txBody>
                    <a:bodyPr/>
                    <a:lstStyle/>
                    <a:p>
                      <a:r>
                        <a:rPr lang="en-US" dirty="0"/>
                        <a:t>Size of the nonleaf </a:t>
                      </a:r>
                    </a:p>
                    <a:p>
                      <a:r>
                        <a:rPr lang="en-US" dirty="0"/>
                        <a:t>level of the index</a:t>
                      </a:r>
                      <a:endParaRPr lang="en-CA" dirty="0"/>
                    </a:p>
                  </a:txBody>
                  <a:tcPr/>
                </a:tc>
                <a:tc>
                  <a:txBody>
                    <a:bodyPr/>
                    <a:lstStyle/>
                    <a:p>
                      <a:r>
                        <a:rPr lang="en-CA" dirty="0"/>
                        <a:t>146 pages</a:t>
                      </a:r>
                    </a:p>
                  </a:txBody>
                  <a:tcPr/>
                </a:tc>
                <a:tc>
                  <a:txBody>
                    <a:bodyPr/>
                    <a:lstStyle/>
                    <a:p>
                      <a:r>
                        <a:rPr lang="en-CA" dirty="0"/>
                        <a:t>1,743 pages</a:t>
                      </a:r>
                    </a:p>
                  </a:txBody>
                  <a:tcPr/>
                </a:tc>
                <a:extLst>
                  <a:ext uri="{0D108BD9-81ED-4DB2-BD59-A6C34878D82A}">
                    <a16:rowId xmlns:a16="http://schemas.microsoft.com/office/drawing/2014/main" val="10002"/>
                  </a:ext>
                </a:extLst>
              </a:tr>
              <a:tr h="370840">
                <a:tc>
                  <a:txBody>
                    <a:bodyPr/>
                    <a:lstStyle/>
                    <a:p>
                      <a:r>
                        <a:rPr lang="en-CA" dirty="0"/>
                        <a:t>Index depth</a:t>
                      </a:r>
                    </a:p>
                  </a:txBody>
                  <a:tcPr/>
                </a:tc>
                <a:tc>
                  <a:txBody>
                    <a:bodyPr/>
                    <a:lstStyle/>
                    <a:p>
                      <a:r>
                        <a:rPr lang="en-US" dirty="0"/>
                        <a:t>Three levels (a root page + one intermediate level</a:t>
                      </a:r>
                      <a:r>
                        <a:rPr lang="en-US" baseline="0" dirty="0"/>
                        <a:t> </a:t>
                      </a:r>
                      <a:r>
                        <a:rPr lang="en-US" dirty="0"/>
                        <a:t>+ one leaf level) </a:t>
                      </a:r>
                      <a:endParaRPr lang="en-CA" dirty="0"/>
                    </a:p>
                  </a:txBody>
                  <a:tcPr/>
                </a:tc>
                <a:tc>
                  <a:txBody>
                    <a:bodyPr/>
                    <a:lstStyle/>
                    <a:p>
                      <a:r>
                        <a:rPr lang="en-US" dirty="0"/>
                        <a:t>Five levels (a root page + three intermediate levels + one leaf level)</a:t>
                      </a:r>
                      <a:endParaRPr lang="en-CA" dirty="0"/>
                    </a:p>
                  </a:txBody>
                  <a:tcPr/>
                </a:tc>
                <a:extLst>
                  <a:ext uri="{0D108BD9-81ED-4DB2-BD59-A6C34878D82A}">
                    <a16:rowId xmlns:a16="http://schemas.microsoft.com/office/drawing/2014/main" val="10003"/>
                  </a:ext>
                </a:extLst>
              </a:tr>
              <a:tr h="370840">
                <a:tc>
                  <a:txBody>
                    <a:bodyPr/>
                    <a:lstStyle/>
                    <a:p>
                      <a:r>
                        <a:rPr lang="en-US" dirty="0"/>
                        <a:t>Average size of rows </a:t>
                      </a:r>
                    </a:p>
                    <a:p>
                      <a:r>
                        <a:rPr lang="en-US" dirty="0"/>
                        <a:t>in the nonleaf levels of </a:t>
                      </a:r>
                    </a:p>
                    <a:p>
                      <a:r>
                        <a:rPr lang="en-US" dirty="0"/>
                        <a:t>the index</a:t>
                      </a:r>
                      <a:endParaRPr lang="en-CA" dirty="0"/>
                    </a:p>
                  </a:txBody>
                  <a:tcPr/>
                </a:tc>
                <a:tc>
                  <a:txBody>
                    <a:bodyPr/>
                    <a:lstStyle/>
                    <a:p>
                      <a:r>
                        <a:rPr lang="en-CA" dirty="0"/>
                        <a:t>27 bytes</a:t>
                      </a:r>
                    </a:p>
                  </a:txBody>
                  <a:tcPr/>
                </a:tc>
                <a:tc>
                  <a:txBody>
                    <a:bodyPr/>
                    <a:lstStyle/>
                    <a:p>
                      <a:r>
                        <a:rPr lang="en-CA" dirty="0"/>
                        <a:t>327 bytes</a:t>
                      </a:r>
                    </a:p>
                  </a:txBody>
                  <a:tcPr/>
                </a:tc>
                <a:extLst>
                  <a:ext uri="{0D108BD9-81ED-4DB2-BD59-A6C34878D82A}">
                    <a16:rowId xmlns:a16="http://schemas.microsoft.com/office/drawing/2014/main" val="10004"/>
                  </a:ext>
                </a:extLst>
              </a:tr>
              <a:tr h="370840">
                <a:tc>
                  <a:txBody>
                    <a:bodyPr/>
                    <a:lstStyle/>
                    <a:p>
                      <a:r>
                        <a:rPr lang="en-US" dirty="0"/>
                        <a:t>Average size of rows </a:t>
                      </a:r>
                    </a:p>
                    <a:p>
                      <a:r>
                        <a:rPr lang="en-US" dirty="0"/>
                        <a:t>in the leaf level of </a:t>
                      </a:r>
                    </a:p>
                    <a:p>
                      <a:r>
                        <a:rPr lang="en-US" dirty="0"/>
                        <a:t>the index</a:t>
                      </a:r>
                      <a:endParaRPr lang="en-CA" dirty="0"/>
                    </a:p>
                  </a:txBody>
                  <a:tcPr/>
                </a:tc>
                <a:tc>
                  <a:txBody>
                    <a:bodyPr/>
                    <a:lstStyle/>
                    <a:p>
                      <a:r>
                        <a:rPr lang="en-CA" dirty="0"/>
                        <a:t>321 bytes</a:t>
                      </a:r>
                    </a:p>
                  </a:txBody>
                  <a:tcPr/>
                </a:tc>
                <a:tc>
                  <a:txBody>
                    <a:bodyPr/>
                    <a:lstStyle/>
                    <a:p>
                      <a:r>
                        <a:rPr lang="en-CA" dirty="0"/>
                        <a:t>321 bytes</a:t>
                      </a:r>
                    </a:p>
                  </a:txBody>
                  <a:tcPr/>
                </a:tc>
                <a:extLst>
                  <a:ext uri="{0D108BD9-81ED-4DB2-BD59-A6C34878D82A}">
                    <a16:rowId xmlns:a16="http://schemas.microsoft.com/office/drawing/2014/main" val="10005"/>
                  </a:ext>
                </a:extLst>
              </a:tr>
            </a:tbl>
          </a:graphicData>
        </a:graphic>
      </p:graphicFrame>
      <p:sp>
        <p:nvSpPr>
          <p:cNvPr id="3" name="Rectangle 2"/>
          <p:cNvSpPr/>
          <p:nvPr/>
        </p:nvSpPr>
        <p:spPr>
          <a:xfrm>
            <a:off x="1295400" y="381000"/>
            <a:ext cx="4038600" cy="6096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In a table with 1,000,000 rows</a:t>
            </a:r>
            <a:endParaRPr lang="en-CA"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ntitled-1.jpg"/>
          <p:cNvPicPr>
            <a:picLocks noGrp="1" noChangeAspect="1"/>
          </p:cNvPicPr>
          <p:nvPr>
            <p:ph idx="1"/>
          </p:nvPr>
        </p:nvPicPr>
        <p:blipFill>
          <a:blip r:embed="rId2" cstate="print"/>
          <a:stretch>
            <a:fillRect/>
          </a:stretch>
        </p:blipFill>
        <p:spPr>
          <a:xfrm>
            <a:off x="1100696" y="304800"/>
            <a:ext cx="7949568" cy="6324600"/>
          </a:xfrm>
        </p:spPr>
      </p:pic>
      <p:sp>
        <p:nvSpPr>
          <p:cNvPr id="5" name="Rectangle 4"/>
          <p:cNvSpPr/>
          <p:nvPr/>
        </p:nvSpPr>
        <p:spPr>
          <a:xfrm>
            <a:off x="5638800" y="152400"/>
            <a:ext cx="3200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Rows are larger therefore less rows per page</a:t>
            </a:r>
            <a:endParaRPr lang="en-CA" dirty="0"/>
          </a:p>
        </p:txBody>
      </p:sp>
      <p:cxnSp>
        <p:nvCxnSpPr>
          <p:cNvPr id="7" name="Straight Arrow Connector 6"/>
          <p:cNvCxnSpPr/>
          <p:nvPr/>
        </p:nvCxnSpPr>
        <p:spPr>
          <a:xfrm flipH="1">
            <a:off x="4953000" y="609600"/>
            <a:ext cx="6858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381000"/>
            <a:ext cx="7315200" cy="609600"/>
          </a:xfrm>
        </p:spPr>
        <p:txBody>
          <a:bodyPr>
            <a:normAutofit fontScale="70000" lnSpcReduction="20000"/>
          </a:bodyPr>
          <a:lstStyle/>
          <a:p>
            <a:r>
              <a:rPr lang="en-US" dirty="0"/>
              <a:t>additional objects and indexes required by the example:</a:t>
            </a:r>
            <a:endParaRPr lang="en-CA" dirty="0"/>
          </a:p>
        </p:txBody>
      </p:sp>
      <p:sp>
        <p:nvSpPr>
          <p:cNvPr id="4" name="Rectangle 3"/>
          <p:cNvSpPr/>
          <p:nvPr/>
        </p:nvSpPr>
        <p:spPr>
          <a:xfrm>
            <a:off x="1371600" y="1676400"/>
            <a:ext cx="7543800" cy="4093428"/>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r>
              <a:rPr lang="en-CA" sz="2000" b="1" dirty="0">
                <a:solidFill>
                  <a:srgbClr val="00B050"/>
                </a:solidFill>
                <a:latin typeface="Courier New" pitchFamily="49" charset="0"/>
                <a:cs typeface="Courier New" pitchFamily="49" charset="0"/>
              </a:rPr>
              <a:t>-- Create the NotCovered index</a:t>
            </a:r>
            <a:r>
              <a:rPr lang="en-CA" sz="2000" b="1" dirty="0">
                <a:latin typeface="Courier New" pitchFamily="49" charset="0"/>
                <a:cs typeface="Courier New" pitchFamily="49" charset="0"/>
              </a:rPr>
              <a:t>. </a:t>
            </a:r>
          </a:p>
          <a:p>
            <a:r>
              <a:rPr lang="en-CA" sz="2000" b="1" dirty="0">
                <a:solidFill>
                  <a:srgbClr val="0000FF"/>
                </a:solidFill>
                <a:latin typeface="Courier New" pitchFamily="49" charset="0"/>
                <a:cs typeface="Courier New" pitchFamily="49" charset="0"/>
              </a:rPr>
              <a:t>CREATE</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NONCLUSTERED</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INDEX</a:t>
            </a:r>
            <a:r>
              <a:rPr lang="en-CA" sz="2000" b="1" dirty="0">
                <a:latin typeface="Courier New" pitchFamily="49" charset="0"/>
                <a:cs typeface="Courier New" pitchFamily="49" charset="0"/>
              </a:rPr>
              <a:t> NotCovered </a:t>
            </a:r>
            <a:r>
              <a:rPr lang="en-CA" sz="2000" b="1" dirty="0">
                <a:solidFill>
                  <a:srgbClr val="0000FF"/>
                </a:solidFill>
                <a:latin typeface="Courier New" pitchFamily="49" charset="0"/>
                <a:cs typeface="Courier New" pitchFamily="49" charset="0"/>
              </a:rPr>
              <a:t>ON</a:t>
            </a:r>
            <a:r>
              <a:rPr lang="en-CA" sz="2000" b="1" dirty="0">
                <a:latin typeface="Courier New" pitchFamily="49" charset="0"/>
                <a:cs typeface="Courier New" pitchFamily="49" charset="0"/>
              </a:rPr>
              <a:t> </a:t>
            </a:r>
            <a:r>
              <a:rPr lang="en-CA" sz="2000" b="1" dirty="0" err="1">
                <a:latin typeface="Courier New" pitchFamily="49" charset="0"/>
                <a:cs typeface="Courier New" pitchFamily="49" charset="0"/>
              </a:rPr>
              <a:t>dbo.IncludedColumnsTest</a:t>
            </a:r>
            <a:r>
              <a:rPr lang="en-CA" sz="2000" b="1" dirty="0">
                <a:latin typeface="Courier New" pitchFamily="49" charset="0"/>
                <a:cs typeface="Courier New" pitchFamily="49" charset="0"/>
              </a:rPr>
              <a:t> (Col1); </a:t>
            </a:r>
          </a:p>
          <a:p>
            <a:r>
              <a:rPr lang="en-CA" sz="2000" b="1" dirty="0">
                <a:latin typeface="Courier New" pitchFamily="49" charset="0"/>
                <a:cs typeface="Courier New" pitchFamily="49" charset="0"/>
              </a:rPr>
              <a:t> </a:t>
            </a:r>
          </a:p>
          <a:p>
            <a:r>
              <a:rPr lang="en-CA" sz="2000" b="1" dirty="0">
                <a:solidFill>
                  <a:srgbClr val="00B050"/>
                </a:solidFill>
                <a:latin typeface="Courier New" pitchFamily="49" charset="0"/>
                <a:cs typeface="Courier New" pitchFamily="49" charset="0"/>
              </a:rPr>
              <a:t>-- Create and populate the Test.OtherTable table. </a:t>
            </a:r>
          </a:p>
          <a:p>
            <a:r>
              <a:rPr lang="en-CA" sz="2000" b="1" dirty="0">
                <a:solidFill>
                  <a:srgbClr val="0000FF"/>
                </a:solidFill>
                <a:latin typeface="Courier New" pitchFamily="49" charset="0"/>
                <a:cs typeface="Courier New" pitchFamily="49" charset="0"/>
              </a:rPr>
              <a:t>CREATE</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TABLE</a:t>
            </a:r>
            <a:r>
              <a:rPr lang="en-CA" sz="2000" b="1" dirty="0">
                <a:latin typeface="Courier New" pitchFamily="49" charset="0"/>
                <a:cs typeface="Courier New" pitchFamily="49" charset="0"/>
              </a:rPr>
              <a:t> </a:t>
            </a:r>
            <a:r>
              <a:rPr lang="en-CA" sz="2000" b="1" dirty="0" err="1">
                <a:latin typeface="Courier New" pitchFamily="49" charset="0"/>
                <a:cs typeface="Courier New" pitchFamily="49" charset="0"/>
              </a:rPr>
              <a:t>dbo.OtherTable</a:t>
            </a:r>
            <a:r>
              <a:rPr lang="en-CA" sz="2000" b="1" dirty="0">
                <a:latin typeface="Courier New" pitchFamily="49" charset="0"/>
                <a:cs typeface="Courier New" pitchFamily="49" charset="0"/>
              </a:rPr>
              <a:t> ( </a:t>
            </a:r>
          </a:p>
          <a:p>
            <a:r>
              <a:rPr lang="en-CA" sz="2000" b="1" dirty="0">
                <a:latin typeface="Courier New" pitchFamily="49" charset="0"/>
                <a:cs typeface="Courier New" pitchFamily="49" charset="0"/>
              </a:rPr>
              <a:t>    PKCol </a:t>
            </a:r>
            <a:r>
              <a:rPr lang="en-CA" sz="2000" b="1" dirty="0">
                <a:solidFill>
                  <a:srgbClr val="0000FF"/>
                </a:solidFill>
                <a:latin typeface="Courier New" pitchFamily="49" charset="0"/>
                <a:cs typeface="Courier New" pitchFamily="49" charset="0"/>
              </a:rPr>
              <a:t>INT</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IDENTITY</a:t>
            </a:r>
            <a:r>
              <a:rPr lang="en-CA" sz="2000" b="1" dirty="0">
                <a:latin typeface="Courier New" pitchFamily="49" charset="0"/>
                <a:cs typeface="Courier New" pitchFamily="49" charset="0"/>
              </a:rPr>
              <a:t> NOT NULL </a:t>
            </a:r>
            <a:r>
              <a:rPr lang="en-CA" sz="2000" b="1" dirty="0">
                <a:solidFill>
                  <a:srgbClr val="0000FF"/>
                </a:solidFill>
                <a:latin typeface="Courier New" pitchFamily="49" charset="0"/>
                <a:cs typeface="Courier New" pitchFamily="49" charset="0"/>
              </a:rPr>
              <a:t>PRIMARY</a:t>
            </a:r>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KEY </a:t>
            </a:r>
          </a:p>
          <a:p>
            <a:r>
              <a:rPr lang="en-CA" sz="2000" b="1" dirty="0">
                <a:latin typeface="Courier New" pitchFamily="49" charset="0"/>
                <a:cs typeface="Courier New" pitchFamily="49" charset="0"/>
              </a:rPr>
              <a:t>    ,Col1 </a:t>
            </a:r>
            <a:r>
              <a:rPr lang="en-CA" sz="2000" b="1" dirty="0">
                <a:solidFill>
                  <a:srgbClr val="0000FF"/>
                </a:solidFill>
                <a:latin typeface="Courier New" pitchFamily="49" charset="0"/>
                <a:cs typeface="Courier New" pitchFamily="49" charset="0"/>
              </a:rPr>
              <a:t>INT</a:t>
            </a:r>
            <a:r>
              <a:rPr lang="en-CA" sz="2000" b="1" dirty="0">
                <a:latin typeface="Courier New" pitchFamily="49" charset="0"/>
                <a:cs typeface="Courier New" pitchFamily="49" charset="0"/>
              </a:rPr>
              <a:t> NOT NULL </a:t>
            </a:r>
          </a:p>
          <a:p>
            <a:r>
              <a:rPr lang="en-CA" sz="2000" b="1" dirty="0">
                <a:latin typeface="Courier New" pitchFamily="49" charset="0"/>
                <a:cs typeface="Courier New" pitchFamily="49" charset="0"/>
              </a:rPr>
              <a:t>); </a:t>
            </a:r>
          </a:p>
          <a:p>
            <a:r>
              <a:rPr lang="en-CA" sz="2000" b="1" dirty="0">
                <a:latin typeface="Courier New" pitchFamily="49" charset="0"/>
                <a:cs typeface="Courier New" pitchFamily="49" charset="0"/>
              </a:rPr>
              <a:t> </a:t>
            </a:r>
          </a:p>
          <a:p>
            <a:r>
              <a:rPr lang="en-CA" sz="2000" b="1" dirty="0">
                <a:solidFill>
                  <a:srgbClr val="0000FF"/>
                </a:solidFill>
                <a:latin typeface="Courier New" pitchFamily="49" charset="0"/>
                <a:cs typeface="Courier New" pitchFamily="49" charset="0"/>
              </a:rPr>
              <a:t>INSERT</a:t>
            </a:r>
            <a:r>
              <a:rPr lang="en-CA" sz="2000" b="1" dirty="0">
                <a:latin typeface="Courier New" pitchFamily="49" charset="0"/>
                <a:cs typeface="Courier New" pitchFamily="49" charset="0"/>
              </a:rPr>
              <a:t> </a:t>
            </a:r>
            <a:r>
              <a:rPr lang="en-CA" sz="2000" b="1" dirty="0" err="1">
                <a:latin typeface="Courier New" pitchFamily="49" charset="0"/>
                <a:cs typeface="Courier New" pitchFamily="49" charset="0"/>
              </a:rPr>
              <a:t>dbo.OtherTable</a:t>
            </a:r>
            <a:r>
              <a:rPr lang="en-CA" sz="2000" b="1" dirty="0">
                <a:latin typeface="Courier New" pitchFamily="49" charset="0"/>
                <a:cs typeface="Courier New" pitchFamily="49" charset="0"/>
              </a:rPr>
              <a:t> (Col1) </a:t>
            </a:r>
          </a:p>
          <a:p>
            <a:r>
              <a:rPr lang="en-CA" sz="2000" b="1" dirty="0">
                <a:latin typeface="Courier New" pitchFamily="49" charset="0"/>
                <a:cs typeface="Courier New" pitchFamily="49" charset="0"/>
              </a:rPr>
              <a:t>    </a:t>
            </a:r>
            <a:r>
              <a:rPr lang="en-CA" sz="2000" b="1" dirty="0">
                <a:solidFill>
                  <a:srgbClr val="0000FF"/>
                </a:solidFill>
                <a:latin typeface="Courier New" pitchFamily="49" charset="0"/>
                <a:cs typeface="Courier New" pitchFamily="49" charset="0"/>
              </a:rPr>
              <a:t>SELECT</a:t>
            </a:r>
            <a:r>
              <a:rPr lang="en-CA" sz="2000" b="1" dirty="0">
                <a:latin typeface="Courier New" pitchFamily="49" charset="0"/>
                <a:cs typeface="Courier New" pitchFamily="49" charset="0"/>
              </a:rPr>
              <a:t> Col1 </a:t>
            </a:r>
            <a:r>
              <a:rPr lang="en-CA" sz="2000" b="1" dirty="0">
                <a:solidFill>
                  <a:srgbClr val="0000FF"/>
                </a:solidFill>
                <a:latin typeface="Courier New" pitchFamily="49" charset="0"/>
                <a:cs typeface="Courier New" pitchFamily="49" charset="0"/>
              </a:rPr>
              <a:t>FROM</a:t>
            </a:r>
            <a:r>
              <a:rPr lang="en-CA" sz="2000" b="1" dirty="0">
                <a:latin typeface="Courier New" pitchFamily="49" charset="0"/>
                <a:cs typeface="Courier New" pitchFamily="49" charset="0"/>
              </a:rPr>
              <a:t> </a:t>
            </a:r>
            <a:r>
              <a:rPr lang="en-CA" sz="2000" b="1" dirty="0" err="1">
                <a:latin typeface="Courier New" pitchFamily="49" charset="0"/>
                <a:cs typeface="Courier New" pitchFamily="49" charset="0"/>
              </a:rPr>
              <a:t>dbo.IncludedColumnsTest</a:t>
            </a:r>
            <a:r>
              <a:rPr lang="en-CA" sz="2000" b="1" dirty="0">
                <a:latin typeface="Courier New" pitchFamily="49" charset="0"/>
                <a:cs typeface="Courier New" pitchFamily="49"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96544525"/>
              </p:ext>
            </p:extLst>
          </p:nvPr>
        </p:nvGraphicFramePr>
        <p:xfrm>
          <a:off x="1219200" y="304800"/>
          <a:ext cx="7772400" cy="558292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40">
                <a:tc>
                  <a:txBody>
                    <a:bodyPr/>
                    <a:lstStyle/>
                    <a:p>
                      <a:pPr algn="ctr"/>
                      <a:r>
                        <a:rPr lang="en-CA" b="1" dirty="0"/>
                        <a:t>QUERY</a:t>
                      </a:r>
                    </a:p>
                  </a:txBody>
                  <a:tcPr/>
                </a:tc>
                <a:tc>
                  <a:txBody>
                    <a:bodyPr/>
                    <a:lstStyle/>
                    <a:p>
                      <a:r>
                        <a:rPr lang="en-CA" b="1" dirty="0"/>
                        <a:t>PAGE READS</a:t>
                      </a:r>
                    </a:p>
                  </a:txBody>
                  <a:tcPr/>
                </a:tc>
                <a:extLst>
                  <a:ext uri="{0D108BD9-81ED-4DB2-BD59-A6C34878D82A}">
                    <a16:rowId xmlns:a16="http://schemas.microsoft.com/office/drawing/2014/main" val="10000"/>
                  </a:ext>
                </a:extLst>
              </a:tr>
              <a:tr h="370840">
                <a:tc>
                  <a:txBody>
                    <a:bodyPr/>
                    <a:lstStyle/>
                    <a:p>
                      <a:r>
                        <a:rPr lang="en-CA" b="1" dirty="0">
                          <a:solidFill>
                            <a:srgbClr val="0000FF"/>
                          </a:solidFill>
                          <a:latin typeface="Courier New" pitchFamily="49" charset="0"/>
                          <a:cs typeface="Courier New" pitchFamily="49" charset="0"/>
                        </a:rPr>
                        <a:t>SELECT</a:t>
                      </a:r>
                      <a:r>
                        <a:rPr lang="en-CA" b="1" dirty="0">
                          <a:latin typeface="Courier New" pitchFamily="49" charset="0"/>
                          <a:cs typeface="Courier New" pitchFamily="49" charset="0"/>
                        </a:rPr>
                        <a:t> o.PKCol, i.Col2</a:t>
                      </a:r>
                      <a:r>
                        <a:rPr lang="en-CA" b="1" baseline="0"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FROM</a:t>
                      </a:r>
                      <a:r>
                        <a:rPr lang="en-CA" b="1" dirty="0">
                          <a:latin typeface="Courier New" pitchFamily="49" charset="0"/>
                          <a:cs typeface="Courier New" pitchFamily="49" charset="0"/>
                        </a:rPr>
                        <a:t> </a:t>
                      </a:r>
                      <a:br>
                        <a:rPr lang="en-CA" b="1" dirty="0">
                          <a:latin typeface="Courier New" pitchFamily="49" charset="0"/>
                          <a:cs typeface="Courier New" pitchFamily="49" charset="0"/>
                        </a:rPr>
                      </a:br>
                      <a:r>
                        <a:rPr lang="en-CA" b="1" dirty="0" err="1">
                          <a:latin typeface="Courier New" pitchFamily="49" charset="0"/>
                          <a:cs typeface="Courier New" pitchFamily="49" charset="0"/>
                        </a:rPr>
                        <a:t>dbo.OtherTable</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o </a:t>
                      </a:r>
                    </a:p>
                    <a:p>
                      <a:r>
                        <a:rPr lang="en-CA" b="1" dirty="0">
                          <a:solidFill>
                            <a:schemeClr val="tx1">
                              <a:lumMod val="50000"/>
                              <a:lumOff val="50000"/>
                            </a:schemeClr>
                          </a:solidFill>
                          <a:latin typeface="Courier New" pitchFamily="49" charset="0"/>
                          <a:cs typeface="Courier New" pitchFamily="49" charset="0"/>
                        </a:rPr>
                        <a:t>INNER JOIN </a:t>
                      </a:r>
                      <a:r>
                        <a:rPr lang="en-CA" b="1" baseline="0" dirty="0" err="1">
                          <a:solidFill>
                            <a:schemeClr val="tx1">
                              <a:lumMod val="50000"/>
                              <a:lumOff val="50000"/>
                            </a:schemeClr>
                          </a:solidFill>
                          <a:latin typeface="Courier New" pitchFamily="49" charset="0"/>
                          <a:cs typeface="Courier New" pitchFamily="49" charset="0"/>
                        </a:rPr>
                        <a:t>dbo</a:t>
                      </a:r>
                      <a:r>
                        <a:rPr lang="en-CA" b="1" dirty="0" err="1">
                          <a:latin typeface="Courier New" pitchFamily="49" charset="0"/>
                          <a:cs typeface="Courier New" pitchFamily="49" charset="0"/>
                        </a:rPr>
                        <a:t>.IncludedColumnsTest</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i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WITH</a:t>
                      </a:r>
                      <a:r>
                        <a:rPr lang="en-CA" b="1" dirty="0">
                          <a:latin typeface="Courier New" pitchFamily="49" charset="0"/>
                          <a:cs typeface="Courier New" pitchFamily="49" charset="0"/>
                        </a:rPr>
                        <a:t>(INDEX(</a:t>
                      </a:r>
                      <a:r>
                        <a:rPr lang="en-CA" b="1" dirty="0">
                          <a:solidFill>
                            <a:srgbClr val="FF0000"/>
                          </a:solidFill>
                          <a:latin typeface="Courier New" pitchFamily="49" charset="0"/>
                          <a:cs typeface="Courier New" pitchFamily="49" charset="0"/>
                        </a:rPr>
                        <a:t>IncludedColumns</a:t>
                      </a:r>
                      <a:r>
                        <a:rPr lang="en-CA" b="1" dirty="0">
                          <a:latin typeface="Courier New" pitchFamily="49" charset="0"/>
                          <a:cs typeface="Courier New" pitchFamily="49" charset="0"/>
                        </a:rPr>
                        <a:t>))</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ON</a:t>
                      </a:r>
                      <a:r>
                        <a:rPr lang="en-CA" b="1" dirty="0">
                          <a:latin typeface="Courier New" pitchFamily="49" charset="0"/>
                          <a:cs typeface="Courier New" pitchFamily="49" charset="0"/>
                        </a:rPr>
                        <a:t> o.Col1 = i.Col1 </a:t>
                      </a:r>
                    </a:p>
                    <a:p>
                      <a:r>
                        <a:rPr lang="en-CA" b="1" dirty="0">
                          <a:solidFill>
                            <a:srgbClr val="0000FF"/>
                          </a:solidFill>
                          <a:latin typeface="Courier New" pitchFamily="49" charset="0"/>
                          <a:cs typeface="Courier New" pitchFamily="49" charset="0"/>
                        </a:rPr>
                        <a:t>WHERE</a:t>
                      </a:r>
                      <a:r>
                        <a:rPr lang="en-CA" b="1" dirty="0">
                          <a:latin typeface="Courier New" pitchFamily="49" charset="0"/>
                          <a:cs typeface="Courier New" pitchFamily="49" charset="0"/>
                        </a:rPr>
                        <a:t> o.PKCol </a:t>
                      </a:r>
                      <a:r>
                        <a:rPr lang="en-CA" b="1" dirty="0">
                          <a:solidFill>
                            <a:schemeClr val="tx1">
                              <a:lumMod val="50000"/>
                              <a:lumOff val="50000"/>
                            </a:schemeClr>
                          </a:solidFill>
                          <a:latin typeface="Courier New" pitchFamily="49" charset="0"/>
                          <a:cs typeface="Courier New" pitchFamily="49" charset="0"/>
                        </a:rPr>
                        <a:t>BETWEEN</a:t>
                      </a:r>
                      <a:r>
                        <a:rPr lang="en-CA" b="1" dirty="0">
                          <a:latin typeface="Courier New" pitchFamily="49" charset="0"/>
                          <a:cs typeface="Courier New" pitchFamily="49" charset="0"/>
                        </a:rPr>
                        <a:t> 1 </a:t>
                      </a:r>
                      <a:r>
                        <a:rPr lang="en-CA" b="1" dirty="0">
                          <a:solidFill>
                            <a:schemeClr val="tx1">
                              <a:lumMod val="50000"/>
                              <a:lumOff val="50000"/>
                            </a:schemeClr>
                          </a:solidFill>
                          <a:latin typeface="Courier New" pitchFamily="49" charset="0"/>
                          <a:cs typeface="Courier New" pitchFamily="49" charset="0"/>
                        </a:rPr>
                        <a:t>AND</a:t>
                      </a:r>
                      <a:r>
                        <a:rPr lang="en-CA" b="1" dirty="0">
                          <a:latin typeface="Courier New" pitchFamily="49" charset="0"/>
                          <a:cs typeface="Courier New" pitchFamily="49" charset="0"/>
                        </a:rPr>
                        <a:t> 10000;</a:t>
                      </a:r>
                    </a:p>
                  </a:txBody>
                  <a:tcPr/>
                </a:tc>
                <a:tc>
                  <a:txBody>
                    <a:bodyPr/>
                    <a:lstStyle/>
                    <a:p>
                      <a:r>
                        <a:rPr lang="en-CA" b="1" dirty="0"/>
                        <a:t>32,726 pages</a:t>
                      </a:r>
                    </a:p>
                  </a:txBody>
                  <a:tcPr/>
                </a:tc>
                <a:extLst>
                  <a:ext uri="{0D108BD9-81ED-4DB2-BD59-A6C34878D82A}">
                    <a16:rowId xmlns:a16="http://schemas.microsoft.com/office/drawing/2014/main" val="10001"/>
                  </a:ext>
                </a:extLst>
              </a:tr>
              <a:tr h="370840">
                <a:tc>
                  <a:txBody>
                    <a:bodyPr/>
                    <a:lstStyle/>
                    <a:p>
                      <a:r>
                        <a:rPr lang="en-CA" b="1" dirty="0">
                          <a:solidFill>
                            <a:srgbClr val="0000FF"/>
                          </a:solidFill>
                          <a:latin typeface="Courier New" pitchFamily="49" charset="0"/>
                          <a:cs typeface="Courier New" pitchFamily="49" charset="0"/>
                        </a:rPr>
                        <a:t>SELECT</a:t>
                      </a:r>
                      <a:r>
                        <a:rPr lang="en-CA" b="1" dirty="0">
                          <a:latin typeface="Courier New" pitchFamily="49" charset="0"/>
                          <a:cs typeface="Courier New" pitchFamily="49" charset="0"/>
                        </a:rPr>
                        <a:t> o.PKCol, i.Col2</a:t>
                      </a:r>
                      <a:r>
                        <a:rPr lang="en-CA" b="1" baseline="0"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FROM</a:t>
                      </a:r>
                      <a:r>
                        <a:rPr lang="en-CA" b="1" dirty="0">
                          <a:latin typeface="Courier New" pitchFamily="49" charset="0"/>
                          <a:cs typeface="Courier New" pitchFamily="49" charset="0"/>
                        </a:rPr>
                        <a:t>  </a:t>
                      </a:r>
                      <a:r>
                        <a:rPr lang="en-CA" b="1" dirty="0" err="1">
                          <a:latin typeface="Courier New" pitchFamily="49" charset="0"/>
                          <a:cs typeface="Courier New" pitchFamily="49" charset="0"/>
                        </a:rPr>
                        <a:t>dbo.OtherTable</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o </a:t>
                      </a:r>
                    </a:p>
                    <a:p>
                      <a:r>
                        <a:rPr lang="en-CA" b="1" dirty="0">
                          <a:solidFill>
                            <a:schemeClr val="tx1">
                              <a:lumMod val="50000"/>
                              <a:lumOff val="50000"/>
                            </a:schemeClr>
                          </a:solidFill>
                          <a:latin typeface="Courier New" pitchFamily="49" charset="0"/>
                          <a:cs typeface="Courier New" pitchFamily="49" charset="0"/>
                        </a:rPr>
                        <a:t>INNER JOIN</a:t>
                      </a:r>
                      <a:r>
                        <a:rPr lang="en-CA" b="1" dirty="0">
                          <a:latin typeface="Courier New" pitchFamily="49" charset="0"/>
                          <a:cs typeface="Courier New" pitchFamily="49" charset="0"/>
                        </a:rPr>
                        <a:t> </a:t>
                      </a:r>
                      <a:r>
                        <a:rPr lang="en-CA" b="1" dirty="0" err="1">
                          <a:latin typeface="Courier New" pitchFamily="49" charset="0"/>
                          <a:cs typeface="Courier New" pitchFamily="49" charset="0"/>
                        </a:rPr>
                        <a:t>dbo.IncludedColumnsTest</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i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WITH</a:t>
                      </a:r>
                      <a:r>
                        <a:rPr lang="en-CA" b="1" dirty="0">
                          <a:latin typeface="Courier New" pitchFamily="49" charset="0"/>
                          <a:cs typeface="Courier New" pitchFamily="49" charset="0"/>
                        </a:rPr>
                        <a:t>(INDEX(</a:t>
                      </a:r>
                      <a:r>
                        <a:rPr lang="en-CA" b="1" dirty="0">
                          <a:solidFill>
                            <a:srgbClr val="FF0000"/>
                          </a:solidFill>
                          <a:latin typeface="Courier New" pitchFamily="49" charset="0"/>
                          <a:cs typeface="Courier New" pitchFamily="49" charset="0"/>
                        </a:rPr>
                        <a:t>NoIncludedColumns</a:t>
                      </a:r>
                      <a:r>
                        <a:rPr lang="en-CA" b="1" dirty="0">
                          <a:latin typeface="Courier New" pitchFamily="49" charset="0"/>
                          <a:cs typeface="Courier New" pitchFamily="49" charset="0"/>
                        </a:rPr>
                        <a:t>))</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ON</a:t>
                      </a:r>
                      <a:r>
                        <a:rPr lang="en-CA" b="1" dirty="0">
                          <a:latin typeface="Courier New" pitchFamily="49" charset="0"/>
                          <a:cs typeface="Courier New" pitchFamily="49" charset="0"/>
                        </a:rPr>
                        <a:t> o.Col1 = i.Col1 </a:t>
                      </a:r>
                    </a:p>
                    <a:p>
                      <a:r>
                        <a:rPr lang="en-CA" b="1" dirty="0">
                          <a:solidFill>
                            <a:srgbClr val="0000FF"/>
                          </a:solidFill>
                          <a:latin typeface="Courier New" pitchFamily="49" charset="0"/>
                          <a:cs typeface="Courier New" pitchFamily="49" charset="0"/>
                        </a:rPr>
                        <a:t>WHERE</a:t>
                      </a:r>
                      <a:r>
                        <a:rPr lang="en-CA" b="1" dirty="0">
                          <a:latin typeface="Courier New" pitchFamily="49" charset="0"/>
                          <a:cs typeface="Courier New" pitchFamily="49" charset="0"/>
                        </a:rPr>
                        <a:t> o.PKCol </a:t>
                      </a:r>
                      <a:r>
                        <a:rPr lang="en-CA" b="1" dirty="0">
                          <a:solidFill>
                            <a:schemeClr val="tx1">
                              <a:lumMod val="50000"/>
                              <a:lumOff val="50000"/>
                            </a:schemeClr>
                          </a:solidFill>
                          <a:latin typeface="Courier New" pitchFamily="49" charset="0"/>
                          <a:cs typeface="Courier New" pitchFamily="49" charset="0"/>
                        </a:rPr>
                        <a:t>BETWEEN</a:t>
                      </a:r>
                      <a:r>
                        <a:rPr lang="en-CA" b="1" dirty="0">
                          <a:latin typeface="Courier New" pitchFamily="49" charset="0"/>
                          <a:cs typeface="Courier New" pitchFamily="49" charset="0"/>
                        </a:rPr>
                        <a:t> 1   </a:t>
                      </a:r>
                      <a:r>
                        <a:rPr lang="en-CA" b="1" dirty="0">
                          <a:solidFill>
                            <a:schemeClr val="tx1">
                              <a:lumMod val="50000"/>
                              <a:lumOff val="50000"/>
                            </a:schemeClr>
                          </a:solidFill>
                          <a:latin typeface="Courier New" pitchFamily="49" charset="0"/>
                          <a:cs typeface="Courier New" pitchFamily="49" charset="0"/>
                        </a:rPr>
                        <a:t>AND</a:t>
                      </a:r>
                      <a:r>
                        <a:rPr lang="en-CA" b="1" dirty="0">
                          <a:latin typeface="Courier New" pitchFamily="49" charset="0"/>
                          <a:cs typeface="Courier New" pitchFamily="49" charset="0"/>
                        </a:rPr>
                        <a:t> 10000;</a:t>
                      </a:r>
                    </a:p>
                  </a:txBody>
                  <a:tcPr/>
                </a:tc>
                <a:tc>
                  <a:txBody>
                    <a:bodyPr/>
                    <a:lstStyle/>
                    <a:p>
                      <a:r>
                        <a:rPr lang="en-CA" b="1" dirty="0"/>
                        <a:t>53,994 pages</a:t>
                      </a:r>
                    </a:p>
                  </a:txBody>
                  <a:tcPr/>
                </a:tc>
                <a:extLst>
                  <a:ext uri="{0D108BD9-81ED-4DB2-BD59-A6C34878D82A}">
                    <a16:rowId xmlns:a16="http://schemas.microsoft.com/office/drawing/2014/main" val="10002"/>
                  </a:ext>
                </a:extLst>
              </a:tr>
              <a:tr h="370840">
                <a:tc>
                  <a:txBody>
                    <a:bodyPr/>
                    <a:lstStyle/>
                    <a:p>
                      <a:r>
                        <a:rPr lang="en-CA" b="1" dirty="0">
                          <a:solidFill>
                            <a:srgbClr val="0000FF"/>
                          </a:solidFill>
                          <a:latin typeface="Courier New" pitchFamily="49" charset="0"/>
                          <a:cs typeface="Courier New" pitchFamily="49" charset="0"/>
                        </a:rPr>
                        <a:t>SELECT</a:t>
                      </a:r>
                      <a:r>
                        <a:rPr lang="en-CA" b="1" dirty="0">
                          <a:latin typeface="Courier New" pitchFamily="49" charset="0"/>
                          <a:cs typeface="Courier New" pitchFamily="49" charset="0"/>
                        </a:rPr>
                        <a:t> o.PKCol, i.Col2</a:t>
                      </a:r>
                      <a:r>
                        <a:rPr lang="en-CA" b="1" baseline="0"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FROM</a:t>
                      </a:r>
                      <a:r>
                        <a:rPr lang="en-CA" b="1" dirty="0">
                          <a:latin typeface="Courier New" pitchFamily="49" charset="0"/>
                          <a:cs typeface="Courier New" pitchFamily="49" charset="0"/>
                        </a:rPr>
                        <a:t>  </a:t>
                      </a:r>
                      <a:r>
                        <a:rPr lang="en-CA" b="1" dirty="0" err="1">
                          <a:latin typeface="Courier New" pitchFamily="49" charset="0"/>
                          <a:cs typeface="Courier New" pitchFamily="49" charset="0"/>
                        </a:rPr>
                        <a:t>dbo.OtherTable</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o </a:t>
                      </a:r>
                    </a:p>
                    <a:p>
                      <a:r>
                        <a:rPr lang="en-CA" b="1" dirty="0">
                          <a:solidFill>
                            <a:schemeClr val="tx1">
                              <a:lumMod val="50000"/>
                              <a:lumOff val="50000"/>
                            </a:schemeClr>
                          </a:solidFill>
                          <a:latin typeface="Courier New" pitchFamily="49" charset="0"/>
                          <a:cs typeface="Courier New" pitchFamily="49" charset="0"/>
                        </a:rPr>
                        <a:t>INNER JOIN </a:t>
                      </a:r>
                      <a:r>
                        <a:rPr lang="en-CA" b="1" dirty="0" err="1">
                          <a:solidFill>
                            <a:schemeClr val="tx1">
                              <a:lumMod val="50000"/>
                              <a:lumOff val="50000"/>
                            </a:schemeClr>
                          </a:solidFill>
                          <a:latin typeface="Courier New" pitchFamily="49" charset="0"/>
                          <a:cs typeface="Courier New" pitchFamily="49" charset="0"/>
                        </a:rPr>
                        <a:t>dbo</a:t>
                      </a:r>
                      <a:r>
                        <a:rPr lang="en-CA" b="1" dirty="0" err="1">
                          <a:latin typeface="Courier New" pitchFamily="49" charset="0"/>
                          <a:cs typeface="Courier New" pitchFamily="49" charset="0"/>
                        </a:rPr>
                        <a:t>.IncludedColumnsTest</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i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WITH</a:t>
                      </a:r>
                      <a:r>
                        <a:rPr lang="en-CA" b="1" dirty="0">
                          <a:latin typeface="Courier New" pitchFamily="49" charset="0"/>
                          <a:cs typeface="Courier New" pitchFamily="49" charset="0"/>
                        </a:rPr>
                        <a:t>(INDEX(</a:t>
                      </a:r>
                      <a:r>
                        <a:rPr lang="en-CA" b="1" dirty="0">
                          <a:solidFill>
                            <a:srgbClr val="FF0000"/>
                          </a:solidFill>
                          <a:latin typeface="Courier New" pitchFamily="49" charset="0"/>
                          <a:cs typeface="Courier New" pitchFamily="49" charset="0"/>
                        </a:rPr>
                        <a:t>NotCovered</a:t>
                      </a:r>
                      <a:r>
                        <a:rPr lang="en-CA" b="1" dirty="0">
                          <a:latin typeface="Courier New" pitchFamily="49" charset="0"/>
                          <a:cs typeface="Courier New" pitchFamily="49" charset="0"/>
                        </a:rPr>
                        <a:t>))</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ON</a:t>
                      </a:r>
                      <a:r>
                        <a:rPr lang="en-CA" b="1" dirty="0">
                          <a:latin typeface="Courier New" pitchFamily="49" charset="0"/>
                          <a:cs typeface="Courier New" pitchFamily="49" charset="0"/>
                        </a:rPr>
                        <a:t> o.Col1 = i.Col1 </a:t>
                      </a:r>
                    </a:p>
                    <a:p>
                      <a:r>
                        <a:rPr lang="en-CA" b="1" dirty="0">
                          <a:solidFill>
                            <a:srgbClr val="0000FF"/>
                          </a:solidFill>
                          <a:latin typeface="Courier New" pitchFamily="49" charset="0"/>
                          <a:cs typeface="Courier New" pitchFamily="49" charset="0"/>
                        </a:rPr>
                        <a:t>WHERE</a:t>
                      </a:r>
                      <a:r>
                        <a:rPr lang="en-CA" b="1" dirty="0">
                          <a:latin typeface="Courier New" pitchFamily="49" charset="0"/>
                          <a:cs typeface="Courier New" pitchFamily="49" charset="0"/>
                        </a:rPr>
                        <a:t> o.PKCol </a:t>
                      </a:r>
                      <a:r>
                        <a:rPr lang="en-CA" b="1" dirty="0">
                          <a:solidFill>
                            <a:schemeClr val="tx1">
                              <a:lumMod val="50000"/>
                              <a:lumOff val="50000"/>
                            </a:schemeClr>
                          </a:solidFill>
                          <a:latin typeface="Courier New" pitchFamily="49" charset="0"/>
                          <a:cs typeface="Courier New" pitchFamily="49" charset="0"/>
                        </a:rPr>
                        <a:t>BETWEEN</a:t>
                      </a:r>
                      <a:r>
                        <a:rPr lang="en-CA" b="1" dirty="0">
                          <a:latin typeface="Courier New" pitchFamily="49" charset="0"/>
                          <a:cs typeface="Courier New" pitchFamily="49" charset="0"/>
                        </a:rPr>
                        <a:t> 1  </a:t>
                      </a:r>
                      <a:r>
                        <a:rPr lang="en-CA" b="1" dirty="0">
                          <a:solidFill>
                            <a:schemeClr val="tx1">
                              <a:lumMod val="50000"/>
                              <a:lumOff val="50000"/>
                            </a:schemeClr>
                          </a:solidFill>
                          <a:latin typeface="Courier New" pitchFamily="49" charset="0"/>
                          <a:cs typeface="Courier New" pitchFamily="49" charset="0"/>
                        </a:rPr>
                        <a:t>AND</a:t>
                      </a:r>
                      <a:r>
                        <a:rPr lang="en-CA" b="1" dirty="0">
                          <a:latin typeface="Courier New" pitchFamily="49" charset="0"/>
                          <a:cs typeface="Courier New" pitchFamily="49" charset="0"/>
                        </a:rPr>
                        <a:t> 10000;</a:t>
                      </a:r>
                    </a:p>
                  </a:txBody>
                  <a:tcPr/>
                </a:tc>
                <a:tc>
                  <a:txBody>
                    <a:bodyPr/>
                    <a:lstStyle/>
                    <a:p>
                      <a:r>
                        <a:rPr lang="en-CA" b="1" dirty="0"/>
                        <a:t>62,900 pages</a:t>
                      </a:r>
                    </a:p>
                  </a:txBody>
                  <a:tcPr/>
                </a:tc>
                <a:extLst>
                  <a:ext uri="{0D108BD9-81ED-4DB2-BD59-A6C34878D82A}">
                    <a16:rowId xmlns:a16="http://schemas.microsoft.com/office/drawing/2014/main" val="10003"/>
                  </a:ext>
                </a:extLst>
              </a:tr>
            </a:tbl>
          </a:graphicData>
        </a:graphic>
      </p:graphicFrame>
      <p:sp>
        <p:nvSpPr>
          <p:cNvPr id="6" name="Rectangle 5"/>
          <p:cNvSpPr/>
          <p:nvPr/>
        </p:nvSpPr>
        <p:spPr>
          <a:xfrm>
            <a:off x="1066800" y="6019800"/>
            <a:ext cx="7924800" cy="609600"/>
          </a:xfrm>
          <a:prstGeom prst="rect">
            <a:avLst/>
          </a:prstGeom>
          <a:solidFill>
            <a:srgbClr val="C000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Index hints </a:t>
            </a:r>
            <a:r>
              <a:rPr lang="en-US" b="1" dirty="0">
                <a:latin typeface="Courier New" pitchFamily="49" charset="0"/>
                <a:cs typeface="Courier New" pitchFamily="49" charset="0"/>
              </a:rPr>
              <a:t>WITH</a:t>
            </a:r>
            <a:r>
              <a:rPr lang="en-US" dirty="0"/>
              <a:t> is used to force SQL Server to use the specified index instead of the optimal index (IncludedColumns )</a:t>
            </a:r>
            <a:endParaRPr lang="en-CA"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pPr algn="ctr"/>
            <a:r>
              <a:rPr lang="en-CA" dirty="0"/>
              <a:t>Using Clustered Indexes</a:t>
            </a:r>
          </a:p>
        </p:txBody>
      </p:sp>
      <p:sp>
        <p:nvSpPr>
          <p:cNvPr id="3" name="Content Placeholder 2"/>
          <p:cNvSpPr>
            <a:spLocks noGrp="1"/>
          </p:cNvSpPr>
          <p:nvPr>
            <p:ph idx="1"/>
          </p:nvPr>
        </p:nvSpPr>
        <p:spPr>
          <a:xfrm>
            <a:off x="1143000" y="1143000"/>
            <a:ext cx="7790688" cy="5562600"/>
          </a:xfrm>
        </p:spPr>
        <p:txBody>
          <a:bodyPr>
            <a:normAutofit lnSpcReduction="10000"/>
          </a:bodyPr>
          <a:lstStyle/>
          <a:p>
            <a:r>
              <a:rPr lang="en-US" dirty="0"/>
              <a:t>A </a:t>
            </a:r>
            <a:r>
              <a:rPr lang="en-US" dirty="0">
                <a:solidFill>
                  <a:srgbClr val="0070C0"/>
                </a:solidFill>
              </a:rPr>
              <a:t>clustered index </a:t>
            </a:r>
            <a:r>
              <a:rPr lang="en-US" dirty="0"/>
              <a:t>should generally be defined on columns that are often queried and typically return a lot of data</a:t>
            </a:r>
            <a:br>
              <a:rPr lang="en-US" dirty="0"/>
            </a:br>
            <a:endParaRPr lang="en-US" dirty="0"/>
          </a:p>
          <a:p>
            <a:r>
              <a:rPr lang="en-US" dirty="0">
                <a:solidFill>
                  <a:srgbClr val="0070C0"/>
                </a:solidFill>
              </a:rPr>
              <a:t>Key</a:t>
            </a:r>
            <a:r>
              <a:rPr lang="en-US" dirty="0"/>
              <a:t> size of the clustered index should be as </a:t>
            </a:r>
            <a:r>
              <a:rPr lang="en-US" i="1" dirty="0">
                <a:solidFill>
                  <a:schemeClr val="tx1">
                    <a:lumMod val="50000"/>
                    <a:lumOff val="50000"/>
                  </a:schemeClr>
                </a:solidFill>
              </a:rPr>
              <a:t>small</a:t>
            </a:r>
            <a:r>
              <a:rPr lang="en-US" dirty="0">
                <a:solidFill>
                  <a:schemeClr val="tx1">
                    <a:lumMod val="50000"/>
                    <a:lumOff val="50000"/>
                  </a:schemeClr>
                </a:solidFill>
              </a:rPr>
              <a:t> </a:t>
            </a:r>
            <a:r>
              <a:rPr lang="en-US" dirty="0"/>
              <a:t>as possible</a:t>
            </a:r>
            <a:br>
              <a:rPr lang="en-US" dirty="0"/>
            </a:br>
            <a:endParaRPr lang="en-US" dirty="0"/>
          </a:p>
          <a:p>
            <a:r>
              <a:rPr lang="en-US" dirty="0"/>
              <a:t>If a </a:t>
            </a:r>
            <a:r>
              <a:rPr lang="en-US" dirty="0">
                <a:solidFill>
                  <a:srgbClr val="0070C0"/>
                </a:solidFill>
              </a:rPr>
              <a:t>clustered</a:t>
            </a:r>
            <a:r>
              <a:rPr lang="en-US" dirty="0"/>
              <a:t> index exists on a table, all </a:t>
            </a:r>
            <a:r>
              <a:rPr lang="en-US" dirty="0">
                <a:solidFill>
                  <a:srgbClr val="0070C0"/>
                </a:solidFill>
              </a:rPr>
              <a:t>nonclustered</a:t>
            </a:r>
            <a:r>
              <a:rPr lang="en-US" dirty="0"/>
              <a:t> indexes on that table use the key of the clustered index as the row pointer from the nonclustered index to the table</a:t>
            </a:r>
            <a:endParaRPr lang="en-CA"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a:bodyPr>
          <a:lstStyle/>
          <a:p>
            <a:pPr algn="ctr"/>
            <a:r>
              <a:rPr lang="en-US" dirty="0"/>
              <a:t>Read vs. Write Performance</a:t>
            </a:r>
            <a:endParaRPr lang="en-CA" dirty="0"/>
          </a:p>
        </p:txBody>
      </p:sp>
      <p:sp>
        <p:nvSpPr>
          <p:cNvPr id="3" name="Content Placeholder 2"/>
          <p:cNvSpPr>
            <a:spLocks noGrp="1"/>
          </p:cNvSpPr>
          <p:nvPr>
            <p:ph idx="1"/>
          </p:nvPr>
        </p:nvSpPr>
        <p:spPr>
          <a:xfrm>
            <a:off x="1066800" y="1447800"/>
            <a:ext cx="7866888" cy="4800600"/>
          </a:xfrm>
        </p:spPr>
        <p:txBody>
          <a:bodyPr/>
          <a:lstStyle/>
          <a:p>
            <a:r>
              <a:rPr lang="en-US" dirty="0"/>
              <a:t>Indexes only increase the read performance.</a:t>
            </a:r>
            <a:br>
              <a:rPr lang="en-US" dirty="0"/>
            </a:br>
            <a:endParaRPr lang="en-US" dirty="0"/>
          </a:p>
          <a:p>
            <a:r>
              <a:rPr lang="en-US" dirty="0"/>
              <a:t>Write performance is degraded because the indexes must be kept up-to-date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Computed Columns</a:t>
            </a:r>
            <a:endParaRPr lang="en-CA" dirty="0"/>
          </a:p>
        </p:txBody>
      </p:sp>
      <p:sp>
        <p:nvSpPr>
          <p:cNvPr id="3" name="Content Placeholder 2"/>
          <p:cNvSpPr>
            <a:spLocks noGrp="1"/>
          </p:cNvSpPr>
          <p:nvPr>
            <p:ph idx="1"/>
          </p:nvPr>
        </p:nvSpPr>
        <p:spPr>
          <a:xfrm>
            <a:off x="1435608" y="1447800"/>
            <a:ext cx="7498080" cy="1295400"/>
          </a:xfrm>
        </p:spPr>
        <p:txBody>
          <a:bodyPr/>
          <a:lstStyle/>
          <a:p>
            <a:r>
              <a:rPr lang="en-US" dirty="0"/>
              <a:t>Index on computed columns can increase query performance </a:t>
            </a:r>
            <a:endParaRPr lang="en-CA" dirty="0"/>
          </a:p>
        </p:txBody>
      </p:sp>
      <p:sp>
        <p:nvSpPr>
          <p:cNvPr id="4" name="Rectangle 3"/>
          <p:cNvSpPr/>
          <p:nvPr/>
        </p:nvSpPr>
        <p:spPr>
          <a:xfrm>
            <a:off x="1524000" y="2743200"/>
            <a:ext cx="7315200" cy="646331"/>
          </a:xfrm>
          <a:prstGeom prst="rect">
            <a:avLst/>
          </a:prstGeom>
        </p:spPr>
        <p:txBody>
          <a:bodyPr wrap="square">
            <a:spAutoFit/>
          </a:bodyPr>
          <a:lstStyle/>
          <a:p>
            <a:r>
              <a:rPr lang="en-US" b="1" dirty="0">
                <a:solidFill>
                  <a:srgbClr val="0000FF"/>
                </a:solidFill>
                <a:latin typeface="Courier New" pitchFamily="49" charset="0"/>
                <a:cs typeface="Courier New" pitchFamily="49" charset="0"/>
              </a:rPr>
              <a:t>SELECT</a:t>
            </a:r>
            <a:r>
              <a:rPr lang="en-US" b="1" dirty="0">
                <a:latin typeface="Courier New" pitchFamily="49" charset="0"/>
                <a:cs typeface="Courier New" pitchFamily="49" charset="0"/>
              </a:rPr>
              <a:t>  </a:t>
            </a:r>
            <a:r>
              <a:rPr lang="en-US" b="1" dirty="0">
                <a:solidFill>
                  <a:srgbClr val="FF66CC"/>
                </a:solidFill>
                <a:latin typeface="Courier New" pitchFamily="49" charset="0"/>
                <a:cs typeface="Courier New" pitchFamily="49" charset="0"/>
              </a:rPr>
              <a:t>COUNT</a:t>
            </a: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FROM</a:t>
            </a:r>
            <a:r>
              <a:rPr lang="en-US" b="1" dirty="0">
                <a:latin typeface="Courier New" pitchFamily="49" charset="0"/>
                <a:cs typeface="Courier New" pitchFamily="49" charset="0"/>
              </a:rPr>
              <a:t> Sales.SalesOrderHeader </a:t>
            </a:r>
          </a:p>
          <a:p>
            <a:r>
              <a:rPr lang="en-US" b="1" dirty="0">
                <a:solidFill>
                  <a:srgbClr val="0000FF"/>
                </a:solidFill>
                <a:latin typeface="Courier New" pitchFamily="49" charset="0"/>
                <a:cs typeface="Courier New" pitchFamily="49" charset="0"/>
              </a:rPr>
              <a:t>WHERE</a:t>
            </a:r>
            <a:r>
              <a:rPr lang="en-US" b="1" dirty="0">
                <a:latin typeface="Courier New" pitchFamily="49" charset="0"/>
                <a:cs typeface="Courier New" pitchFamily="49" charset="0"/>
              </a:rPr>
              <a:t> </a:t>
            </a:r>
            <a:r>
              <a:rPr lang="en-US" b="1" dirty="0">
                <a:solidFill>
                  <a:srgbClr val="FF66CC"/>
                </a:solidFill>
                <a:latin typeface="Courier New" pitchFamily="49" charset="0"/>
                <a:cs typeface="Courier New" pitchFamily="49" charset="0"/>
              </a:rPr>
              <a:t>MONTH</a:t>
            </a:r>
            <a:r>
              <a:rPr lang="en-US" b="1" dirty="0">
                <a:latin typeface="Courier New" pitchFamily="49" charset="0"/>
                <a:cs typeface="Courier New" pitchFamily="49" charset="0"/>
              </a:rPr>
              <a:t>(OrderDate) = 5;</a:t>
            </a:r>
            <a:endParaRPr lang="en-CA" b="1" dirty="0">
              <a:latin typeface="Courier New" pitchFamily="49" charset="0"/>
              <a:cs typeface="Courier New" pitchFamily="49" charset="0"/>
            </a:endParaRPr>
          </a:p>
        </p:txBody>
      </p:sp>
      <p:pic>
        <p:nvPicPr>
          <p:cNvPr id="5" name="Picture 4" descr="Untitled-1.jpg"/>
          <p:cNvPicPr>
            <a:picLocks noChangeAspect="1"/>
          </p:cNvPicPr>
          <p:nvPr/>
        </p:nvPicPr>
        <p:blipFill>
          <a:blip r:embed="rId2" cstate="print"/>
          <a:stretch>
            <a:fillRect/>
          </a:stretch>
        </p:blipFill>
        <p:spPr>
          <a:xfrm>
            <a:off x="1066800" y="3962400"/>
            <a:ext cx="7924800" cy="2514600"/>
          </a:xfrm>
          <a:prstGeom prst="rect">
            <a:avLst/>
          </a:prstGeom>
        </p:spPr>
      </p:pic>
      <p:sp>
        <p:nvSpPr>
          <p:cNvPr id="7" name="Up Arrow 6"/>
          <p:cNvSpPr/>
          <p:nvPr/>
        </p:nvSpPr>
        <p:spPr>
          <a:xfrm>
            <a:off x="6629400" y="5791200"/>
            <a:ext cx="1828800" cy="762000"/>
          </a:xfrm>
          <a:prstGeom prst="up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SCAN</a:t>
            </a:r>
            <a:endParaRPr lang="en-CA" dirty="0"/>
          </a:p>
        </p:txBody>
      </p:sp>
      <p:sp>
        <p:nvSpPr>
          <p:cNvPr id="8" name="Left Arrow 7"/>
          <p:cNvSpPr/>
          <p:nvPr/>
        </p:nvSpPr>
        <p:spPr>
          <a:xfrm>
            <a:off x="6019800" y="3048000"/>
            <a:ext cx="1981200" cy="533400"/>
          </a:xfrm>
          <a:prstGeom prst="lef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 of function</a:t>
            </a:r>
            <a:endParaRPr lang="en-CA"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19200" y="914400"/>
            <a:ext cx="7543800" cy="3693319"/>
          </a:xfrm>
          <a:prstGeom prst="rect">
            <a:avLst/>
          </a:prstGeom>
        </p:spPr>
        <p:txBody>
          <a:bodyPr wrap="square">
            <a:spAutoFit/>
          </a:bodyPr>
          <a:lstStyle/>
          <a:p>
            <a:r>
              <a:rPr lang="en-US" b="1" dirty="0">
                <a:solidFill>
                  <a:srgbClr val="00B050"/>
                </a:solidFill>
                <a:latin typeface="Courier New" pitchFamily="49" charset="0"/>
                <a:cs typeface="Courier New" pitchFamily="49" charset="0"/>
              </a:rPr>
              <a:t>--Adding a computed column and nonclustered index</a:t>
            </a:r>
            <a:endParaRPr lang="en-CA" b="1" dirty="0">
              <a:solidFill>
                <a:srgbClr val="00B050"/>
              </a:solidFill>
              <a:latin typeface="Courier New" pitchFamily="49" charset="0"/>
              <a:cs typeface="Courier New" pitchFamily="49" charset="0"/>
            </a:endParaRPr>
          </a:p>
          <a:p>
            <a:endParaRPr lang="en-CA" b="1" dirty="0">
              <a:latin typeface="Courier New" pitchFamily="49" charset="0"/>
              <a:cs typeface="Courier New" pitchFamily="49" charset="0"/>
            </a:endParaRPr>
          </a:p>
          <a:p>
            <a:r>
              <a:rPr lang="en-CA" b="1" dirty="0">
                <a:solidFill>
                  <a:srgbClr val="0000FF"/>
                </a:solidFill>
                <a:latin typeface="Courier New" pitchFamily="49" charset="0"/>
                <a:cs typeface="Courier New" pitchFamily="49" charset="0"/>
              </a:rPr>
              <a:t>ALTER</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TABLE</a:t>
            </a:r>
            <a:r>
              <a:rPr lang="en-CA" b="1" dirty="0">
                <a:latin typeface="Courier New" pitchFamily="49" charset="0"/>
                <a:cs typeface="Courier New" pitchFamily="49" charset="0"/>
              </a:rPr>
              <a:t> Sales.SalesOrderHeader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ADD</a:t>
            </a:r>
            <a:r>
              <a:rPr lang="en-CA" b="1" dirty="0">
                <a:latin typeface="Courier New" pitchFamily="49" charset="0"/>
                <a:cs typeface="Courier New" pitchFamily="49" charset="0"/>
              </a:rPr>
              <a:t> OrderMonth </a:t>
            </a:r>
            <a:r>
              <a:rPr lang="en-CA" b="1" dirty="0">
                <a:solidFill>
                  <a:srgbClr val="0000FF"/>
                </a:solidFill>
                <a:latin typeface="Courier New" pitchFamily="49" charset="0"/>
                <a:cs typeface="Courier New" pitchFamily="49" charset="0"/>
              </a:rPr>
              <a:t>AS</a:t>
            </a:r>
            <a:r>
              <a:rPr lang="en-CA" b="1" dirty="0">
                <a:latin typeface="Courier New" pitchFamily="49" charset="0"/>
                <a:cs typeface="Courier New" pitchFamily="49" charset="0"/>
              </a:rPr>
              <a:t> </a:t>
            </a:r>
            <a:r>
              <a:rPr lang="en-CA" b="1" dirty="0">
                <a:solidFill>
                  <a:srgbClr val="FF66CC"/>
                </a:solidFill>
                <a:latin typeface="Courier New" pitchFamily="49" charset="0"/>
                <a:cs typeface="Courier New" pitchFamily="49" charset="0"/>
              </a:rPr>
              <a:t>MONTH</a:t>
            </a:r>
            <a:r>
              <a:rPr lang="en-CA" b="1" dirty="0">
                <a:latin typeface="Courier New" pitchFamily="49" charset="0"/>
                <a:cs typeface="Courier New" pitchFamily="49" charset="0"/>
              </a:rPr>
              <a:t>(OrderDate);  </a:t>
            </a:r>
          </a:p>
          <a:p>
            <a:r>
              <a:rPr lang="en-CA" b="1" dirty="0">
                <a:solidFill>
                  <a:srgbClr val="0000FF"/>
                </a:solidFill>
                <a:latin typeface="Courier New" pitchFamily="49" charset="0"/>
                <a:cs typeface="Courier New" pitchFamily="49" charset="0"/>
              </a:rPr>
              <a:t>GO    </a:t>
            </a:r>
          </a:p>
          <a:p>
            <a:r>
              <a:rPr lang="en-CA" b="1" dirty="0">
                <a:solidFill>
                  <a:srgbClr val="0000FF"/>
                </a:solidFill>
                <a:latin typeface="Courier New" pitchFamily="49" charset="0"/>
                <a:cs typeface="Courier New" pitchFamily="49" charset="0"/>
              </a:rPr>
              <a:t>CREATE</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NONCLUSTERED</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INDEX</a:t>
            </a:r>
            <a:r>
              <a:rPr lang="en-CA" b="1" dirty="0">
                <a:latin typeface="Courier New" pitchFamily="49" charset="0"/>
                <a:cs typeface="Courier New" pitchFamily="49" charset="0"/>
              </a:rPr>
              <a:t> OrderMonthIndex  </a:t>
            </a:r>
          </a:p>
          <a:p>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ON</a:t>
            </a:r>
            <a:r>
              <a:rPr lang="en-CA" b="1" dirty="0">
                <a:latin typeface="Courier New" pitchFamily="49" charset="0"/>
                <a:cs typeface="Courier New" pitchFamily="49" charset="0"/>
              </a:rPr>
              <a:t> Sales.SalesOrderHeader (OrderMonth);</a:t>
            </a:r>
          </a:p>
          <a:p>
            <a:r>
              <a:rPr lang="en-US" b="1" dirty="0">
                <a:solidFill>
                  <a:srgbClr val="0000FF"/>
                </a:solidFill>
                <a:latin typeface="Courier New" pitchFamily="49" charset="0"/>
                <a:cs typeface="Courier New" pitchFamily="49" charset="0"/>
              </a:rPr>
              <a:t>GO</a:t>
            </a:r>
            <a:endParaRPr lang="en-CA" b="1" dirty="0">
              <a:solidFill>
                <a:srgbClr val="0000FF"/>
              </a:solidFill>
              <a:latin typeface="Courier New" pitchFamily="49" charset="0"/>
              <a:cs typeface="Courier New" pitchFamily="49" charset="0"/>
            </a:endParaRPr>
          </a:p>
          <a:p>
            <a:r>
              <a:rPr lang="en-CA" b="1" dirty="0">
                <a:solidFill>
                  <a:srgbClr val="0000FF"/>
                </a:solidFill>
                <a:latin typeface="Courier New" pitchFamily="49" charset="0"/>
                <a:cs typeface="Courier New" pitchFamily="49" charset="0"/>
              </a:rPr>
              <a:t>SELECT  </a:t>
            </a:r>
          </a:p>
          <a:p>
            <a:r>
              <a:rPr lang="en-CA" b="1" dirty="0">
                <a:latin typeface="Courier New" pitchFamily="49" charset="0"/>
                <a:cs typeface="Courier New" pitchFamily="49" charset="0"/>
              </a:rPr>
              <a:t>   </a:t>
            </a:r>
            <a:r>
              <a:rPr lang="en-CA" b="1" dirty="0">
                <a:solidFill>
                  <a:srgbClr val="FF66CC"/>
                </a:solidFill>
                <a:latin typeface="Courier New" pitchFamily="49" charset="0"/>
                <a:cs typeface="Courier New" pitchFamily="49" charset="0"/>
              </a:rPr>
              <a:t>COUNT</a:t>
            </a:r>
            <a:r>
              <a:rPr lang="en-CA" b="1" dirty="0">
                <a:latin typeface="Courier New" pitchFamily="49" charset="0"/>
                <a:cs typeface="Courier New" pitchFamily="49" charset="0"/>
              </a:rPr>
              <a:t>(*) </a:t>
            </a:r>
            <a:r>
              <a:rPr lang="en-CA" b="1" dirty="0">
                <a:solidFill>
                  <a:srgbClr val="0000FF"/>
                </a:solidFill>
                <a:latin typeface="Courier New" pitchFamily="49" charset="0"/>
                <a:cs typeface="Courier New" pitchFamily="49" charset="0"/>
              </a:rPr>
              <a:t>FROM</a:t>
            </a:r>
            <a:r>
              <a:rPr lang="en-CA" b="1" dirty="0">
                <a:latin typeface="Courier New" pitchFamily="49" charset="0"/>
                <a:cs typeface="Courier New" pitchFamily="49" charset="0"/>
              </a:rPr>
              <a:t> Sales.SalesOrderHeader </a:t>
            </a:r>
          </a:p>
          <a:p>
            <a:r>
              <a:rPr lang="en-CA" b="1" dirty="0">
                <a:solidFill>
                  <a:srgbClr val="0000FF"/>
                </a:solidFill>
                <a:latin typeface="Courier New" pitchFamily="49" charset="0"/>
                <a:cs typeface="Courier New" pitchFamily="49" charset="0"/>
              </a:rPr>
              <a:t>WHERE</a:t>
            </a:r>
            <a:r>
              <a:rPr lang="en-CA" b="1" dirty="0">
                <a:latin typeface="Courier New" pitchFamily="49" charset="0"/>
                <a:cs typeface="Courier New" pitchFamily="49" charset="0"/>
              </a:rPr>
              <a:t> </a:t>
            </a:r>
            <a:r>
              <a:rPr lang="en-CA" b="1" dirty="0">
                <a:solidFill>
                  <a:srgbClr val="FF66CC"/>
                </a:solidFill>
                <a:latin typeface="Courier New" pitchFamily="49" charset="0"/>
                <a:cs typeface="Courier New" pitchFamily="49" charset="0"/>
              </a:rPr>
              <a:t>MONTH</a:t>
            </a:r>
            <a:r>
              <a:rPr lang="en-CA" b="1" dirty="0">
                <a:latin typeface="Courier New" pitchFamily="49" charset="0"/>
                <a:cs typeface="Courier New" pitchFamily="49" charset="0"/>
              </a:rPr>
              <a:t>(OrderDate) = 5;</a:t>
            </a:r>
          </a:p>
          <a:p>
            <a:endParaRPr lang="en-CA" b="1" dirty="0">
              <a:latin typeface="Courier New" pitchFamily="49" charset="0"/>
              <a:cs typeface="Courier New" pitchFamily="49" charset="0"/>
            </a:endParaRPr>
          </a:p>
          <a:p>
            <a:r>
              <a:rPr lang="en-CA" b="1" dirty="0">
                <a:latin typeface="Courier New" pitchFamily="49" charset="0"/>
                <a:cs typeface="Courier New" pitchFamily="49" charset="0"/>
              </a:rPr>
              <a:t> </a:t>
            </a:r>
          </a:p>
        </p:txBody>
      </p:sp>
      <p:pic>
        <p:nvPicPr>
          <p:cNvPr id="6" name="Picture 5" descr="Untitled-1.jpg"/>
          <p:cNvPicPr>
            <a:picLocks noChangeAspect="1"/>
          </p:cNvPicPr>
          <p:nvPr/>
        </p:nvPicPr>
        <p:blipFill>
          <a:blip r:embed="rId2" cstate="print"/>
          <a:stretch>
            <a:fillRect/>
          </a:stretch>
        </p:blipFill>
        <p:spPr>
          <a:xfrm>
            <a:off x="1143000" y="4191000"/>
            <a:ext cx="7658100" cy="2081002"/>
          </a:xfrm>
          <a:prstGeom prst="rect">
            <a:avLst/>
          </a:prstGeom>
        </p:spPr>
      </p:pic>
      <p:sp>
        <p:nvSpPr>
          <p:cNvPr id="7" name="Up Arrow 6"/>
          <p:cNvSpPr/>
          <p:nvPr/>
        </p:nvSpPr>
        <p:spPr>
          <a:xfrm>
            <a:off x="6553200" y="5715000"/>
            <a:ext cx="1943100" cy="685800"/>
          </a:xfrm>
          <a:prstGeom prst="up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SEEK</a:t>
            </a:r>
            <a:endParaRPr lang="en-CA"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498080" cy="1066800"/>
          </a:xfrm>
        </p:spPr>
        <p:txBody>
          <a:bodyPr/>
          <a:lstStyle/>
          <a:p>
            <a:pPr algn="ctr"/>
            <a:r>
              <a:rPr lang="en-CA" dirty="0"/>
              <a:t>Indexed Views </a:t>
            </a:r>
          </a:p>
        </p:txBody>
      </p:sp>
      <p:sp>
        <p:nvSpPr>
          <p:cNvPr id="3" name="Content Placeholder 2"/>
          <p:cNvSpPr>
            <a:spLocks noGrp="1"/>
          </p:cNvSpPr>
          <p:nvPr>
            <p:ph idx="1"/>
          </p:nvPr>
        </p:nvSpPr>
        <p:spPr>
          <a:xfrm>
            <a:off x="1066800" y="1295400"/>
            <a:ext cx="8001000" cy="5562600"/>
          </a:xfrm>
        </p:spPr>
        <p:txBody>
          <a:bodyPr>
            <a:normAutofit/>
          </a:bodyPr>
          <a:lstStyle/>
          <a:p>
            <a:r>
              <a:rPr lang="en-CA" dirty="0"/>
              <a:t>Requirements for indexing views:</a:t>
            </a:r>
          </a:p>
          <a:p>
            <a:pPr lvl="1"/>
            <a:r>
              <a:rPr lang="en-US" dirty="0"/>
              <a:t>The view must not reference any other views, only base tables</a:t>
            </a:r>
          </a:p>
          <a:p>
            <a:pPr lvl="1"/>
            <a:r>
              <a:rPr lang="en-US" dirty="0"/>
              <a:t>All base tables referenced by the view must be in the same database as the view and have the same owner as the view</a:t>
            </a:r>
          </a:p>
          <a:p>
            <a:pPr lvl="1"/>
            <a:r>
              <a:rPr lang="en-US" dirty="0"/>
              <a:t>The view and </a:t>
            </a:r>
            <a:r>
              <a:rPr lang="en-US" dirty="0">
                <a:solidFill>
                  <a:srgbClr val="0070C0"/>
                </a:solidFill>
              </a:rPr>
              <a:t>UDFs</a:t>
            </a:r>
            <a:r>
              <a:rPr lang="en-US" dirty="0"/>
              <a:t> used within it must be created with the </a:t>
            </a:r>
            <a:r>
              <a:rPr lang="en-US" dirty="0">
                <a:solidFill>
                  <a:srgbClr val="0070C0"/>
                </a:solidFill>
              </a:rPr>
              <a:t>SCHEMABINDING</a:t>
            </a:r>
          </a:p>
          <a:p>
            <a:pPr lvl="1"/>
            <a:r>
              <a:rPr lang="en-US" dirty="0"/>
              <a:t>All </a:t>
            </a:r>
            <a:r>
              <a:rPr lang="en-US" dirty="0">
                <a:solidFill>
                  <a:srgbClr val="0070C0"/>
                </a:solidFill>
              </a:rPr>
              <a:t>Functions</a:t>
            </a:r>
            <a:r>
              <a:rPr lang="en-US" dirty="0"/>
              <a:t> referenced by expressions in the view must be deterministic</a:t>
            </a:r>
            <a:endParaRPr lang="en-CA"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533400"/>
            <a:ext cx="7714488" cy="5715000"/>
          </a:xfrm>
        </p:spPr>
        <p:txBody>
          <a:bodyPr/>
          <a:lstStyle/>
          <a:p>
            <a:r>
              <a:rPr lang="en-US" dirty="0"/>
              <a:t>The optimizer can automatically detect and use an indexed view that satisfies a certain query, even if the indexed view is not referenced in the query. </a:t>
            </a:r>
            <a:endParaRPr lang="en-CA"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Defragmenting an Index</a:t>
            </a:r>
          </a:p>
        </p:txBody>
      </p:sp>
      <p:sp>
        <p:nvSpPr>
          <p:cNvPr id="3" name="Content Placeholder 2"/>
          <p:cNvSpPr>
            <a:spLocks noGrp="1"/>
          </p:cNvSpPr>
          <p:nvPr>
            <p:ph idx="1"/>
          </p:nvPr>
        </p:nvSpPr>
        <p:spPr/>
        <p:txBody>
          <a:bodyPr/>
          <a:lstStyle/>
          <a:p>
            <a:r>
              <a:rPr lang="en-US" dirty="0"/>
              <a:t>You defragment an index by using the ALTER INDEX statement</a:t>
            </a:r>
            <a:endParaRPr lang="en-CA" dirty="0"/>
          </a:p>
        </p:txBody>
      </p:sp>
      <p:sp>
        <p:nvSpPr>
          <p:cNvPr id="4" name="Rectangle 3"/>
          <p:cNvSpPr/>
          <p:nvPr/>
        </p:nvSpPr>
        <p:spPr>
          <a:xfrm>
            <a:off x="1295400" y="2743200"/>
            <a:ext cx="7848600" cy="3416320"/>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wrap="square">
            <a:spAutoFit/>
          </a:bodyPr>
          <a:lstStyle/>
          <a:p>
            <a:r>
              <a:rPr lang="en-CA" b="1" dirty="0">
                <a:latin typeface="Courier New" pitchFamily="49" charset="0"/>
                <a:cs typeface="Courier New" pitchFamily="49" charset="0"/>
              </a:rPr>
              <a:t>ALTER INDEX { index_name | ALL }</a:t>
            </a:r>
          </a:p>
          <a:p>
            <a:r>
              <a:rPr lang="en-CA" b="1" dirty="0">
                <a:latin typeface="Courier New" pitchFamily="49" charset="0"/>
                <a:cs typeface="Courier New" pitchFamily="49" charset="0"/>
              </a:rPr>
              <a:t>    ON &lt;object&gt;</a:t>
            </a:r>
          </a:p>
          <a:p>
            <a:r>
              <a:rPr lang="en-CA" b="1" dirty="0">
                <a:latin typeface="Courier New" pitchFamily="49" charset="0"/>
                <a:cs typeface="Courier New" pitchFamily="49" charset="0"/>
              </a:rPr>
              <a:t>    { REBUILD </a:t>
            </a:r>
          </a:p>
          <a:p>
            <a:r>
              <a:rPr lang="en-CA" b="1" dirty="0">
                <a:latin typeface="Courier New" pitchFamily="49" charset="0"/>
                <a:cs typeface="Courier New" pitchFamily="49" charset="0"/>
              </a:rPr>
              <a:t>        [ [ WITH ( &lt;rebuild_index_option&gt; [ ,...n ] ) ] </a:t>
            </a:r>
          </a:p>
          <a:p>
            <a:r>
              <a:rPr lang="en-CA" b="1" dirty="0">
                <a:latin typeface="Courier New" pitchFamily="49" charset="0"/>
                <a:cs typeface="Courier New" pitchFamily="49" charset="0"/>
              </a:rPr>
              <a:t>          | [ PARTITION = partition_number </a:t>
            </a:r>
          </a:p>
          <a:p>
            <a:r>
              <a:rPr lang="en-CA" b="1" dirty="0">
                <a:latin typeface="Courier New" pitchFamily="49" charset="0"/>
                <a:cs typeface="Courier New" pitchFamily="49" charset="0"/>
              </a:rPr>
              <a:t>                [ WITH ( &lt;single_partition_rebuild_index_option&gt;</a:t>
            </a:r>
          </a:p>
          <a:p>
            <a:r>
              <a:rPr lang="en-CA" b="1" dirty="0">
                <a:latin typeface="Courier New" pitchFamily="49" charset="0"/>
                <a:cs typeface="Courier New" pitchFamily="49" charset="0"/>
              </a:rPr>
              <a:t>                        [ ,...n ] )] ] ]</a:t>
            </a:r>
          </a:p>
          <a:p>
            <a:r>
              <a:rPr lang="en-CA" b="1" dirty="0">
                <a:latin typeface="Courier New" pitchFamily="49" charset="0"/>
                <a:cs typeface="Courier New" pitchFamily="49" charset="0"/>
              </a:rPr>
              <a:t>    | DISABLE | REORGANIZE </a:t>
            </a:r>
          </a:p>
          <a:p>
            <a:r>
              <a:rPr lang="en-CA" b="1" dirty="0">
                <a:latin typeface="Courier New" pitchFamily="49" charset="0"/>
                <a:cs typeface="Courier New" pitchFamily="49" charset="0"/>
              </a:rPr>
              <a:t>        [ PARTITION = partition_number ]</a:t>
            </a:r>
          </a:p>
          <a:p>
            <a:r>
              <a:rPr lang="en-CA" b="1" dirty="0">
                <a:latin typeface="Courier New" pitchFamily="49" charset="0"/>
                <a:cs typeface="Courier New" pitchFamily="49" charset="0"/>
              </a:rPr>
              <a:t>        [ WITH ( LOB_COMPACTION = { ON | OFF } ) ]</a:t>
            </a:r>
          </a:p>
          <a:p>
            <a:r>
              <a:rPr lang="en-CA" b="1" dirty="0">
                <a:latin typeface="Courier New" pitchFamily="49" charset="0"/>
                <a:cs typeface="Courier New" pitchFamily="49" charset="0"/>
              </a:rPr>
              <a:t>| SET ( &lt;set_index_option&gt; [ ,...n ] ) }[ ; ]</a:t>
            </a:r>
          </a:p>
        </p:txBody>
      </p:sp>
    </p:spTree>
    <p:extLst>
      <p:ext uri="{BB962C8B-B14F-4D97-AF65-F5344CB8AC3E}">
        <p14:creationId xmlns:p14="http://schemas.microsoft.com/office/powerpoint/2010/main" val="1409443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
            <a:ext cx="7943088" cy="6324600"/>
          </a:xfrm>
        </p:spPr>
        <p:txBody>
          <a:bodyPr>
            <a:normAutofit/>
          </a:bodyPr>
          <a:lstStyle/>
          <a:p>
            <a:r>
              <a:rPr lang="en-US" dirty="0"/>
              <a:t>You defragment an index using either the </a:t>
            </a:r>
            <a:r>
              <a:rPr lang="en-US" dirty="0">
                <a:solidFill>
                  <a:srgbClr val="0070C0"/>
                </a:solidFill>
              </a:rPr>
              <a:t>REBUILD</a:t>
            </a:r>
            <a:r>
              <a:rPr lang="en-US" dirty="0"/>
              <a:t> or </a:t>
            </a:r>
            <a:r>
              <a:rPr lang="en-US" dirty="0">
                <a:solidFill>
                  <a:srgbClr val="0070C0"/>
                </a:solidFill>
              </a:rPr>
              <a:t>REORGANIZE</a:t>
            </a:r>
            <a:r>
              <a:rPr lang="en-US" dirty="0"/>
              <a:t> options</a:t>
            </a:r>
            <a:br>
              <a:rPr lang="en-US" dirty="0"/>
            </a:br>
            <a:endParaRPr lang="en-US" dirty="0"/>
          </a:p>
          <a:p>
            <a:pPr lvl="1"/>
            <a:r>
              <a:rPr lang="en-US" dirty="0"/>
              <a:t>The </a:t>
            </a:r>
            <a:r>
              <a:rPr lang="en-US" dirty="0">
                <a:solidFill>
                  <a:srgbClr val="0070C0"/>
                </a:solidFill>
              </a:rPr>
              <a:t>REBUILD</a:t>
            </a:r>
            <a:r>
              <a:rPr lang="en-US" dirty="0"/>
              <a:t> option rebuilds all levels of the index and leaves all pages filled according to the </a:t>
            </a:r>
            <a:r>
              <a:rPr lang="en-US" dirty="0">
                <a:solidFill>
                  <a:srgbClr val="0070C0"/>
                </a:solidFill>
              </a:rPr>
              <a:t>FILLFACTOR</a:t>
            </a:r>
            <a:r>
              <a:rPr lang="en-US" dirty="0"/>
              <a:t> setting of an index</a:t>
            </a:r>
            <a:br>
              <a:rPr lang="en-US" dirty="0"/>
            </a:br>
            <a:endParaRPr lang="en-US" dirty="0"/>
          </a:p>
          <a:p>
            <a:pPr lvl="1"/>
            <a:r>
              <a:rPr lang="en-US" dirty="0"/>
              <a:t>If you rebuild the clustered index, only the clustered index is rebuilt</a:t>
            </a:r>
            <a:br>
              <a:rPr lang="en-US" dirty="0"/>
            </a:br>
            <a:endParaRPr lang="en-US" dirty="0"/>
          </a:p>
          <a:p>
            <a:pPr lvl="1"/>
            <a:r>
              <a:rPr lang="en-US" dirty="0"/>
              <a:t>Rebuilding the clustered index with the </a:t>
            </a:r>
            <a:r>
              <a:rPr lang="en-US" dirty="0">
                <a:solidFill>
                  <a:srgbClr val="0070C0"/>
                </a:solidFill>
              </a:rPr>
              <a:t>ALL</a:t>
            </a:r>
            <a:r>
              <a:rPr lang="en-US" dirty="0"/>
              <a:t> keyword also rebuilds all non-clustered indexes on the table</a:t>
            </a:r>
            <a:endParaRPr lang="en-CA" dirty="0"/>
          </a:p>
        </p:txBody>
      </p:sp>
    </p:spTree>
    <p:extLst>
      <p:ext uri="{BB962C8B-B14F-4D97-AF65-F5344CB8AC3E}">
        <p14:creationId xmlns:p14="http://schemas.microsoft.com/office/powerpoint/2010/main" val="2512705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533400"/>
            <a:ext cx="7714488" cy="5715000"/>
          </a:xfrm>
        </p:spPr>
        <p:txBody>
          <a:bodyPr/>
          <a:lstStyle/>
          <a:p>
            <a:r>
              <a:rPr lang="en-US" dirty="0"/>
              <a:t>The </a:t>
            </a:r>
            <a:r>
              <a:rPr lang="en-US" dirty="0">
                <a:solidFill>
                  <a:srgbClr val="0070C0"/>
                </a:solidFill>
              </a:rPr>
              <a:t>REORGANIZE</a:t>
            </a:r>
            <a:r>
              <a:rPr lang="en-US" dirty="0"/>
              <a:t> option removes fragmentation only at the leaf level</a:t>
            </a:r>
            <a:br>
              <a:rPr lang="en-US" dirty="0"/>
            </a:br>
            <a:endParaRPr lang="en-US" dirty="0"/>
          </a:p>
          <a:p>
            <a:r>
              <a:rPr lang="en-US" dirty="0"/>
              <a:t>Intermediate-level pages and the root page are not defragmented during a reorganize</a:t>
            </a:r>
            <a:br>
              <a:rPr lang="en-US" dirty="0"/>
            </a:br>
            <a:endParaRPr lang="en-US" dirty="0"/>
          </a:p>
          <a:p>
            <a:r>
              <a:rPr lang="en-US" dirty="0">
                <a:solidFill>
                  <a:srgbClr val="0070C0"/>
                </a:solidFill>
              </a:rPr>
              <a:t>REORGANIZE </a:t>
            </a:r>
            <a:r>
              <a:rPr lang="en-US" dirty="0"/>
              <a:t>is always an online operation that does not incur any </a:t>
            </a:r>
            <a:r>
              <a:rPr lang="en-US"/>
              <a:t>long-term blocking</a:t>
            </a:r>
            <a:endParaRPr lang="en-CA" dirty="0"/>
          </a:p>
        </p:txBody>
      </p:sp>
    </p:spTree>
    <p:extLst>
      <p:ext uri="{BB962C8B-B14F-4D97-AF65-F5344CB8AC3E}">
        <p14:creationId xmlns:p14="http://schemas.microsoft.com/office/powerpoint/2010/main" val="4032218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 Disabling an index</a:t>
            </a:r>
          </a:p>
        </p:txBody>
      </p:sp>
      <p:sp>
        <p:nvSpPr>
          <p:cNvPr id="3" name="Content Placeholder 2"/>
          <p:cNvSpPr>
            <a:spLocks noGrp="1"/>
          </p:cNvSpPr>
          <p:nvPr>
            <p:ph idx="1"/>
          </p:nvPr>
        </p:nvSpPr>
        <p:spPr/>
        <p:txBody>
          <a:bodyPr/>
          <a:lstStyle/>
          <a:p>
            <a:r>
              <a:rPr lang="en-US" dirty="0"/>
              <a:t> An index can be disabled by using the ALTER INDEX statement as follows:</a:t>
            </a:r>
          </a:p>
          <a:p>
            <a:endParaRPr lang="en-US" dirty="0"/>
          </a:p>
          <a:p>
            <a:endParaRPr lang="en-US" dirty="0"/>
          </a:p>
          <a:p>
            <a:endParaRPr lang="en-US" dirty="0"/>
          </a:p>
          <a:p>
            <a:r>
              <a:rPr lang="en-US" dirty="0"/>
              <a:t>If a clustered index is disabled, the entire table becomes inaccessible. </a:t>
            </a:r>
          </a:p>
        </p:txBody>
      </p:sp>
      <p:sp>
        <p:nvSpPr>
          <p:cNvPr id="4" name="Rectangle 3"/>
          <p:cNvSpPr/>
          <p:nvPr/>
        </p:nvSpPr>
        <p:spPr>
          <a:xfrm>
            <a:off x="1905000" y="2819400"/>
            <a:ext cx="4953000" cy="923330"/>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wrap="square">
            <a:spAutoFit/>
          </a:bodyPr>
          <a:lstStyle/>
          <a:p>
            <a:r>
              <a:rPr lang="en-US" b="1" dirty="0">
                <a:latin typeface="Courier New" pitchFamily="49" charset="0"/>
                <a:cs typeface="Courier New" pitchFamily="49" charset="0"/>
              </a:rPr>
              <a:t>ALTER INDEX { index_name | ALL }</a:t>
            </a:r>
          </a:p>
          <a:p>
            <a:r>
              <a:rPr lang="en-US" b="1" dirty="0">
                <a:latin typeface="Courier New" pitchFamily="49" charset="0"/>
                <a:cs typeface="Courier New" pitchFamily="49" charset="0"/>
              </a:rPr>
              <a:t>    ON &lt;object&gt;</a:t>
            </a:r>
          </a:p>
          <a:p>
            <a:r>
              <a:rPr lang="en-US" b="1" dirty="0">
                <a:latin typeface="Courier New" pitchFamily="49" charset="0"/>
                <a:cs typeface="Courier New" pitchFamily="49" charset="0"/>
              </a:rPr>
              <a:t>    DISABLE [ ; ]</a:t>
            </a:r>
            <a:endParaRPr lang="en-CA" b="1" dirty="0">
              <a:latin typeface="Courier New" pitchFamily="49" charset="0"/>
              <a:cs typeface="Courier New" pitchFamily="49" charset="0"/>
            </a:endParaRPr>
          </a:p>
        </p:txBody>
      </p:sp>
    </p:spTree>
    <p:extLst>
      <p:ext uri="{BB962C8B-B14F-4D97-AF65-F5344CB8AC3E}">
        <p14:creationId xmlns:p14="http://schemas.microsoft.com/office/powerpoint/2010/main" val="802638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304800"/>
            <a:ext cx="7638288" cy="1981200"/>
          </a:xfrm>
        </p:spPr>
        <p:txBody>
          <a:bodyPr/>
          <a:lstStyle/>
          <a:p>
            <a:r>
              <a:rPr lang="en-US" dirty="0"/>
              <a:t>To enable an index, it must be rebuilt to regenerate and populate the B-tree structure. </a:t>
            </a:r>
          </a:p>
        </p:txBody>
      </p:sp>
      <p:sp>
        <p:nvSpPr>
          <p:cNvPr id="4" name="Rectangle 3"/>
          <p:cNvSpPr/>
          <p:nvPr/>
        </p:nvSpPr>
        <p:spPr>
          <a:xfrm>
            <a:off x="1600200" y="2057400"/>
            <a:ext cx="5257800" cy="923330"/>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wrap="square">
            <a:spAutoFit/>
          </a:bodyPr>
          <a:lstStyle/>
          <a:p>
            <a:r>
              <a:rPr lang="en-US" b="1" dirty="0">
                <a:latin typeface="Courier New" pitchFamily="49" charset="0"/>
                <a:cs typeface="Courier New" pitchFamily="49" charset="0"/>
              </a:rPr>
              <a:t>ALTER INDEX { index_name | ALL }</a:t>
            </a:r>
          </a:p>
          <a:p>
            <a:r>
              <a:rPr lang="en-US" b="1" dirty="0">
                <a:latin typeface="Courier New" pitchFamily="49" charset="0"/>
                <a:cs typeface="Courier New" pitchFamily="49" charset="0"/>
              </a:rPr>
              <a:t>    ON &lt;object&gt;</a:t>
            </a:r>
          </a:p>
          <a:p>
            <a:r>
              <a:rPr lang="en-US" b="1" dirty="0">
                <a:latin typeface="Courier New" pitchFamily="49" charset="0"/>
                <a:cs typeface="Courier New" pitchFamily="49" charset="0"/>
              </a:rPr>
              <a:t>    REBUILD [ ; ]</a:t>
            </a:r>
            <a:endParaRPr lang="en-CA" b="1" dirty="0">
              <a:latin typeface="Courier New" pitchFamily="49" charset="0"/>
              <a:cs typeface="Courier New" pitchFamily="49" charset="0"/>
            </a:endParaRPr>
          </a:p>
        </p:txBody>
      </p:sp>
    </p:spTree>
    <p:extLst>
      <p:ext uri="{BB962C8B-B14F-4D97-AF65-F5344CB8AC3E}">
        <p14:creationId xmlns:p14="http://schemas.microsoft.com/office/powerpoint/2010/main" val="4211796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Analyzing Index Usage</a:t>
            </a:r>
          </a:p>
        </p:txBody>
      </p:sp>
      <p:sp>
        <p:nvSpPr>
          <p:cNvPr id="3" name="Content Placeholder 2"/>
          <p:cNvSpPr>
            <a:spLocks noGrp="1"/>
          </p:cNvSpPr>
          <p:nvPr>
            <p:ph idx="1"/>
          </p:nvPr>
        </p:nvSpPr>
        <p:spPr/>
        <p:txBody>
          <a:bodyPr/>
          <a:lstStyle/>
          <a:p>
            <a:r>
              <a:rPr lang="en-US" dirty="0"/>
              <a:t>You can query the </a:t>
            </a:r>
            <a:r>
              <a:rPr lang="en-US" dirty="0">
                <a:solidFill>
                  <a:srgbClr val="0070C0"/>
                </a:solidFill>
              </a:rPr>
              <a:t>sys.dm_db_index_usage_stats</a:t>
            </a:r>
            <a:r>
              <a:rPr lang="en-US" dirty="0"/>
              <a:t> dynamic management view (DMV) to find index-usage information</a:t>
            </a:r>
          </a:p>
          <a:p>
            <a:r>
              <a:rPr lang="en-US" dirty="0"/>
              <a:t>All values in the </a:t>
            </a:r>
            <a:r>
              <a:rPr lang="en-US" dirty="0">
                <a:solidFill>
                  <a:srgbClr val="0070C0"/>
                </a:solidFill>
              </a:rPr>
              <a:t>sys.dm_db_index_usage_stats</a:t>
            </a:r>
            <a:r>
              <a:rPr lang="en-US" dirty="0"/>
              <a:t> view are reset whenever the SQL Server service is restarted.</a:t>
            </a:r>
            <a:endParaRPr lang="en-CA"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ntitled-1.jpg"/>
          <p:cNvPicPr>
            <a:picLocks noGrp="1" noChangeAspect="1"/>
          </p:cNvPicPr>
          <p:nvPr>
            <p:ph idx="1"/>
          </p:nvPr>
        </p:nvPicPr>
        <p:blipFill>
          <a:blip r:embed="rId2" cstate="print"/>
          <a:stretch>
            <a:fillRect/>
          </a:stretch>
        </p:blipFill>
        <p:spPr>
          <a:xfrm>
            <a:off x="1158404" y="609600"/>
            <a:ext cx="7985596" cy="5498173"/>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Tuning Indexes Automatically</a:t>
            </a:r>
          </a:p>
        </p:txBody>
      </p:sp>
      <p:sp>
        <p:nvSpPr>
          <p:cNvPr id="3" name="Content Placeholder 2"/>
          <p:cNvSpPr>
            <a:spLocks noGrp="1"/>
          </p:cNvSpPr>
          <p:nvPr>
            <p:ph idx="1"/>
          </p:nvPr>
        </p:nvSpPr>
        <p:spPr>
          <a:xfrm>
            <a:off x="1219200" y="1447800"/>
            <a:ext cx="7714488" cy="5410200"/>
          </a:xfrm>
        </p:spPr>
        <p:txBody>
          <a:bodyPr>
            <a:normAutofit lnSpcReduction="10000"/>
          </a:bodyPr>
          <a:lstStyle/>
          <a:p>
            <a:r>
              <a:rPr lang="en-US" dirty="0"/>
              <a:t>An aggregation of missing indexes that the optimizer has needed can be found in the </a:t>
            </a:r>
            <a:r>
              <a:rPr lang="en-US" dirty="0">
                <a:solidFill>
                  <a:srgbClr val="0070C0"/>
                </a:solidFill>
              </a:rPr>
              <a:t>sys.dm_db_missing_index_details</a:t>
            </a:r>
            <a:r>
              <a:rPr lang="en-US" dirty="0"/>
              <a:t>, </a:t>
            </a:r>
            <a:r>
              <a:rPr lang="en-US" dirty="0">
                <a:solidFill>
                  <a:srgbClr val="0070C0"/>
                </a:solidFill>
              </a:rPr>
              <a:t>sys.dm_db_missing_index_groups</a:t>
            </a:r>
            <a:r>
              <a:rPr lang="en-US" dirty="0"/>
              <a:t>, and </a:t>
            </a:r>
            <a:r>
              <a:rPr lang="en-US" dirty="0">
                <a:solidFill>
                  <a:srgbClr val="0070C0"/>
                </a:solidFill>
              </a:rPr>
              <a:t>sys.dm_db_missing_index_group_stats</a:t>
            </a:r>
            <a:r>
              <a:rPr lang="en-US" dirty="0"/>
              <a:t> database management views (DMVs).</a:t>
            </a:r>
          </a:p>
          <a:p>
            <a:r>
              <a:rPr lang="en-US" dirty="0"/>
              <a:t>You can also use the </a:t>
            </a:r>
            <a:r>
              <a:rPr lang="en-US" dirty="0">
                <a:solidFill>
                  <a:srgbClr val="0070C0"/>
                </a:solidFill>
              </a:rPr>
              <a:t>Database Engine Tuning Advisor</a:t>
            </a:r>
            <a:r>
              <a:rPr lang="en-US" dirty="0"/>
              <a:t> graphical utility to retrieve  information on indexes, indexed views, and even partitioning solutions that may help query performance</a:t>
            </a:r>
            <a:endParaRPr lang="en-CA"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381000"/>
            <a:ext cx="7498080" cy="1219200"/>
          </a:xfrm>
        </p:spPr>
        <p:txBody>
          <a:bodyPr>
            <a:normAutofit fontScale="92500"/>
          </a:bodyPr>
          <a:lstStyle/>
          <a:p>
            <a:r>
              <a:rPr lang="en-US" dirty="0">
                <a:solidFill>
                  <a:srgbClr val="002060"/>
                </a:solidFill>
              </a:rPr>
              <a:t>Find the 10 missing indexes with the highest anticipated improvement for user queries</a:t>
            </a:r>
            <a:endParaRPr lang="en-CA" dirty="0">
              <a:solidFill>
                <a:srgbClr val="002060"/>
              </a:solidFill>
            </a:endParaRPr>
          </a:p>
        </p:txBody>
      </p:sp>
      <p:sp>
        <p:nvSpPr>
          <p:cNvPr id="4" name="Rectangle 3"/>
          <p:cNvSpPr/>
          <p:nvPr/>
        </p:nvSpPr>
        <p:spPr>
          <a:xfrm>
            <a:off x="1304925" y="1905000"/>
            <a:ext cx="7696200" cy="1200329"/>
          </a:xfrm>
          <a:prstGeom prst="rect">
            <a:avLst/>
          </a:prstGeom>
          <a:solidFill>
            <a:schemeClr val="accent1">
              <a:lumMod val="20000"/>
              <a:lumOff val="80000"/>
            </a:schemeClr>
          </a:solidFill>
        </p:spPr>
        <p:txBody>
          <a:bodyPr wrap="square">
            <a:spAutoFit/>
          </a:bodyPr>
          <a:lstStyle/>
          <a:p>
            <a:r>
              <a:rPr lang="en-US" b="1" dirty="0">
                <a:solidFill>
                  <a:srgbClr val="0000FF"/>
                </a:solidFill>
                <a:latin typeface="Courier New" pitchFamily="49" charset="0"/>
                <a:cs typeface="Courier New" pitchFamily="49" charset="0"/>
              </a:rPr>
              <a:t>SELECT</a:t>
            </a: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TOP</a:t>
            </a:r>
            <a:r>
              <a:rPr lang="en-US" b="1" dirty="0">
                <a:latin typeface="Courier New" pitchFamily="49" charset="0"/>
                <a:cs typeface="Courier New" pitchFamily="49" charset="0"/>
              </a:rPr>
              <a:t> 10 * </a:t>
            </a:r>
            <a:r>
              <a:rPr lang="en-US" b="1" dirty="0">
                <a:solidFill>
                  <a:srgbClr val="0000FF"/>
                </a:solidFill>
                <a:latin typeface="Courier New" pitchFamily="49" charset="0"/>
                <a:cs typeface="Courier New" pitchFamily="49" charset="0"/>
              </a:rPr>
              <a:t>FROM</a:t>
            </a:r>
            <a:r>
              <a:rPr lang="en-US" b="1" dirty="0">
                <a:latin typeface="Courier New" pitchFamily="49" charset="0"/>
                <a:cs typeface="Courier New" pitchFamily="49" charset="0"/>
              </a:rPr>
              <a:t> sys.dm_db_missing_index_group_stats </a:t>
            </a:r>
          </a:p>
          <a:p>
            <a:r>
              <a:rPr lang="en-US" b="1" dirty="0">
                <a:solidFill>
                  <a:srgbClr val="0000FF"/>
                </a:solidFill>
                <a:latin typeface="Courier New" pitchFamily="49" charset="0"/>
                <a:cs typeface="Courier New" pitchFamily="49" charset="0"/>
              </a:rPr>
              <a:t>ORDER</a:t>
            </a: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BY</a:t>
            </a:r>
            <a:r>
              <a:rPr lang="en-US" b="1" dirty="0">
                <a:latin typeface="Courier New" pitchFamily="49" charset="0"/>
                <a:cs typeface="Courier New" pitchFamily="49" charset="0"/>
              </a:rPr>
              <a:t> avg_total_user_cost * avg_user_impact * (user_seeks + user_scans) </a:t>
            </a:r>
            <a:r>
              <a:rPr lang="en-US" b="1" dirty="0">
                <a:solidFill>
                  <a:srgbClr val="0000FF"/>
                </a:solidFill>
                <a:latin typeface="Courier New" pitchFamily="49" charset="0"/>
                <a:cs typeface="Courier New" pitchFamily="49" charset="0"/>
              </a:rPr>
              <a:t>DESC</a:t>
            </a:r>
            <a:r>
              <a:rPr lang="en-US" b="1" dirty="0">
                <a:latin typeface="Courier New" pitchFamily="49" charset="0"/>
                <a:cs typeface="Courier New" pitchFamily="49" charset="0"/>
              </a:rPr>
              <a:t>; </a:t>
            </a:r>
            <a:endParaRPr lang="en-CA" b="1" dirty="0">
              <a:latin typeface="Courier New" pitchFamily="49" charset="0"/>
              <a:cs typeface="Courier New" pitchFamily="49"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3427</TotalTime>
  <Words>3563</Words>
  <Application>Microsoft Office PowerPoint</Application>
  <PresentationFormat>On-screen Show (4:3)</PresentationFormat>
  <Paragraphs>341</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Courier</vt:lpstr>
      <vt:lpstr>Courier New</vt:lpstr>
      <vt:lpstr>Gill Sans MT</vt:lpstr>
      <vt:lpstr>Verdana</vt:lpstr>
      <vt:lpstr>Wingdings 2</vt:lpstr>
      <vt:lpstr>Solstice</vt:lpstr>
      <vt:lpstr>Lesson 9</vt:lpstr>
      <vt:lpstr>Introduction to Indexes</vt:lpstr>
      <vt:lpstr>PowerPoint Presentation</vt:lpstr>
      <vt:lpstr>Indexes</vt:lpstr>
      <vt:lpstr>Clustered Indexes </vt:lpstr>
      <vt:lpstr>PowerPoint Presentation</vt:lpstr>
      <vt:lpstr>Clustered Index</vt:lpstr>
      <vt:lpstr>PowerPoint Presentation</vt:lpstr>
      <vt:lpstr>Nonclustered Indexes</vt:lpstr>
      <vt:lpstr>PowerPoint Presentation</vt:lpstr>
      <vt:lpstr>Creating 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Index Architecture</vt:lpstr>
      <vt:lpstr>PowerPoint Presentation</vt:lpstr>
      <vt:lpstr>PowerPoint Presentation</vt:lpstr>
      <vt:lpstr>PowerPoint Presentation</vt:lpstr>
      <vt:lpstr>Covered Indexes</vt:lpstr>
      <vt:lpstr>PowerPoint Presentation</vt:lpstr>
      <vt:lpstr>PowerPoint Presentation</vt:lpstr>
      <vt:lpstr>Included Columns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Clustered Indexes</vt:lpstr>
      <vt:lpstr>Read vs. Write Performance</vt:lpstr>
      <vt:lpstr>Computed Columns</vt:lpstr>
      <vt:lpstr>PowerPoint Presentation</vt:lpstr>
      <vt:lpstr>Indexed Views </vt:lpstr>
      <vt:lpstr>PowerPoint Presentation</vt:lpstr>
      <vt:lpstr>Defragmenting an Index</vt:lpstr>
      <vt:lpstr>PowerPoint Presentation</vt:lpstr>
      <vt:lpstr>PowerPoint Presentation</vt:lpstr>
      <vt:lpstr> Disabling an index</vt:lpstr>
      <vt:lpstr>PowerPoint Presentation</vt:lpstr>
      <vt:lpstr>Analyzing Index Usage</vt:lpstr>
      <vt:lpstr>PowerPoint Presentation</vt:lpstr>
      <vt:lpstr>Tuning Indexes Automatically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Andrei T</cp:lastModifiedBy>
  <cp:revision>221</cp:revision>
  <dcterms:created xsi:type="dcterms:W3CDTF">2006-08-16T00:00:00Z</dcterms:created>
  <dcterms:modified xsi:type="dcterms:W3CDTF">2024-11-01T02:10:14Z</dcterms:modified>
</cp:coreProperties>
</file>