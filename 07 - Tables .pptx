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6" r:id="rId33"/>
    <p:sldId id="297" r:id="rId34"/>
    <p:sldId id="298" r:id="rId35"/>
    <p:sldId id="299" r:id="rId36"/>
    <p:sldId id="300" r:id="rId37"/>
    <p:sldId id="301" r:id="rId38"/>
    <p:sldId id="302" r:id="rId39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subTitle"/>
          </p:nvPr>
        </p:nvSpPr>
        <p:spPr>
          <a:xfrm>
            <a:off x="1435680" y="274680"/>
            <a:ext cx="749772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143568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27760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435680" y="3955320"/>
            <a:ext cx="749772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1435680" y="3955320"/>
            <a:ext cx="749772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527760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143568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pic>
        <p:nvPicPr>
          <p:cNvPr id="44" name="Picture 43"/>
          <p:cNvPicPr/>
          <p:nvPr/>
        </p:nvPicPr>
        <p:blipFill>
          <a:blip r:embed="rId2"/>
          <a:stretch/>
        </p:blipFill>
        <p:spPr>
          <a:xfrm>
            <a:off x="2176200" y="1447920"/>
            <a:ext cx="6016320" cy="4800240"/>
          </a:xfrm>
          <a:prstGeom prst="rect">
            <a:avLst/>
          </a:prstGeom>
          <a:ln>
            <a:noFill/>
          </a:ln>
        </p:spPr>
      </p:pic>
      <p:pic>
        <p:nvPicPr>
          <p:cNvPr id="45" name="Picture 44"/>
          <p:cNvPicPr/>
          <p:nvPr/>
        </p:nvPicPr>
        <p:blipFill>
          <a:blip r:embed="rId2"/>
          <a:stretch/>
        </p:blipFill>
        <p:spPr>
          <a:xfrm>
            <a:off x="2176200" y="1447920"/>
            <a:ext cx="6016320" cy="480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1435680" y="274680"/>
            <a:ext cx="749772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143568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527760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1435680" y="3955320"/>
            <a:ext cx="749772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1435680" y="3955320"/>
            <a:ext cx="749772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277600" y="14479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27760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1435680" y="3955320"/>
            <a:ext cx="3658680" cy="228960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2"/>
          <a:stretch/>
        </p:blipFill>
        <p:spPr>
          <a:xfrm>
            <a:off x="2176200" y="1447920"/>
            <a:ext cx="6016320" cy="4800240"/>
          </a:xfrm>
          <a:prstGeom prst="rect">
            <a:avLst/>
          </a:prstGeom>
          <a:ln>
            <a:noFill/>
          </a:ln>
        </p:spPr>
      </p:pic>
      <p:pic>
        <p:nvPicPr>
          <p:cNvPr id="89" name="Picture 88"/>
          <p:cNvPicPr/>
          <p:nvPr/>
        </p:nvPicPr>
        <p:blipFill>
          <a:blip r:embed="rId2"/>
          <a:stretch/>
        </p:blipFill>
        <p:spPr>
          <a:xfrm>
            <a:off x="2176200" y="1447920"/>
            <a:ext cx="6016320" cy="4800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1"/>
          <p:cNvSpPr/>
          <p:nvPr/>
        </p:nvSpPr>
        <p:spPr>
          <a:xfrm>
            <a:off x="-815760" y="-815760"/>
            <a:ext cx="1638360" cy="163836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240">
            <a:solidFill>
              <a:schemeClr val="bg2">
                <a:shade val="70000"/>
                <a:satMod val="200000"/>
                <a:alpha val="100000"/>
              </a:schemeClr>
            </a:solidFill>
            <a:round/>
          </a:ln>
          <a:effectLst>
            <a:outerShdw blurRad="63500" dist="25400" dir="5400000" rotWithShape="0">
              <a:srgbClr val="000000">
                <a:alpha val="44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3" name="CustomShape 2"/>
          <p:cNvSpPr/>
          <p:nvPr/>
        </p:nvSpPr>
        <p:spPr>
          <a:xfrm>
            <a:off x="168840" y="21240"/>
            <a:ext cx="1701720" cy="1701720"/>
          </a:xfrm>
          <a:prstGeom prst="ellipse">
            <a:avLst/>
          </a:prstGeom>
          <a:noFill/>
          <a:ln w="27360">
            <a:solidFill>
              <a:schemeClr val="bg2">
                <a:tint val="45000"/>
                <a:satMod val="325000"/>
                <a:alpha val="100000"/>
              </a:schemeClr>
            </a:solidFill>
            <a:round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" name="CustomShape 3"/>
          <p:cNvSpPr/>
          <p:nvPr/>
        </p:nvSpPr>
        <p:spPr>
          <a:xfrm rot="2315400">
            <a:off x="182880" y="1054800"/>
            <a:ext cx="1125360" cy="1102320"/>
          </a:xfrm>
          <a:prstGeom prst="donut">
            <a:avLst>
              <a:gd name="adj" fmla="val 11833"/>
            </a:avLst>
          </a:prstGeom>
          <a:gradFill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lin ang="0"/>
          </a:gradFill>
          <a:ln w="7200">
            <a:solidFill>
              <a:schemeClr val="bg2">
                <a:shade val="60000"/>
                <a:satMod val="220000"/>
                <a:alpha val="100000"/>
              </a:schemeClr>
            </a:solidFill>
            <a:round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1013040" y="0"/>
            <a:ext cx="813060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5400000" rotWithShape="0">
              <a:srgbClr val="000000">
                <a:alpha val="44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" name="CustomShape 5"/>
          <p:cNvSpPr/>
          <p:nvPr/>
        </p:nvSpPr>
        <p:spPr>
          <a:xfrm>
            <a:off x="1014840" y="0"/>
            <a:ext cx="7272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" name="PlaceHolder 6"/>
          <p:cNvSpPr>
            <a:spLocks noGrp="1"/>
          </p:cNvSpPr>
          <p:nvPr>
            <p:ph type="title"/>
          </p:nvPr>
        </p:nvSpPr>
        <p:spPr>
          <a:xfrm>
            <a:off x="1432440" y="360000"/>
            <a:ext cx="7406280" cy="147168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US" sz="4300" b="0" strike="noStrike" spc="-1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Click to edit Master title style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/>
          </p:nvPr>
        </p:nvSpPr>
        <p:spPr>
          <a:xfrm>
            <a:off x="3581280" y="6305400"/>
            <a:ext cx="2133360" cy="47592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B5A989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11/2/16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PlaceHolder 8"/>
          <p:cNvSpPr>
            <a:spLocks noGrp="1"/>
          </p:cNvSpPr>
          <p:nvPr>
            <p:ph type="ftr"/>
          </p:nvPr>
        </p:nvSpPr>
        <p:spPr>
          <a:xfrm>
            <a:off x="5715000" y="6305400"/>
            <a:ext cx="2895120" cy="47592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sldNum"/>
          </p:nvPr>
        </p:nvSpPr>
        <p:spPr>
          <a:xfrm>
            <a:off x="8613720" y="6305400"/>
            <a:ext cx="456840" cy="47592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fld id="{9DACD8F8-943A-453E-A5F7-CE1B9D594D30}" type="slidenum">
              <a:rPr lang="en-US" sz="1200" b="0" strike="noStrike" spc="-1">
                <a:solidFill>
                  <a:srgbClr val="B5A989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CustomShape 10"/>
          <p:cNvSpPr/>
          <p:nvPr/>
        </p:nvSpPr>
        <p:spPr>
          <a:xfrm>
            <a:off x="921600" y="1413720"/>
            <a:ext cx="209880" cy="209880"/>
          </a:xfrm>
          <a:prstGeom prst="ellipse">
            <a:avLst/>
          </a:prstGeom>
          <a:gradFill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lin ang="0"/>
          </a:gradFill>
          <a:ln w="2160">
            <a:solidFill>
              <a:schemeClr val="accent1">
                <a:shade val="90000"/>
                <a:satMod val="110000"/>
                <a:alpha val="60000"/>
              </a:schemeClr>
            </a:solidFill>
            <a:round/>
          </a:ln>
          <a:effectLst>
            <a:outerShdw blurRad="63500" dist="25400" dir="5400000" rotWithShape="0">
              <a:srgbClr val="000000">
                <a:alpha val="44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" name="CustomShape 11"/>
          <p:cNvSpPr/>
          <p:nvPr/>
        </p:nvSpPr>
        <p:spPr>
          <a:xfrm>
            <a:off x="1157040" y="1344960"/>
            <a:ext cx="63720" cy="63720"/>
          </a:xfrm>
          <a:prstGeom prst="ellipse">
            <a:avLst/>
          </a:prstGeom>
          <a:noFill/>
          <a:ln w="12600">
            <a:solidFill>
              <a:schemeClr val="accent1">
                <a:shade val="75000"/>
                <a:alpha val="60000"/>
              </a:schemeClr>
            </a:solidFill>
            <a:round/>
          </a:ln>
          <a:effectLst>
            <a:outerShdw blurRad="63500" dist="25400" dir="5400000" rotWithShape="0">
              <a:srgbClr val="000000">
                <a:alpha val="44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" name="PlaceHolder 1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-815760" y="-815760"/>
            <a:ext cx="1638360" cy="163836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240">
            <a:solidFill>
              <a:schemeClr val="bg2">
                <a:shade val="70000"/>
                <a:satMod val="200000"/>
                <a:alpha val="100000"/>
              </a:schemeClr>
            </a:solidFill>
            <a:round/>
          </a:ln>
          <a:effectLst>
            <a:outerShdw blurRad="63500" dist="25400" dir="5400000" rotWithShape="0">
              <a:srgbClr val="000000">
                <a:alpha val="44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7" name="CustomShape 2"/>
          <p:cNvSpPr/>
          <p:nvPr/>
        </p:nvSpPr>
        <p:spPr>
          <a:xfrm>
            <a:off x="168840" y="21240"/>
            <a:ext cx="1701720" cy="1701720"/>
          </a:xfrm>
          <a:prstGeom prst="ellipse">
            <a:avLst/>
          </a:prstGeom>
          <a:noFill/>
          <a:ln w="27360">
            <a:solidFill>
              <a:schemeClr val="bg2">
                <a:tint val="45000"/>
                <a:satMod val="325000"/>
                <a:alpha val="100000"/>
              </a:schemeClr>
            </a:solidFill>
            <a:round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8" name="CustomShape 3"/>
          <p:cNvSpPr/>
          <p:nvPr/>
        </p:nvSpPr>
        <p:spPr>
          <a:xfrm rot="2315400">
            <a:off x="182880" y="1054800"/>
            <a:ext cx="1125360" cy="1102320"/>
          </a:xfrm>
          <a:prstGeom prst="donut">
            <a:avLst>
              <a:gd name="adj" fmla="val 11833"/>
            </a:avLst>
          </a:prstGeom>
          <a:gradFill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lin ang="0"/>
          </a:gradFill>
          <a:ln w="7200">
            <a:solidFill>
              <a:schemeClr val="bg2">
                <a:shade val="60000"/>
                <a:satMod val="220000"/>
                <a:alpha val="100000"/>
              </a:schemeClr>
            </a:solidFill>
            <a:round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9" name="CustomShape 4"/>
          <p:cNvSpPr/>
          <p:nvPr/>
        </p:nvSpPr>
        <p:spPr>
          <a:xfrm>
            <a:off x="1013040" y="0"/>
            <a:ext cx="813060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25400" dir="5400000" rotWithShape="0">
              <a:srgbClr val="000000">
                <a:alpha val="44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0" name="CustomShape 5"/>
          <p:cNvSpPr/>
          <p:nvPr/>
        </p:nvSpPr>
        <p:spPr>
          <a:xfrm>
            <a:off x="1014840" y="0"/>
            <a:ext cx="72720" cy="6857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1" name="PlaceHolder 6"/>
          <p:cNvSpPr>
            <a:spLocks noGrp="1"/>
          </p:cNvSpPr>
          <p:nvPr>
            <p:ph type="title"/>
          </p:nvPr>
        </p:nvSpPr>
        <p:spPr>
          <a:xfrm>
            <a:off x="1435680" y="274680"/>
            <a:ext cx="7497720" cy="1142640"/>
          </a:xfrm>
          <a:prstGeom prst="rect">
            <a:avLst/>
          </a:prstGeom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300" b="0" strike="noStrike" spc="-1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Click to edit Master title style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body"/>
          </p:nvPr>
        </p:nvSpPr>
        <p:spPr>
          <a:xfrm>
            <a:off x="1435680" y="1447920"/>
            <a:ext cx="7497720" cy="4800240"/>
          </a:xfrm>
          <a:prstGeom prst="rect">
            <a:avLst/>
          </a:prstGeom>
        </p:spPr>
        <p:txBody>
          <a:bodyPr lIns="90000" tIns="45000" rIns="90000" bIns="4500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Sixth Outline Level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Seventh Outline LevelClick to edit Master text styles</a:t>
            </a: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Second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887040" lvl="2" indent="-228240">
              <a:lnSpc>
                <a:spcPct val="100000"/>
              </a:lnSpc>
              <a:buClr>
                <a:srgbClr val="FEB80A"/>
              </a:buClr>
              <a:buFont typeface="Wingdings 2" charset="2"/>
              <a:buChar char="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Third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1097280" lvl="3" indent="-173520">
              <a:lnSpc>
                <a:spcPct val="100000"/>
              </a:lnSpc>
              <a:buClr>
                <a:srgbClr val="C32D2E"/>
              </a:buClr>
              <a:buFont typeface="Wingdings 2" charset="2"/>
              <a:buChar char="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Fourth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1298520" lvl="4" indent="-182520">
              <a:lnSpc>
                <a:spcPct val="100000"/>
              </a:lnSpc>
              <a:buClr>
                <a:srgbClr val="84AA33"/>
              </a:buClr>
              <a:buFont typeface="Wingdings 2" charset="2"/>
              <a:buChar char="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Fifth level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53" name="PlaceHolder 8"/>
          <p:cNvSpPr>
            <a:spLocks noGrp="1"/>
          </p:cNvSpPr>
          <p:nvPr>
            <p:ph type="dt"/>
          </p:nvPr>
        </p:nvSpPr>
        <p:spPr>
          <a:xfrm>
            <a:off x="3581280" y="6305400"/>
            <a:ext cx="2133360" cy="47592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r>
              <a:rPr lang="en-US" sz="1200" b="0" strike="noStrike" spc="-1">
                <a:solidFill>
                  <a:srgbClr val="B5A989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11/2/16</a:t>
            </a:r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4" name="PlaceHolder 9"/>
          <p:cNvSpPr>
            <a:spLocks noGrp="1"/>
          </p:cNvSpPr>
          <p:nvPr>
            <p:ph type="ftr"/>
          </p:nvPr>
        </p:nvSpPr>
        <p:spPr>
          <a:xfrm>
            <a:off x="5715000" y="6305400"/>
            <a:ext cx="2895120" cy="47592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5" name="PlaceHolder 10"/>
          <p:cNvSpPr>
            <a:spLocks noGrp="1"/>
          </p:cNvSpPr>
          <p:nvPr>
            <p:ph type="sldNum"/>
          </p:nvPr>
        </p:nvSpPr>
        <p:spPr>
          <a:xfrm>
            <a:off x="8613720" y="6305400"/>
            <a:ext cx="456840" cy="475920"/>
          </a:xfrm>
          <a:prstGeom prst="rect">
            <a:avLst/>
          </a:prstGeom>
        </p:spPr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fld id="{2A173929-E23C-4C9E-8445-53452EE4ACAE}" type="slidenum">
              <a:rPr lang="en-US" sz="1200" b="0" strike="noStrike" spc="-1">
                <a:solidFill>
                  <a:srgbClr val="B5A989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1432440" y="360000"/>
            <a:ext cx="7406280" cy="1471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en-US" sz="4300" b="0" strike="noStrike" spc="-1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Lesson 7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1432440" y="1850040"/>
            <a:ext cx="7406280" cy="175212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/>
          <a:lstStyle/>
          <a:p>
            <a:pPr marL="27360">
              <a:lnSpc>
                <a:spcPct val="100000"/>
              </a:lnSpc>
            </a:pPr>
            <a:r>
              <a:rPr lang="en-US" sz="2600" b="1" u="sng" strike="noStrike" spc="-1">
                <a:solidFill>
                  <a:srgbClr val="361309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Tables and Data Integrity Enforcement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1371600" y="0"/>
            <a:ext cx="749772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Tables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914400" y="914400"/>
            <a:ext cx="8152920" cy="5867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Table types: </a:t>
            </a: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Permanent  		</a:t>
            </a:r>
            <a:r>
              <a:rPr lang="en-US" sz="2000" b="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(CREATE  TABLE  t)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Temporary  		</a:t>
            </a:r>
            <a:r>
              <a:rPr lang="en-US" sz="2100" b="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(USE </a:t>
            </a:r>
            <a:r>
              <a:rPr lang="en-US" sz="2100" b="0" strike="noStrike" spc="-1" dirty="0" err="1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Tempdb</a:t>
            </a:r>
            <a:r>
              <a:rPr lang="en-US" sz="2100" b="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CREATE  TABLE t)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887040" lvl="2" indent="-228240">
              <a:lnSpc>
                <a:spcPct val="100000"/>
              </a:lnSpc>
              <a:buClr>
                <a:srgbClr val="FEB80A"/>
              </a:buClr>
              <a:buFont typeface="Wingdings 2" charset="2"/>
              <a:buChar char="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Accessible by all user at any connection 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887040" lvl="2" indent="-228240">
              <a:lnSpc>
                <a:spcPct val="100000"/>
              </a:lnSpc>
              <a:buClr>
                <a:srgbClr val="FEB80A"/>
              </a:buClr>
              <a:buFont typeface="Wingdings 2" charset="2"/>
              <a:buChar char="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Deleted when server restarts 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Local temporary  	</a:t>
            </a:r>
            <a:r>
              <a:rPr lang="en-US" sz="2100" b="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(CREATE  TABLE  #t)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887040" lvl="2" indent="-228240">
              <a:lnSpc>
                <a:spcPct val="100000"/>
              </a:lnSpc>
              <a:buClr>
                <a:srgbClr val="FEB80A"/>
              </a:buClr>
              <a:buFont typeface="Wingdings 2" charset="2"/>
              <a:buChar char="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Accessible by their creator during same connection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Global temporary  	</a:t>
            </a:r>
            <a:r>
              <a:rPr lang="en-US" sz="2100" b="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(CREATE  TABLE  ##t)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887040" lvl="2" indent="-228240">
              <a:lnSpc>
                <a:spcPct val="100000"/>
              </a:lnSpc>
              <a:buClr>
                <a:srgbClr val="FEB80A"/>
              </a:buClr>
              <a:buFont typeface="Wingdings 2" charset="2"/>
              <a:buChar char="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Accessible by any user at any connection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Table variables 		</a:t>
            </a:r>
            <a:r>
              <a:rPr lang="en-US" sz="2100" b="0" strike="noStrike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(DECLARE @t TABLE)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887040" lvl="2" indent="-228240">
              <a:lnSpc>
                <a:spcPct val="100000"/>
              </a:lnSpc>
              <a:buClr>
                <a:srgbClr val="FEB80A"/>
              </a:buClr>
              <a:buFont typeface="Wingdings 2" charset="2"/>
              <a:buChar char="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Visible only to the connection that creates it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887040" lvl="2" indent="-228240">
              <a:lnSpc>
                <a:spcPct val="100000"/>
              </a:lnSpc>
              <a:buClr>
                <a:srgbClr val="FEB80A"/>
              </a:buClr>
              <a:buFont typeface="Wingdings 2" charset="2"/>
              <a:buChar char="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Deleted when out of scope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Derived tables and table expressions 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(sub queries)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1219320" y="457200"/>
            <a:ext cx="7497720" cy="6172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Tables are created using  </a:t>
            </a:r>
          </a:p>
          <a:p>
            <a:pPr marL="365760" indent="-282960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		CREATE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TABLE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(preferred way) </a:t>
            </a:r>
          </a:p>
          <a:p>
            <a:pPr marL="365760" indent="-282960">
              <a:lnSpc>
                <a:spcPct val="100000"/>
              </a:lnSpc>
            </a:pP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		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or  </a:t>
            </a:r>
          </a:p>
          <a:p>
            <a:pPr marL="365760" indent="-282960">
              <a:lnSpc>
                <a:spcPct val="100000"/>
              </a:lnSpc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		SELECT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. . .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INTO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statement</a:t>
            </a:r>
          </a:p>
          <a:p>
            <a:pPr marL="365760" indent="-282960"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DROP TABLE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is used to delete a table</a:t>
            </a: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ALTER TABLE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is used to add, modify or delete columns</a:t>
            </a: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231897" y="2743200"/>
            <a:ext cx="7619760" cy="3200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SCHEMA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Sales;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GO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Sales.Customers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CustomerId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 </a:t>
            </a: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NULL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Name      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NVARCHAR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(50) </a:t>
            </a: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NULL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7" name="CustomShape 3"/>
          <p:cNvSpPr/>
          <p:nvPr/>
        </p:nvSpPr>
        <p:spPr>
          <a:xfrm rot="2521200" flipH="1">
            <a:off x="5149411" y="990291"/>
            <a:ext cx="312480" cy="199935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6" name="CustomShape 2"/>
          <p:cNvSpPr/>
          <p:nvPr/>
        </p:nvSpPr>
        <p:spPr>
          <a:xfrm>
            <a:off x="4038480" y="380880"/>
            <a:ext cx="3885840" cy="91404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Container for grouping tables, views, SP etc.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1143000" y="274680"/>
            <a:ext cx="779040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Table and Column Names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03" name="TextShape 2"/>
          <p:cNvSpPr txBox="1"/>
          <p:nvPr/>
        </p:nvSpPr>
        <p:spPr>
          <a:xfrm>
            <a:off x="1143000" y="1295400"/>
            <a:ext cx="7790400" cy="5333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Requirements for standard identifiers:</a:t>
            </a:r>
            <a:br>
              <a:rPr lang="en-US" sz="32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i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First character must be a letter or an underscore</a:t>
            </a: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Subsequent characters can be letters, digits,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@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$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#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and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_</a:t>
            </a:r>
            <a:b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It must not be a T-SQL reserved word</a:t>
            </a: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Embedded spaces or special characters are not allowed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1295280" y="1371600"/>
            <a:ext cx="7637760" cy="48765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Any identifier that does not follow the standard identifier naming rules must be  delimited using either quotation marks (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“ “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) or square brackets (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[ ]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)</a:t>
            </a: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SET QUOTED_IDENTIFIER ON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 must be used if using quotation marks </a:t>
            </a: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(default is ON)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219320" y="76200"/>
            <a:ext cx="7497720" cy="838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Choosing Data Types Guideline</a:t>
            </a: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1066680" y="1066680"/>
            <a:ext cx="8076960" cy="54860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Use the data type that requires the least amount of disk space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It is costly to change data type later 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Use a variable-length data type, such as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NVARCHAR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or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VARCHAR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unless data is going to be updated frequently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Avoid using 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DATETIME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and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SMALLDATETIME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because they use more disk space and provide less precision than the new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TIME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and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DATETIME2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data types.</a:t>
            </a: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1219320" y="380880"/>
            <a:ext cx="7714080" cy="6324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Use 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VARCHAR(max)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NVARCHAR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(max)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and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VARBINARY(max)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data types instead of 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TEXT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NTEXT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and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IMAGE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data types</a:t>
            </a: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Only use (max) if a specified size cannot be used</a:t>
            </a:r>
            <a:b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Use 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FLOAT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or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REAL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data types only if the precision provided by decimal is insufficient.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066800" y="533400"/>
            <a:ext cx="7936620" cy="867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NULL or </a:t>
            </a:r>
            <a:r>
              <a:rPr lang="en-US" sz="40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NOT</a:t>
            </a: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NULL Constraint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09" name="TextShape 2"/>
          <p:cNvSpPr txBox="1"/>
          <p:nvPr/>
        </p:nvSpPr>
        <p:spPr>
          <a:xfrm>
            <a:off x="1435680" y="2362200"/>
            <a:ext cx="7497720" cy="3885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If the value for the column is optional - the column must allow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NULLs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Otherwise do not allow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NULL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1143000" y="152400"/>
            <a:ext cx="7790400" cy="685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Identity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11" name="TextShape 2"/>
          <p:cNvSpPr txBox="1"/>
          <p:nvPr/>
        </p:nvSpPr>
        <p:spPr>
          <a:xfrm>
            <a:off x="1435680" y="838200"/>
            <a:ext cx="7497720" cy="5867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All tables should have one column or a combination of columns that uniquely identifies rows in the table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This is called 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PRIMARY KEY</a:t>
            </a:r>
            <a:b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primary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key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, must be guaranteed to be unique and their values must  not change frequently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If you don’t have such a column use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IDENTITY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column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1295280" y="2209800"/>
            <a:ext cx="7619760" cy="821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&lt;column name&gt; &lt;data type&gt;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IDENTITY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(&lt;seed&gt;, &lt;increment&gt;) </a:t>
            </a:r>
            <a:r>
              <a:rPr lang="en-US" sz="2400" b="1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3" name="CustomShape 2"/>
          <p:cNvSpPr/>
          <p:nvPr/>
        </p:nvSpPr>
        <p:spPr>
          <a:xfrm>
            <a:off x="2768353" y="3208228"/>
            <a:ext cx="1676160" cy="1599840"/>
          </a:xfrm>
          <a:prstGeom prst="up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Start Value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CustomShape 3"/>
          <p:cNvSpPr/>
          <p:nvPr/>
        </p:nvSpPr>
        <p:spPr>
          <a:xfrm>
            <a:off x="4867303" y="3208228"/>
            <a:ext cx="1599840" cy="1599840"/>
          </a:xfrm>
          <a:prstGeom prst="up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Step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1143000" y="1981200"/>
            <a:ext cx="7772040" cy="2650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HR.Employees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EmployeeId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IDENTITY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(1000,2)   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                   NOT NULL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,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FirstName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NVARCHAR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(50) </a:t>
            </a: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,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LastName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NVARCHAR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(50) </a:t>
            </a: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,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BirthDate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DATE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</a:t>
            </a:r>
            <a:r>
              <a:rPr lang="en-US" sz="24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1295280" y="228600"/>
            <a:ext cx="7637760" cy="6477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IDENTITY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columns can not allow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NULL</a:t>
            </a:r>
            <a:b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An existing column cannot be modified to use 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IDENTITY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property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IDENTITY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column can be used only on data types that store whole numbers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They are not guaranteed to generate complete sequences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Shape 1"/>
          <p:cNvSpPr txBox="1"/>
          <p:nvPr/>
        </p:nvSpPr>
        <p:spPr>
          <a:xfrm>
            <a:off x="1143000" y="274680"/>
            <a:ext cx="7790400" cy="7159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Sequence Numbers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18" name="TextShape 2"/>
          <p:cNvSpPr txBox="1"/>
          <p:nvPr/>
        </p:nvSpPr>
        <p:spPr>
          <a:xfrm>
            <a:off x="1066800" y="1143000"/>
            <a:ext cx="7866600" cy="525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Are used to generate sequence numbers by using sequence objects 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Sequence objects are an optional way to generate unique numeric values in a table without many limitations of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Identity</a:t>
            </a:r>
            <a:b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 sequence is created independently of the tables by using the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CREATE SEQUENCE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1"/>
          <p:cNvSpPr txBox="1"/>
          <p:nvPr/>
        </p:nvSpPr>
        <p:spPr>
          <a:xfrm>
            <a:off x="1143000" y="274680"/>
            <a:ext cx="7790400" cy="868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Computed Columns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20" name="TextShape 2"/>
          <p:cNvSpPr txBox="1"/>
          <p:nvPr/>
        </p:nvSpPr>
        <p:spPr>
          <a:xfrm>
            <a:off x="1435680" y="1447920"/>
            <a:ext cx="7497720" cy="5257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Computed Column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is based on a formula that can reference the values of  non computed columns in the same row of the same table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Scalar functions can also be used in the definition of a computed column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You can </a:t>
            </a:r>
            <a:r>
              <a:rPr lang="en-US" sz="3200" b="0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never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write directly to computed columns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1523880" y="1752480"/>
            <a:ext cx="6400440" cy="22248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OrderDetails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orderid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  </a:t>
            </a:r>
            <a:r>
              <a:rPr lang="en-US" sz="20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unitprice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Decimal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(8,2) </a:t>
            </a:r>
            <a:r>
              <a:rPr lang="en-US" sz="20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qty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  </a:t>
            </a:r>
            <a:r>
              <a:rPr lang="en-US" sz="20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totalcost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AS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unitprice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*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qty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PERSISTED</a:t>
            </a:r>
            <a:r>
              <a:rPr lang="en-US" sz="2000" b="0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3" name="CustomShape 3"/>
          <p:cNvSpPr/>
          <p:nvPr/>
        </p:nvSpPr>
        <p:spPr>
          <a:xfrm rot="18543000">
            <a:off x="6330240" y="3461040"/>
            <a:ext cx="334440" cy="1351800"/>
          </a:xfrm>
          <a:prstGeom prst="upArrow">
            <a:avLst>
              <a:gd name="adj1" fmla="val 50000"/>
              <a:gd name="adj2" fmla="val 50000"/>
            </a:avLst>
          </a:prstGeom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2" name="CustomShape 2"/>
          <p:cNvSpPr/>
          <p:nvPr/>
        </p:nvSpPr>
        <p:spPr>
          <a:xfrm>
            <a:off x="6264056" y="4495800"/>
            <a:ext cx="1523520" cy="761760"/>
          </a:xfrm>
          <a:prstGeom prst="roundRect">
            <a:avLst>
              <a:gd name="adj" fmla="val 16667"/>
            </a:avLst>
          </a:prstGeom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Computed Column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295280" y="914400"/>
            <a:ext cx="7637760" cy="53337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PERSISTED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keyword can be used to physically store the column values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Only computed columns using deterministic functions can be marked as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PERSISTED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PERSISTED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computed columns can be indexed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Shape 1"/>
          <p:cNvSpPr txBox="1"/>
          <p:nvPr/>
        </p:nvSpPr>
        <p:spPr>
          <a:xfrm>
            <a:off x="1435680" y="274680"/>
            <a:ext cx="7497720" cy="944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Data Integrity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42" name="TextShape 2"/>
          <p:cNvSpPr txBox="1"/>
          <p:nvPr/>
        </p:nvSpPr>
        <p:spPr>
          <a:xfrm>
            <a:off x="1435680" y="1447920"/>
            <a:ext cx="7497720" cy="51052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Data integrity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ensures that data entered into the database </a:t>
            </a:r>
            <a: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:</a:t>
            </a: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Accurate, 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Valid, 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Consistent </a:t>
            </a: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Any applicable integrity constraints and data validation rules must be satisfied before permitting a change to the database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1143000" y="274680"/>
            <a:ext cx="7790400" cy="11426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Validating Data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44" name="TextShape 2"/>
          <p:cNvSpPr txBox="1"/>
          <p:nvPr/>
        </p:nvSpPr>
        <p:spPr>
          <a:xfrm>
            <a:off x="1295280" y="1676400"/>
            <a:ext cx="7637760" cy="4876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539640" indent="-457200">
              <a:lnSpc>
                <a:spcPct val="100000"/>
              </a:lnSpc>
              <a:buClr>
                <a:srgbClr val="3891A7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Declarative data integrity: Implementing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Constrains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on tables and columns when defining them</a:t>
            </a:r>
          </a:p>
          <a:p>
            <a:pPr marL="457200"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539640" indent="-457200">
              <a:lnSpc>
                <a:spcPct val="100000"/>
              </a:lnSpc>
              <a:buClr>
                <a:srgbClr val="3891A7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Procedural data integrity:   Implementing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Stored Procedures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and/or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Triggers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to check data before and after DML statements</a:t>
            </a:r>
          </a:p>
          <a:p>
            <a:pPr marL="596520" indent="-514080"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1143000" y="152400"/>
            <a:ext cx="7790400" cy="1066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Declarative Data Integrity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1435680" y="1066800"/>
            <a:ext cx="7497720" cy="5638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6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There are five type of constraints</a:t>
            </a:r>
            <a:endParaRPr lang="en-US" sz="3200" i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596520" indent="-514080">
              <a:lnSpc>
                <a:spcPct val="100000"/>
              </a:lnSpc>
              <a:buClr>
                <a:srgbClr val="3891A7"/>
              </a:buClr>
              <a:buSzPct val="80000"/>
              <a:buFont typeface="Gill Sans MT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PRIMARY KEY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596520" indent="-514080">
              <a:lnSpc>
                <a:spcPct val="100000"/>
              </a:lnSpc>
              <a:buClr>
                <a:srgbClr val="3891A7"/>
              </a:buClr>
              <a:buSzPct val="80000"/>
              <a:buFont typeface="Gill Sans MT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UNIQUE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596520" indent="-514080">
              <a:lnSpc>
                <a:spcPct val="100000"/>
              </a:lnSpc>
              <a:buClr>
                <a:srgbClr val="3891A7"/>
              </a:buClr>
              <a:buSzPct val="80000"/>
              <a:buFont typeface="Gill Sans MT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FOREIGN KEY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596520" indent="-514080">
              <a:lnSpc>
                <a:spcPct val="100000"/>
              </a:lnSpc>
              <a:buClr>
                <a:srgbClr val="3891A7"/>
              </a:buClr>
              <a:buSzPct val="80000"/>
              <a:buFont typeface="Gill Sans MT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CHECK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596520" indent="-514080">
              <a:lnSpc>
                <a:spcPct val="100000"/>
              </a:lnSpc>
              <a:buClr>
                <a:srgbClr val="3891A7"/>
              </a:buClr>
              <a:buSzPct val="80000"/>
              <a:buFont typeface="Gill Sans MT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DEFAULT</a:t>
            </a: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1435680" y="152400"/>
            <a:ext cx="7497720" cy="990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1) Primary key Constraints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48" name="TextShape 2"/>
          <p:cNvSpPr txBox="1"/>
          <p:nvPr/>
        </p:nvSpPr>
        <p:spPr>
          <a:xfrm>
            <a:off x="1219320" y="1066800"/>
            <a:ext cx="7714080" cy="55622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This constraints represent the unique identifier column/s that will enforce the uniqueness of each row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It is a best practice to always have a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PRIMARY KEY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in each table and to use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Identities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 that have no meaning to the application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Primary Key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cannot contain more than 16 columns or 900 bytes of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Shape 1"/>
          <p:cNvSpPr txBox="1"/>
          <p:nvPr/>
        </p:nvSpPr>
        <p:spPr>
          <a:xfrm>
            <a:off x="1219320" y="304920"/>
            <a:ext cx="7714080" cy="15998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 default index that is created for a primary key is a </a:t>
            </a:r>
            <a:r>
              <a:rPr lang="en-US" sz="3200" b="0" strike="noStrike" spc="-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clustered index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50" name="CustomShape 2"/>
          <p:cNvSpPr/>
          <p:nvPr/>
        </p:nvSpPr>
        <p:spPr>
          <a:xfrm>
            <a:off x="1219320" y="2362320"/>
            <a:ext cx="7714080" cy="25297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 TABLE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Production.Categories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categoryid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           </a:t>
            </a:r>
            <a:r>
              <a:rPr lang="en-US" sz="20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IDENTITY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categoryname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NVARCHAR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(15)  </a:t>
            </a:r>
            <a:r>
              <a:rPr lang="en-US" sz="20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description 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NVARCHAR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(200) </a:t>
            </a:r>
            <a:r>
              <a:rPr lang="en-US" sz="2000" b="1" strike="noStrike" spc="-1" dirty="0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NOT NULL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CONSTRAINT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PK_Categories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</a:t>
            </a: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 KEY 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categoryid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1219320" y="1295280"/>
            <a:ext cx="7314840" cy="30164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-- Primary key as a clustered index.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ALTER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MyTable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ADD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MyTableID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-- Primary key as a </a:t>
            </a:r>
            <a:r>
              <a:rPr lang="en-US" sz="2400" b="1" strike="noStrike" spc="-1" dirty="0" err="1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nonclustered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index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.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ALTER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MyTable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ADD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NONCLUSTERED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MyTableID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Shape 1"/>
          <p:cNvSpPr txBox="1"/>
          <p:nvPr/>
        </p:nvSpPr>
        <p:spPr>
          <a:xfrm>
            <a:off x="1295280" y="380880"/>
            <a:ext cx="7637760" cy="1523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sys.key_constraints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and </a:t>
            </a:r>
            <a:r>
              <a:rPr lang="en-US" sz="3200" b="0" strike="noStrike" spc="-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sys.indexes</a:t>
            </a: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catalog views provide information on PKs</a:t>
            </a:r>
          </a:p>
          <a:p>
            <a:pPr>
              <a:lnSpc>
                <a:spcPct val="100000"/>
              </a:lnSpc>
            </a:pP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53" name="CustomShape 2"/>
          <p:cNvSpPr/>
          <p:nvPr/>
        </p:nvSpPr>
        <p:spPr>
          <a:xfrm>
            <a:off x="1752480" y="2514600"/>
            <a:ext cx="6248160" cy="1005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SELECT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*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FROM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</a:t>
            </a:r>
            <a:r>
              <a:rPr lang="en-US" sz="20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sys.key_constraints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WHERE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type = </a:t>
            </a:r>
            <a:r>
              <a:rPr lang="en-US" sz="20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'PK'</a:t>
            </a:r>
            <a:r>
              <a:rPr lang="en-US" sz="20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1752480" y="4267080"/>
            <a:ext cx="6248160" cy="14619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SELECT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*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FROM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</a:t>
            </a:r>
            <a:r>
              <a:rPr lang="en-US" sz="18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sys.indexes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WHERE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18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object_id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</a:t>
            </a:r>
            <a:r>
              <a:rPr lang="en-US" sz="1800" b="1" strike="noStrike" spc="-1" dirty="0">
                <a:solidFill>
                  <a:srgbClr val="FF3399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OBJECT_ID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18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</a:t>
            </a:r>
            <a:r>
              <a:rPr lang="en-US" sz="18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Production.Categories</a:t>
            </a:r>
            <a:r>
              <a:rPr lang="en-US" sz="18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 AND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name = </a:t>
            </a:r>
            <a:r>
              <a:rPr lang="en-US" sz="18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</a:t>
            </a:r>
            <a:r>
              <a:rPr lang="en-US" sz="18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PK_Categories</a:t>
            </a:r>
            <a:r>
              <a:rPr lang="en-US" sz="18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1828800" y="1905120"/>
            <a:ext cx="5562360" cy="395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List the primary key constraints in a database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1435680" y="152400"/>
            <a:ext cx="7497720" cy="9906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2) Unique constraints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1435680" y="1447920"/>
            <a:ext cx="7497720" cy="53338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Unique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constraints are similar to PRIMARY KEY constraints, except that you can have more than one unique constraint per table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Unique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constraint is a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non-clustered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index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Does not require NOT NULL constraint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Shape 1"/>
          <p:cNvSpPr txBox="1"/>
          <p:nvPr/>
        </p:nvSpPr>
        <p:spPr>
          <a:xfrm>
            <a:off x="1435680" y="152400"/>
            <a:ext cx="7497720" cy="1143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36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3) FOREIGN KEY CONSTRAINTS</a:t>
            </a:r>
            <a:endParaRPr lang="en-US" sz="1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59" name="TextShape 2"/>
          <p:cNvSpPr txBox="1"/>
          <p:nvPr/>
        </p:nvSpPr>
        <p:spPr>
          <a:xfrm>
            <a:off x="1435680" y="1447800"/>
            <a:ext cx="7497720" cy="4800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Foreign key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constraints identify a column or combination of columns whose values must exist in another column or combination of columns in another table in the same database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These constraints enforce a relationship between two tables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2"/>
          <p:cNvPicPr/>
          <p:nvPr/>
        </p:nvPicPr>
        <p:blipFill>
          <a:blip r:embed="rId2"/>
          <a:stretch/>
        </p:blipFill>
        <p:spPr>
          <a:xfrm>
            <a:off x="2590920" y="304920"/>
            <a:ext cx="4419360" cy="6206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1371600" y="533520"/>
            <a:ext cx="7467120" cy="4845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 TABLE 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Team(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TeamID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		</a:t>
            </a:r>
            <a:r>
              <a:rPr lang="en-US" sz="2400" b="1" strike="noStrike" spc="-1" dirty="0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TeamName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	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varchar(50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TeamMember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TeamMemberID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FullName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varchar(100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TeamID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</a:t>
            </a:r>
            <a:r>
              <a:rPr lang="en-US" sz="2400" b="1" strike="noStrike" spc="-1" dirty="0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CONSTRAINT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                			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FK_Team_TeamMem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FOREIGN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REFERENCES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Team(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TeamID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Shape 1"/>
          <p:cNvSpPr txBox="1"/>
          <p:nvPr/>
        </p:nvSpPr>
        <p:spPr>
          <a:xfrm>
            <a:off x="1219320" y="380880"/>
            <a:ext cx="7714080" cy="6095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Foreign key rules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: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 columns must have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exactly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the same data type and collation</a:t>
            </a: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 columns being referenced must have a unique index created on them. (primary key or unique constraint)</a:t>
            </a:r>
            <a:b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 foreign key columns have the same size limitations as that of the primary key and unique constraints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Shape 1"/>
          <p:cNvSpPr txBox="1"/>
          <p:nvPr/>
        </p:nvSpPr>
        <p:spPr>
          <a:xfrm>
            <a:off x="1295280" y="533520"/>
            <a:ext cx="7637760" cy="35049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SQL Server queries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FKs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to verify referential integrity when deleting or updating primary key rows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sys.foreign_keys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and </a:t>
            </a:r>
            <a:r>
              <a:rPr lang="en-US" sz="3200" b="0" strike="noStrike" spc="-1" dirty="0" err="1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sys.foreign_key_columns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catalog views provide information on FKs</a:t>
            </a: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>
              <a:lnSpc>
                <a:spcPct val="100000"/>
              </a:lnSpc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64" name="CustomShape 2"/>
          <p:cNvSpPr/>
          <p:nvPr/>
        </p:nvSpPr>
        <p:spPr>
          <a:xfrm>
            <a:off x="1295280" y="4648200"/>
            <a:ext cx="731532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SELECT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* 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FROM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18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sys.foreign_keys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WHERE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name = </a:t>
            </a:r>
            <a:r>
              <a:rPr lang="en-US" sz="18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</a:t>
            </a:r>
            <a:r>
              <a:rPr lang="en-US" sz="18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FK_Products_Categories</a:t>
            </a:r>
            <a:r>
              <a:rPr lang="en-US" sz="18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</a:t>
            </a:r>
            <a:r>
              <a:rPr lang="en-US" sz="1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1295280" y="609600"/>
            <a:ext cx="7637760" cy="6019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 foreign key constraint stops  a referential integrity violation which may occur because of a </a:t>
            </a:r>
            <a:r>
              <a:rPr lang="en-US" sz="32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DELETE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or an </a:t>
            </a:r>
            <a:r>
              <a:rPr lang="en-US" sz="32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UPDATE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of a row that it references, the default reaction is to raise an error message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You can change the default action to:</a:t>
            </a: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NO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ACTION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 (the default)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NULL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</a:t>
            </a: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DEFAULT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640080" lvl="1" indent="-237240">
              <a:lnSpc>
                <a:spcPct val="100000"/>
              </a:lnSpc>
              <a:buClr>
                <a:srgbClr val="3891A7"/>
              </a:buClr>
              <a:buFont typeface="Verdana"/>
              <a:buChar char="◦"/>
            </a:pPr>
            <a:r>
              <a:rPr lang="en-US" sz="28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CASCADE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Shape 1"/>
          <p:cNvSpPr txBox="1"/>
          <p:nvPr/>
        </p:nvSpPr>
        <p:spPr>
          <a:xfrm>
            <a:off x="1295280" y="304920"/>
            <a:ext cx="7561800" cy="6324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No ACTION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: This is the default action. No special action is taken,  and if the FOREIGN KEY is violated, the statement rolls back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CASCADE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: Propagate the update or delete action to child rows  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SET NULL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: Set the values of the FOREIGN KEY column to null for all  related records</a:t>
            </a: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SET DEFAULT: 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Set the values of the FOREIGN KEY column to its default values for all related records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1295280" y="228600"/>
            <a:ext cx="7467120" cy="4845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Test.Customers 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CustomerID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Test.Orders 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OrderID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,CustomerID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NULL 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FOREIGN KEY REFERENCES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Test.Customers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    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ON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DELETE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SET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NULL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         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ON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UPDATE</a:t>
            </a: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CASCADE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0" name="CustomShape 2"/>
          <p:cNvSpPr/>
          <p:nvPr/>
        </p:nvSpPr>
        <p:spPr>
          <a:xfrm rot="5400000">
            <a:off x="1943280" y="3467160"/>
            <a:ext cx="1218960" cy="2209320"/>
          </a:xfrm>
          <a:prstGeom prst="rightBrace">
            <a:avLst>
              <a:gd name="adj1" fmla="val 8333"/>
              <a:gd name="adj2" fmla="val 51127"/>
            </a:avLst>
          </a:prstGeom>
          <a:noFill/>
          <a:ln w="25560"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1" name="CustomShape 3"/>
          <p:cNvSpPr/>
          <p:nvPr/>
        </p:nvSpPr>
        <p:spPr>
          <a:xfrm>
            <a:off x="1828800" y="5181480"/>
            <a:ext cx="1599840" cy="609120"/>
          </a:xfrm>
          <a:prstGeom prst="rect">
            <a:avLst/>
          </a:prstGeom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Optional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Shape 1"/>
          <p:cNvSpPr txBox="1"/>
          <p:nvPr/>
        </p:nvSpPr>
        <p:spPr>
          <a:xfrm>
            <a:off x="1435680" y="274680"/>
            <a:ext cx="7497720" cy="8683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4) CHECK CONSTRAINTS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73" name="TextShape 2"/>
          <p:cNvSpPr txBox="1"/>
          <p:nvPr/>
        </p:nvSpPr>
        <p:spPr>
          <a:xfrm>
            <a:off x="1219320" y="1295400"/>
            <a:ext cx="7714080" cy="541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These constraints validate the integrity of data in a column by checking it against a valid comparison</a:t>
            </a:r>
            <a:b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They reject values that evaluate to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False</a:t>
            </a:r>
            <a:b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Error messages from check constraints are system-generated and cannot be replaced by a more user-friendly error message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Shape 1"/>
          <p:cNvSpPr txBox="1"/>
          <p:nvPr/>
        </p:nvSpPr>
        <p:spPr>
          <a:xfrm>
            <a:off x="1371600" y="457200"/>
            <a:ext cx="7561800" cy="6248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A check constraint cannot “see” the previous value of a column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The expression in a check constraint can contain most of the logic that you can use in a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WHERE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clause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It can call scalar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UDFs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and reference other columns in the same table</a:t>
            </a:r>
            <a:br>
              <a:rPr lang="en-US" sz="32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It is not allowed to contain </a:t>
            </a:r>
            <a:r>
              <a:rPr lang="en-US" sz="3200" b="0" strike="noStrike" spc="-1" dirty="0">
                <a:solidFill>
                  <a:srgbClr val="0070C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subqueries</a:t>
            </a: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 directly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1143000" y="380880"/>
            <a:ext cx="7695720" cy="4845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CREATE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TABLE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Stars (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StarID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 err="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PRIMARY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StarName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varchar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(50)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Unique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SolarMass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decimal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(10,2)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CHECK 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(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SolarMass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&gt; 0),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StarType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varchar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(50) 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   </a:t>
            </a: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DEFAULT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4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‘Orange Giant’</a:t>
            </a:r>
            <a:endParaRPr lang="en-US" sz="1800" b="0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GO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INSERT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Stars(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StarID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StarName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SolarMass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4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StarType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1" strike="noStrike" spc="-1" dirty="0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VALUES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(3, </a:t>
            </a:r>
            <a:r>
              <a:rPr lang="en-US" sz="24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'Deneb'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-6, </a:t>
            </a:r>
            <a:r>
              <a:rPr lang="en-US" sz="24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'supergiant'</a:t>
            </a:r>
            <a:r>
              <a:rPr lang="en-US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);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 flipV="1">
            <a:off x="4343400" y="5181480"/>
            <a:ext cx="685440" cy="685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0760">
            <a:round/>
            <a:tailEnd type="arrow" w="med" len="med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7" name="CustomShape 3"/>
          <p:cNvSpPr/>
          <p:nvPr/>
        </p:nvSpPr>
        <p:spPr>
          <a:xfrm>
            <a:off x="2895480" y="5867280"/>
            <a:ext cx="2895120" cy="761760"/>
          </a:xfrm>
          <a:prstGeom prst="rect">
            <a:avLst/>
          </a:prstGeom>
          <a:ln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2000" b="1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Conflicts with check constraint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Shape 1"/>
          <p:cNvSpPr txBox="1"/>
          <p:nvPr/>
        </p:nvSpPr>
        <p:spPr>
          <a:xfrm>
            <a:off x="1435680" y="274680"/>
            <a:ext cx="7497720" cy="19351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Check &amp; FK Constraints </a:t>
            </a:r>
            <a:b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vs </a:t>
            </a:r>
            <a:b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</a:br>
            <a:r>
              <a:rPr lang="en-US" sz="4300" b="0" strike="noStrike" spc="-1" dirty="0">
                <a:solidFill>
                  <a:srgbClr val="572314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QUERY PERFORMANCE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Gill Sans MT"/>
            </a:endParaRPr>
          </a:p>
        </p:txBody>
      </p:sp>
      <p:sp>
        <p:nvSpPr>
          <p:cNvPr id="179" name="TextShape 2"/>
          <p:cNvSpPr txBox="1"/>
          <p:nvPr/>
        </p:nvSpPr>
        <p:spPr>
          <a:xfrm>
            <a:off x="1295280" y="2667000"/>
            <a:ext cx="7637760" cy="35811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65760" indent="-282960">
              <a:lnSpc>
                <a:spcPct val="100000"/>
              </a:lnSpc>
              <a:buClr>
                <a:srgbClr val="3891A7"/>
              </a:buClr>
              <a:buSzPct val="80000"/>
              <a:buFont typeface="Wingdings 2" charset="2"/>
              <a:buChar char=""/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Gill Sans MT"/>
              </a:rPr>
              <a:t>Because foreign keys and check constraints are declared rules, the optimizer can use them to create more efficient query plans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3026</TotalTime>
  <Words>1694</Words>
  <Application>Microsoft Office PowerPoint</Application>
  <PresentationFormat>On-screen Show (4:3)</PresentationFormat>
  <Paragraphs>212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Courier New</vt:lpstr>
      <vt:lpstr>Gill Sans MT</vt:lpstr>
      <vt:lpstr>Symbol</vt:lpstr>
      <vt:lpstr>Times New Roman</vt:lpstr>
      <vt:lpstr>Verdana</vt:lpstr>
      <vt:lpstr>Wingdings</vt:lpstr>
      <vt:lpstr>Wingdings 2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Habib</dc:creator>
  <dc:description/>
  <cp:lastModifiedBy>Andrei T</cp:lastModifiedBy>
  <cp:revision>232</cp:revision>
  <dcterms:created xsi:type="dcterms:W3CDTF">2006-08-16T00:00:00Z</dcterms:created>
  <dcterms:modified xsi:type="dcterms:W3CDTF">2024-10-25T01:28:33Z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50</vt:i4>
  </property>
</Properties>
</file>