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4"/>
  </p:notesMasterIdLst>
  <p:sldIdLst>
    <p:sldId id="256" r:id="rId2"/>
    <p:sldId id="257" r:id="rId3"/>
    <p:sldId id="314" r:id="rId4"/>
    <p:sldId id="269" r:id="rId5"/>
    <p:sldId id="270" r:id="rId6"/>
    <p:sldId id="271" r:id="rId7"/>
    <p:sldId id="290" r:id="rId8"/>
    <p:sldId id="291" r:id="rId9"/>
    <p:sldId id="327" r:id="rId10"/>
    <p:sldId id="328" r:id="rId11"/>
    <p:sldId id="329" r:id="rId12"/>
    <p:sldId id="315" r:id="rId13"/>
    <p:sldId id="292" r:id="rId14"/>
    <p:sldId id="273" r:id="rId15"/>
    <p:sldId id="274" r:id="rId16"/>
    <p:sldId id="324" r:id="rId17"/>
    <p:sldId id="325" r:id="rId18"/>
    <p:sldId id="323" r:id="rId19"/>
    <p:sldId id="326" r:id="rId20"/>
    <p:sldId id="300" r:id="rId21"/>
    <p:sldId id="301" r:id="rId22"/>
    <p:sldId id="330" r:id="rId23"/>
    <p:sldId id="302" r:id="rId24"/>
    <p:sldId id="303" r:id="rId25"/>
    <p:sldId id="305" r:id="rId26"/>
    <p:sldId id="306" r:id="rId27"/>
    <p:sldId id="307" r:id="rId28"/>
    <p:sldId id="308" r:id="rId29"/>
    <p:sldId id="311" r:id="rId30"/>
    <p:sldId id="309" r:id="rId31"/>
    <p:sldId id="331" r:id="rId32"/>
    <p:sldId id="310" r:id="rId3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7" autoAdjust="0"/>
    <p:restoredTop sz="94660"/>
  </p:normalViewPr>
  <p:slideViewPr>
    <p:cSldViewPr>
      <p:cViewPr varScale="1">
        <p:scale>
          <a:sx n="106" d="100"/>
          <a:sy n="106" d="100"/>
        </p:scale>
        <p:origin x="175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3E751BC-C766-4A68-B439-70733219D258}" type="datetimeFigureOut">
              <a:rPr lang="en-CA" smtClean="0"/>
              <a:pPr/>
              <a:t>2024-10-18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2A43C0C-D7E5-46DC-91BC-F16527C97256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6410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43C0C-D7E5-46DC-91BC-F16527C97256}" type="slidenum">
              <a:rPr lang="en-CA" smtClean="0"/>
              <a:pPr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428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43C0C-D7E5-46DC-91BC-F16527C97256}" type="slidenum">
              <a:rPr lang="en-CA" smtClean="0"/>
              <a:pPr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7354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A43C0C-D7E5-46DC-91BC-F16527C97256}" type="slidenum">
              <a:rPr lang="en-CA" smtClean="0"/>
              <a:pPr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2768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Lesson 5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Advanced Query Techniques</a:t>
            </a:r>
            <a:endParaRPr lang="en-C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Objective</a:t>
            </a:r>
            <a:endParaRPr lang="en-CA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lesson we will learn: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Sub Queries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Common Table Expression (CTE)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pPr algn="ctr"/>
            <a:r>
              <a:rPr lang="en-US" dirty="0"/>
              <a:t>IN Operator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960" y="935711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/>
              <a:t>Determines whether a specified value matches any value in a sub-query or a list.</a:t>
            </a:r>
            <a:endParaRPr lang="en-CA" dirty="0"/>
          </a:p>
        </p:txBody>
      </p:sp>
      <p:sp>
        <p:nvSpPr>
          <p:cNvPr id="6" name="Rectangle 5"/>
          <p:cNvSpPr/>
          <p:nvPr/>
        </p:nvSpPr>
        <p:spPr>
          <a:xfrm>
            <a:off x="1297619" y="2057400"/>
            <a:ext cx="76200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Job_Name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Job_Descriptions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Company_Jobs_Descriptions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[Job]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Company_Job_Skills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Skill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'Patience’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'Accuracy’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'Brainstorming'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Job_Name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b="1" dirty="0">
              <a:solidFill>
                <a:srgbClr val="0000FF"/>
              </a:solidFill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1701" y="5906960"/>
            <a:ext cx="7620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'Patience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'Accuracy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'Brainstorming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endParaRPr lang="en-CA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Equal 7"/>
          <p:cNvSpPr/>
          <p:nvPr/>
        </p:nvSpPr>
        <p:spPr>
          <a:xfrm>
            <a:off x="4724400" y="5537940"/>
            <a:ext cx="457200" cy="304800"/>
          </a:xfrm>
          <a:prstGeom prst="mathEqual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pPr algn="ctr"/>
            <a:r>
              <a:rPr lang="en-US" dirty="0"/>
              <a:t>Subqueries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219200"/>
            <a:ext cx="7696200" cy="54864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Subqueries</a:t>
            </a:r>
            <a:r>
              <a:rPr lang="en-US" dirty="0"/>
              <a:t> allow you to nest one query within another to build complex routines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Subquery can return a single value (scalar) or multiple values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Two types of subqueries: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non-correlated</a:t>
            </a:r>
            <a:r>
              <a:rPr lang="en-US" dirty="0"/>
              <a:t> subquery: Is independent of the outer query within which it is contained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correlated</a:t>
            </a:r>
            <a:r>
              <a:rPr lang="en-US" dirty="0"/>
              <a:t> subquery: Depends upon and references columns from the outer query</a:t>
            </a:r>
            <a:endParaRPr lang="en-C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Non-correlated Subqueries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828800"/>
            <a:ext cx="7498080" cy="28194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non-correlated</a:t>
            </a:r>
            <a:r>
              <a:rPr lang="en-US" dirty="0"/>
              <a:t> subquery can be executed on its own without relying on main outer query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It is executed only once</a:t>
            </a:r>
            <a:endParaRPr lang="en-C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40528" y="1709691"/>
            <a:ext cx="7543800" cy="42473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 JOB_PORTAL_DB</a:t>
            </a:r>
            <a:b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b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Login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Street_Address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'CAD'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 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'CAD'</a:t>
            </a:r>
            <a:r>
              <a:rPr lang="en-US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b="1" dirty="0">
              <a:latin typeface="Courier New" panose="02070309020205020404" pitchFamily="49" charset="0"/>
              <a:cs typeface="Courier New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itchFamily="49" charset="0"/>
            </a:endParaRPr>
          </a:p>
          <a:p>
            <a:endParaRPr lang="en-US" sz="2400" b="1" dirty="0">
              <a:latin typeface="Courier New" panose="02070309020205020404" pitchFamily="49" charset="0"/>
              <a:cs typeface="Courier New" pitchFamily="49" charset="0"/>
            </a:endParaRPr>
          </a:p>
          <a:p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410200" y="3852909"/>
            <a:ext cx="762000" cy="947691"/>
          </a:xfrm>
          <a:prstGeom prst="rightBrace">
            <a:avLst>
              <a:gd name="adj1" fmla="val 8333"/>
              <a:gd name="adj2" fmla="val 50000"/>
            </a:avLst>
          </a:prstGeom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6309064" y="3517777"/>
            <a:ext cx="2438400" cy="1600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This subquery does not reference the outer </a:t>
            </a:r>
            <a:r>
              <a:rPr lang="en-US" sz="2000" b="1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/>
              <a:t> statement</a:t>
            </a:r>
            <a:endParaRPr lang="en-CA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3048000" y="488272"/>
            <a:ext cx="40386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000" dirty="0">
                <a:solidFill>
                  <a:schemeClr val="tx1"/>
                </a:solidFill>
              </a:rPr>
              <a:t>Scalar non-correlated </a:t>
            </a:r>
            <a:r>
              <a:rPr lang="en-CA" sz="2000" dirty="0" err="1">
                <a:solidFill>
                  <a:schemeClr val="tx1"/>
                </a:solidFill>
              </a:rPr>
              <a:t>subquerie</a:t>
            </a:r>
            <a:endParaRPr lang="en-CA" sz="2000" dirty="0">
              <a:solidFill>
                <a:schemeClr val="tx1"/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4419600" y="3657600"/>
            <a:ext cx="381000" cy="3048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pPr algn="ctr"/>
            <a:r>
              <a:rPr lang="en-CA" dirty="0"/>
              <a:t>Derived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143000"/>
            <a:ext cx="7498080" cy="2895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Derived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 is a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 used within a </a:t>
            </a:r>
            <a:r>
              <a:rPr lang="en-US" dirty="0">
                <a:solidFill>
                  <a:srgbClr val="0070C0"/>
                </a:solidFill>
              </a:rPr>
              <a:t>FROM</a:t>
            </a:r>
            <a:r>
              <a:rPr lang="en-US" dirty="0"/>
              <a:t> clause of another </a:t>
            </a:r>
            <a:r>
              <a:rPr lang="en-US" dirty="0">
                <a:solidFill>
                  <a:srgbClr val="0070C0"/>
                </a:solidFill>
              </a:rPr>
              <a:t>SELECT</a:t>
            </a:r>
            <a:r>
              <a:rPr lang="en-US" dirty="0"/>
              <a:t> statement.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You can wrap the </a:t>
            </a:r>
            <a:r>
              <a:rPr lang="en-US" dirty="0">
                <a:solidFill>
                  <a:srgbClr val="0070C0"/>
                </a:solidFill>
              </a:rPr>
              <a:t>Derived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 in parentheses and specify an alias to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62200" y="4191000"/>
            <a:ext cx="3505200" cy="2438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   *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FROM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SELECT *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FROM …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WHERE . . .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AS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tempResult</a:t>
            </a: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WHERE . . .</a:t>
            </a:r>
            <a:endParaRPr lang="en-CA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5257800" y="4953000"/>
            <a:ext cx="381000" cy="1219200"/>
          </a:xfrm>
          <a:prstGeom prst="rightBrace">
            <a:avLst>
              <a:gd name="adj1" fmla="val 8333"/>
              <a:gd name="adj2" fmla="val 50000"/>
            </a:avLst>
          </a:prstGeom>
          <a:ln w="508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ounded Rectangle 6"/>
          <p:cNvSpPr/>
          <p:nvPr/>
        </p:nvSpPr>
        <p:spPr>
          <a:xfrm>
            <a:off x="5715000" y="5334000"/>
            <a:ext cx="1600200" cy="457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Derived Table</a:t>
            </a:r>
            <a:endParaRPr lang="en-CA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609600"/>
            <a:ext cx="7790688" cy="6019800"/>
          </a:xfrm>
        </p:spPr>
        <p:txBody>
          <a:bodyPr>
            <a:normAutofit/>
          </a:bodyPr>
          <a:lstStyle/>
          <a:p>
            <a:r>
              <a:rPr lang="en-US" dirty="0"/>
              <a:t>The main benefit of a </a:t>
            </a:r>
            <a:r>
              <a:rPr lang="en-US" dirty="0">
                <a:solidFill>
                  <a:srgbClr val="0070C0"/>
                </a:solidFill>
              </a:rPr>
              <a:t>Derived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 is that the result set resides entirely in memory, which allows faster data access than if the result set were on a  storage  device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Any routine that uses a temporary table to store an  intermediate result set that is used by a subsequent query can use a </a:t>
            </a:r>
            <a:r>
              <a:rPr lang="en-US" dirty="0">
                <a:solidFill>
                  <a:srgbClr val="0070C0"/>
                </a:solidFill>
              </a:rPr>
              <a:t>Derived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 instead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7498080" cy="990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 - </a:t>
            </a:r>
            <a:r>
              <a:rPr lang="en-US" dirty="0"/>
              <a:t>Compute row numbers for applicants, partitioned by </a:t>
            </a:r>
            <a:r>
              <a:rPr lang="en-US" i="1" dirty="0"/>
              <a:t>Country</a:t>
            </a:r>
            <a:r>
              <a:rPr lang="en-US" dirty="0"/>
              <a:t>, and ordered by </a:t>
            </a:r>
            <a:r>
              <a:rPr lang="en-US" i="1" dirty="0"/>
              <a:t>Salary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B433A6-4ABF-4F7A-A8F6-D244EBDDDACD}"/>
              </a:ext>
            </a:extLst>
          </p:cNvPr>
          <p:cNvSpPr/>
          <p:nvPr/>
        </p:nvSpPr>
        <p:spPr>
          <a:xfrm>
            <a:off x="1386840" y="1219200"/>
            <a:ext cx="7376160" cy="228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733BDB-026F-4A4C-9F27-FCA52B968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840" y="3542190"/>
            <a:ext cx="478536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6000" y="5403172"/>
            <a:ext cx="5562600" cy="533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Remember : Can not  use alias in WHERE clause </a:t>
            </a:r>
            <a:endParaRPr lang="en-CA" b="1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3000" y="228600"/>
            <a:ext cx="7498080" cy="9906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II -</a:t>
            </a:r>
            <a:r>
              <a:rPr lang="en-US" dirty="0"/>
              <a:t> Problem arises if we need to filter by computed column </a:t>
            </a:r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15EFB3-AAAE-49D4-8AAF-83C67140662D}"/>
              </a:ext>
            </a:extLst>
          </p:cNvPr>
          <p:cNvSpPr/>
          <p:nvPr/>
        </p:nvSpPr>
        <p:spPr>
          <a:xfrm>
            <a:off x="1371600" y="1828800"/>
            <a:ext cx="7376160" cy="2590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3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Left Arrow 8"/>
          <p:cNvSpPr/>
          <p:nvPr/>
        </p:nvSpPr>
        <p:spPr>
          <a:xfrm>
            <a:off x="4030980" y="4067083"/>
            <a:ext cx="2057400" cy="304800"/>
          </a:xfrm>
          <a:prstGeom prst="leftArrow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Multiply 7"/>
          <p:cNvSpPr/>
          <p:nvPr/>
        </p:nvSpPr>
        <p:spPr>
          <a:xfrm>
            <a:off x="5981700" y="3381283"/>
            <a:ext cx="1905000" cy="1676400"/>
          </a:xfrm>
          <a:prstGeom prst="mathMultiply">
            <a:avLst>
              <a:gd name="adj1" fmla="val 1046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"/>
            <a:ext cx="7498080" cy="762000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III - </a:t>
            </a:r>
            <a:r>
              <a:rPr lang="en-US" dirty="0"/>
              <a:t>Solution</a:t>
            </a:r>
            <a:endParaRPr lang="en-CA" dirty="0"/>
          </a:p>
        </p:txBody>
      </p:sp>
      <p:sp>
        <p:nvSpPr>
          <p:cNvPr id="6" name="Rounded Rectangle 5"/>
          <p:cNvSpPr/>
          <p:nvPr/>
        </p:nvSpPr>
        <p:spPr>
          <a:xfrm>
            <a:off x="5334000" y="5105400"/>
            <a:ext cx="3505200" cy="533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FF00"/>
                </a:solidFill>
              </a:rPr>
              <a:t>rownum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/>
              <a:t>can be  referenced</a:t>
            </a:r>
            <a:endParaRPr lang="en-CA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FC1CB-5B7B-43D4-ABC0-4C121CCAFB9A}"/>
              </a:ext>
            </a:extLst>
          </p:cNvPr>
          <p:cNvSpPr/>
          <p:nvPr/>
        </p:nvSpPr>
        <p:spPr>
          <a:xfrm>
            <a:off x="1386840" y="1219200"/>
            <a:ext cx="7376160" cy="281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 flipV="1">
            <a:off x="3429000" y="3958331"/>
            <a:ext cx="3429000" cy="1070869"/>
          </a:xfrm>
          <a:prstGeom prst="straightConnector1">
            <a:avLst/>
          </a:prstGeom>
          <a:ln w="412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C2CEBA8-53CF-42C1-8BC0-A97C291B5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4869217"/>
            <a:ext cx="37528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3831" y="1674674"/>
            <a:ext cx="731520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[TSQL2012]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2000" b="1" dirty="0">
              <a:solidFill>
                <a:srgbClr val="0000FF"/>
              </a:solidFill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3000" y="228600"/>
            <a:ext cx="8001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Find list of employees along with how many other employees have the same </a:t>
            </a:r>
            <a:r>
              <a:rPr lang="en-US" sz="2400" i="1" dirty="0"/>
              <a:t>Job Title</a:t>
            </a:r>
            <a:r>
              <a:rPr lang="en-US" sz="2400" dirty="0"/>
              <a:t>.</a:t>
            </a:r>
            <a:endParaRPr lang="en-CA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867E80-CEE4-4B83-A1FB-4A997436F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1" y="4285793"/>
            <a:ext cx="3659170" cy="1795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5800" y="275927"/>
            <a:ext cx="8077200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[TSQL2012]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EmpId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TitleTotal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TitleTotal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Title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24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3276600" y="1988230"/>
            <a:ext cx="2514600" cy="1050391"/>
          </a:xfrm>
          <a:prstGeom prst="straightConnector1">
            <a:avLst/>
          </a:prstGeom>
          <a:ln w="15875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086600" y="392440"/>
            <a:ext cx="1524000" cy="10668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You have to use alias here </a:t>
            </a:r>
            <a:endParaRPr lang="en-CA" b="1" dirty="0"/>
          </a:p>
        </p:txBody>
      </p: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6172200" y="1459240"/>
            <a:ext cx="914400" cy="396068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97327A5-66B1-4787-ADE2-D69B70AA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181" y="3988462"/>
            <a:ext cx="3356637" cy="2665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42E43-7EA0-4A82-8CD6-58230387A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94" y="3195006"/>
            <a:ext cx="3417277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8" y="76200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Correlated </a:t>
            </a:r>
            <a:r>
              <a:rPr lang="en-CA" dirty="0" err="1"/>
              <a:t>Subqueries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</a:t>
            </a:r>
            <a:r>
              <a:rPr lang="en-US" dirty="0">
                <a:solidFill>
                  <a:srgbClr val="0070C0"/>
                </a:solidFill>
              </a:rPr>
              <a:t>correlated</a:t>
            </a:r>
            <a:r>
              <a:rPr lang="en-US" dirty="0"/>
              <a:t> sub-query, the inner query depends upon the values from the outer query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causes the inner query to be executed repeatedly based on input from the </a:t>
            </a:r>
            <a:r>
              <a:rPr lang="en-US"/>
              <a:t>outer query</a:t>
            </a:r>
            <a:endParaRPr lang="en-C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52400"/>
            <a:ext cx="7924800" cy="914400"/>
          </a:xfrm>
        </p:spPr>
        <p:txBody>
          <a:bodyPr>
            <a:normAutofit fontScale="92500" lnSpcReduction="10000"/>
          </a:bodyPr>
          <a:lstStyle/>
          <a:p>
            <a:pPr marL="0">
              <a:buNone/>
            </a:pPr>
            <a:r>
              <a:rPr lang="en-US" dirty="0">
                <a:solidFill>
                  <a:srgbClr val="002060"/>
                </a:solidFill>
              </a:rPr>
              <a:t>Return products with the minimum unit price per category</a:t>
            </a:r>
            <a:endParaRPr lang="en-CA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6800" y="1149340"/>
            <a:ext cx="7848600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 TSQL2012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categoryid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productid,productname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unitprice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Production.Products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P1 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unitprice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=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(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MIN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unitprice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Production.Products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P2 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P2.categoryid = P1.categoryid);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34200" y="2474042"/>
            <a:ext cx="1828800" cy="990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Returns The MIN unit price per category</a:t>
            </a:r>
            <a:endParaRPr lang="en-CA" b="1" dirty="0"/>
          </a:p>
        </p:txBody>
      </p:sp>
      <p:sp>
        <p:nvSpPr>
          <p:cNvPr id="12" name="Up Arrow 11"/>
          <p:cNvSpPr/>
          <p:nvPr/>
        </p:nvSpPr>
        <p:spPr>
          <a:xfrm>
            <a:off x="5791200" y="4493342"/>
            <a:ext cx="228600" cy="3048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Up Arrow 7"/>
          <p:cNvSpPr/>
          <p:nvPr/>
        </p:nvSpPr>
        <p:spPr>
          <a:xfrm>
            <a:off x="6324600" y="2969342"/>
            <a:ext cx="228600" cy="3048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 descr="Untitled-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4800600"/>
            <a:ext cx="5575183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68362"/>
          </a:xfrm>
        </p:spPr>
        <p:txBody>
          <a:bodyPr/>
          <a:lstStyle/>
          <a:p>
            <a:pPr algn="ctr"/>
            <a:r>
              <a:rPr lang="en-US" dirty="0"/>
              <a:t>Exists operator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2286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</a:rPr>
              <a:t>EXISTS</a:t>
            </a:r>
            <a:r>
              <a:rPr lang="en-US" dirty="0"/>
              <a:t> predicate accepts a sub-query as input and returns true when the sub-query returns at least one row and false otherwise.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676400" y="3962400"/>
            <a:ext cx="70104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Company_Profiles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NULL)</a:t>
            </a:r>
            <a:endParaRPr lang="en-CA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Left Arrow 4"/>
          <p:cNvSpPr/>
          <p:nvPr/>
        </p:nvSpPr>
        <p:spPr>
          <a:xfrm rot="2224171">
            <a:off x="5050667" y="5596743"/>
            <a:ext cx="1905000" cy="679576"/>
          </a:xfrm>
          <a:prstGeom prst="lef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Always true !</a:t>
            </a:r>
            <a:endParaRPr lang="en-CA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8586" y="609600"/>
            <a:ext cx="7644414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Security_Logins_Log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b="1" dirty="0">
              <a:solidFill>
                <a:srgbClr val="0000FF"/>
              </a:solidFill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18586" y="4114800"/>
            <a:ext cx="7631097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Security_Logins_Log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SLL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b="1" dirty="0">
              <a:solidFill>
                <a:srgbClr val="0000FF"/>
              </a:solidFill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6" name="Up Arrow 5"/>
          <p:cNvSpPr/>
          <p:nvPr/>
        </p:nvSpPr>
        <p:spPr>
          <a:xfrm rot="18296843">
            <a:off x="5049010" y="2493831"/>
            <a:ext cx="381000" cy="9906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ounded Rectangle 7"/>
          <p:cNvSpPr/>
          <p:nvPr/>
        </p:nvSpPr>
        <p:spPr>
          <a:xfrm>
            <a:off x="5639745" y="3281593"/>
            <a:ext cx="2362200" cy="5334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Column are ignored</a:t>
            </a:r>
            <a:endParaRPr lang="en-C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499" y="457200"/>
            <a:ext cx="7333488" cy="99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To return list of users who applied for a posted job at least once:</a:t>
            </a:r>
            <a:endParaRPr lang="en-CA" dirty="0">
              <a:solidFill>
                <a:srgbClr val="00206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77150" y="1524000"/>
            <a:ext cx="7467600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</a:p>
          <a:p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6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600" b="1">
              <a:solidFill>
                <a:srgbClr val="8080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--same with IN</a:t>
            </a:r>
          </a:p>
          <a:p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[Security_Logins]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</a:p>
          <a:p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 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[Applicant_Profiles]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endParaRPr lang="en-US" sz="16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</a:t>
            </a:r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[Applicant_Job_Applications] </a:t>
            </a:r>
            <a:r>
              <a:rPr lang="en-US" sz="16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6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</a:p>
          <a:p>
            <a:r>
              <a:rPr lang="en-US" sz="16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CA" sz="20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0"/>
            <a:ext cx="7315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To return list of users who applied for a posted job at least once in year 2017</a:t>
            </a:r>
            <a:endParaRPr lang="en-CA" sz="1600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1170A6-5B19-412C-8663-822ECC6EDBC4}"/>
              </a:ext>
            </a:extLst>
          </p:cNvPr>
          <p:cNvSpPr/>
          <p:nvPr/>
        </p:nvSpPr>
        <p:spPr>
          <a:xfrm>
            <a:off x="1371600" y="975232"/>
            <a:ext cx="7467600" cy="5047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Security_Logins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</a:p>
          <a:p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EXISTS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AJA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</a:t>
            </a:r>
            <a:r>
              <a:rPr lang="en-US" sz="14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AND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Application_Date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'2017-01-01'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'2017-12-31'</a:t>
            </a:r>
            <a:endParaRPr lang="en-US" sz="14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sz="1400" b="1">
              <a:solidFill>
                <a:srgbClr val="0000FF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1400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--Same with subquery</a:t>
            </a:r>
          </a:p>
          <a:p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Full_Name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[Security_Logins]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SL </a:t>
            </a:r>
          </a:p>
          <a:p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[Applicant_Profiles]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endParaRPr lang="en-US" sz="1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[Applicant_Job_Applications]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AJA </a:t>
            </a:r>
          </a:p>
          <a:p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Application_Date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'2017-01-01'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'2017-12-31'</a:t>
            </a:r>
            <a:endParaRPr lang="en-US" sz="1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498080" cy="944562"/>
          </a:xfrm>
        </p:spPr>
        <p:txBody>
          <a:bodyPr/>
          <a:lstStyle/>
          <a:p>
            <a:r>
              <a:rPr lang="en-US" dirty="0"/>
              <a:t>Common Table Expression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295400"/>
            <a:ext cx="7714488" cy="5334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CTEs</a:t>
            </a:r>
            <a:r>
              <a:rPr lang="en-US" dirty="0"/>
              <a:t> can be used as a derived table in SELECT, INSERT, UPDATE, and DELETE statements. </a:t>
            </a:r>
          </a:p>
          <a:p>
            <a:pPr lvl="1"/>
            <a:r>
              <a:rPr lang="en-US" dirty="0"/>
              <a:t>are valid for the life of the statement</a:t>
            </a:r>
          </a:p>
          <a:p>
            <a:pPr lvl="1"/>
            <a:r>
              <a:rPr lang="en-US" dirty="0"/>
              <a:t>are not stored in the database</a:t>
            </a:r>
          </a:p>
          <a:p>
            <a:pPr lvl="1"/>
            <a:r>
              <a:rPr lang="en-US" dirty="0"/>
              <a:t>are similar to temporary views</a:t>
            </a:r>
          </a:p>
          <a:p>
            <a:pPr lvl="1"/>
            <a:r>
              <a:rPr lang="en-US" dirty="0"/>
              <a:t>have a name and optional list of columns that can be referenced in the query</a:t>
            </a:r>
          </a:p>
          <a:p>
            <a:pPr lvl="1"/>
            <a:r>
              <a:rPr lang="en-US" dirty="0"/>
              <a:t>have the ability to be self-referencing </a:t>
            </a:r>
            <a:endParaRPr lang="en-CA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95400" y="3200400"/>
            <a:ext cx="7620000" cy="26776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;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CTE_name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[ (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column_name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[,…n] ) ]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400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CTE_query_definition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endParaRPr lang="en-US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column_list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CTE_NAME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86200" y="1676400"/>
            <a:ext cx="3352800" cy="1314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Previous  statement should be terminated by </a:t>
            </a:r>
            <a:r>
              <a:rPr lang="en-US" sz="2800" b="1" dirty="0">
                <a:solidFill>
                  <a:srgbClr val="FF0000"/>
                </a:solidFill>
              </a:rPr>
              <a:t>;</a:t>
            </a:r>
            <a:endParaRPr lang="en-CA" sz="2800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>
            <a:stCxn id="6" idx="1"/>
          </p:cNvCxnSpPr>
          <p:nvPr/>
        </p:nvCxnSpPr>
        <p:spPr>
          <a:xfrm flipH="1">
            <a:off x="1676400" y="2333625"/>
            <a:ext cx="2209800" cy="10953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7790688" cy="175260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CTE</a:t>
            </a:r>
            <a:r>
              <a:rPr lang="en-US" dirty="0"/>
              <a:t> declarations must occur before the statement that references them.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03664" y="3429000"/>
            <a:ext cx="7711736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CTE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</a:t>
            </a:r>
          </a:p>
          <a:p>
            <a:r>
              <a:rPr lang="en-US" sz="18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endParaRPr lang="en-US" sz="1800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CTE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16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B6286-AA63-4B55-8E52-EB2B1B33528A}"/>
              </a:ext>
            </a:extLst>
          </p:cNvPr>
          <p:cNvSpPr/>
          <p:nvPr/>
        </p:nvSpPr>
        <p:spPr>
          <a:xfrm>
            <a:off x="1143000" y="135791"/>
            <a:ext cx="7772400" cy="281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ROW_NUMBER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PARTITION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Country_Code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City_Town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Current_Salary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Currency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Applicant_Profiles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</a:t>
            </a:r>
            <a:r>
              <a:rPr lang="en-US" sz="1800" b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rownum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390900" y="2955191"/>
            <a:ext cx="3276600" cy="457200"/>
          </a:xfrm>
          <a:prstGeom prst="down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CTE solution </a:t>
            </a:r>
            <a:endParaRPr lang="en-CA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381000"/>
            <a:ext cx="7696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How many jobs have at least 5 applicants across all companies?</a:t>
            </a:r>
            <a:endParaRPr lang="en-CA" sz="2400" dirty="0">
              <a:solidFill>
                <a:srgbClr val="00206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2542" y="1600200"/>
            <a:ext cx="7696200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CTE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[Job]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[Id]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JobsCounter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GROUP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[Job]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[Id]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CTE</a:t>
            </a:r>
            <a:endParaRPr lang="en-CA" sz="20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0680" y="457200"/>
            <a:ext cx="7620000" cy="1066800"/>
          </a:xfrm>
        </p:spPr>
        <p:txBody>
          <a:bodyPr/>
          <a:lstStyle/>
          <a:p>
            <a:r>
              <a:rPr lang="en-US" dirty="0"/>
              <a:t>The same statement written using sub-queries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1220680" y="2362200"/>
            <a:ext cx="7620000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JOB_PORTAL_DB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SELECT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[Job]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[Id]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JobsCounter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FROM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dbo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Applicant_Job_Applications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GROUP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[Job]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[Id]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</a:p>
          <a:p>
            <a:r>
              <a:rPr lang="en-US" sz="1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DT</a:t>
            </a:r>
            <a:endParaRPr lang="en-CA" sz="2400" b="1" dirty="0">
              <a:latin typeface="Courier New" panose="02070309020205020404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533400"/>
            <a:ext cx="7638288" cy="3505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single statement can have multiple </a:t>
            </a:r>
            <a:r>
              <a:rPr lang="en-US" dirty="0">
                <a:solidFill>
                  <a:srgbClr val="0070C0"/>
                </a:solidFill>
              </a:rPr>
              <a:t>CTEs</a:t>
            </a:r>
            <a:r>
              <a:rPr lang="en-US" dirty="0"/>
              <a:t> declared.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When defining multiple </a:t>
            </a:r>
            <a:r>
              <a:rPr lang="en-US" dirty="0">
                <a:solidFill>
                  <a:srgbClr val="0070C0"/>
                </a:solidFill>
              </a:rPr>
              <a:t>CTEs</a:t>
            </a:r>
            <a:r>
              <a:rPr lang="en-US" dirty="0"/>
              <a:t> in a single statement, the </a:t>
            </a:r>
            <a:r>
              <a:rPr lang="en-US" dirty="0">
                <a:solidFill>
                  <a:srgbClr val="0070C0"/>
                </a:solidFill>
              </a:rPr>
              <a:t>WITH</a:t>
            </a:r>
            <a:r>
              <a:rPr lang="en-US" dirty="0"/>
              <a:t> keyword only appears once, and each </a:t>
            </a:r>
            <a:r>
              <a:rPr lang="en-US" dirty="0">
                <a:solidFill>
                  <a:srgbClr val="0070C0"/>
                </a:solidFill>
              </a:rPr>
              <a:t>CTE</a:t>
            </a:r>
            <a:r>
              <a:rPr lang="en-US" dirty="0"/>
              <a:t> declaration is separated by a comma (“,”).</a:t>
            </a:r>
            <a:endParaRPr lang="en-CA" dirty="0"/>
          </a:p>
          <a:p>
            <a:pPr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804781" y="4800600"/>
            <a:ext cx="6553200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002060"/>
                </a:solidFill>
              </a:rPr>
              <a:t>What products (Id and name) were sold on the last day of business, and what was the total quantity sold for each product?</a:t>
            </a:r>
            <a:endParaRPr lang="en-CA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1"/>
            <a:ext cx="8001000" cy="6555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AdventureWorks2012;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GO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LastDayOrderIDs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SalesOrderID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Sales.SalesOrderHeader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=(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SELECT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OrderDate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)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 FROM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Sales.SalesOrderHeader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)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),</a:t>
            </a:r>
          </a:p>
          <a:p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LastDayProductQuantities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ProductID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sz="2000" b="1" dirty="0">
                <a:solidFill>
                  <a:srgbClr val="FF66CC"/>
                </a:solidFill>
                <a:latin typeface="Courier New" pitchFamily="49" charset="0"/>
                <a:cs typeface="Courier New" pitchFamily="49" charset="0"/>
              </a:rPr>
              <a:t>SUM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OrderQty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LastDayQty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Sales.SalesOrderDetail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LastDayOrderIDs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Sales.SalesOrderDetail.SalesOrderID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=  </a:t>
            </a: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LastDayOrderIDs.SalesOrderID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GROUP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000" b="1" dirty="0" err="1">
                <a:latin typeface="Courier New" pitchFamily="49" charset="0"/>
                <a:cs typeface="Courier New" pitchFamily="49" charset="0"/>
              </a:rPr>
              <a:t>ProductID</a:t>
            </a:r>
            <a:endParaRPr lang="en-CA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000" b="1" dirty="0">
                <a:latin typeface="Courier New" pitchFamily="49" charset="0"/>
                <a:cs typeface="Courier New" pitchFamily="49" charset="0"/>
              </a:rPr>
              <a:t>),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0" y="228600"/>
            <a:ext cx="3962400" cy="121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Get the </a:t>
            </a:r>
            <a:r>
              <a:rPr lang="en-US" b="1" dirty="0" err="1"/>
              <a:t>SalesOrderID</a:t>
            </a:r>
            <a:r>
              <a:rPr lang="en-US" b="1" dirty="0"/>
              <a:t> values for all orders placed on the last day of</a:t>
            </a:r>
          </a:p>
          <a:p>
            <a:r>
              <a:rPr lang="en-US" b="1" dirty="0"/>
              <a:t>business (MAX(</a:t>
            </a:r>
            <a:r>
              <a:rPr lang="en-US" b="1" dirty="0" err="1"/>
              <a:t>OrderDate</a:t>
            </a:r>
            <a:r>
              <a:rPr lang="en-US" b="1" dirty="0"/>
              <a:t>))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2600" y="3124200"/>
            <a:ext cx="3505200" cy="1219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Find the distinct </a:t>
            </a:r>
            <a:r>
              <a:rPr lang="en-US" b="1" dirty="0" err="1"/>
              <a:t>ProductIDs</a:t>
            </a:r>
            <a:r>
              <a:rPr lang="en-US" b="1" dirty="0"/>
              <a:t> and their total qty for all of the </a:t>
            </a:r>
            <a:r>
              <a:rPr lang="en-US" b="1" dirty="0" err="1"/>
              <a:t>SalesOrderID</a:t>
            </a:r>
            <a:r>
              <a:rPr lang="en-US" b="1" dirty="0"/>
              <a:t> values retrieved in the previous CTE</a:t>
            </a:r>
          </a:p>
        </p:txBody>
      </p:sp>
      <p:sp>
        <p:nvSpPr>
          <p:cNvPr id="8" name="Left Arrow 7"/>
          <p:cNvSpPr/>
          <p:nvPr/>
        </p:nvSpPr>
        <p:spPr>
          <a:xfrm>
            <a:off x="1692180" y="3244096"/>
            <a:ext cx="1371600" cy="5334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Comma</a:t>
            </a:r>
            <a:endParaRPr lang="en-CA" b="1" dirty="0"/>
          </a:p>
        </p:txBody>
      </p:sp>
      <p:sp>
        <p:nvSpPr>
          <p:cNvPr id="9" name="Left Arrow 8"/>
          <p:cNvSpPr/>
          <p:nvPr/>
        </p:nvSpPr>
        <p:spPr>
          <a:xfrm>
            <a:off x="1595021" y="6306475"/>
            <a:ext cx="1371600" cy="533400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Comma</a:t>
            </a:r>
            <a:endParaRPr lang="en-CA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7315200" y="5925475"/>
            <a:ext cx="1447800" cy="381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Continue…</a:t>
            </a:r>
            <a:endParaRPr lang="en-CA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533400"/>
            <a:ext cx="7924800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LastDayProductDetails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Product.ProductID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Product.Name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LastDayQty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Production.Product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LastDayProductQuantities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CA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Product.ProductID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=  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LastDayProductQuantities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ProductID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CA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return the results of the last CTE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LastDayProductDetails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ORDER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BY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LastDayQty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DESC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685800"/>
            <a:ext cx="2743200" cy="2209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dirty="0"/>
              <a:t>Take the </a:t>
            </a:r>
            <a:r>
              <a:rPr lang="en-CA" b="1" dirty="0" err="1"/>
              <a:t>ProductIDs</a:t>
            </a:r>
            <a:r>
              <a:rPr lang="en-CA" b="1" dirty="0"/>
              <a:t> and last day quantities from the previous CTE and join it to the Product table to retrieve the product names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algn="ctr"/>
            <a:r>
              <a:rPr lang="en-CA" dirty="0"/>
              <a:t>Recursive </a:t>
            </a:r>
            <a:r>
              <a:rPr lang="en-CA" dirty="0" err="1"/>
              <a:t>CTEs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498080" cy="4800600"/>
          </a:xfrm>
        </p:spPr>
        <p:txBody>
          <a:bodyPr/>
          <a:lstStyle/>
          <a:p>
            <a:r>
              <a:rPr lang="en-US" dirty="0"/>
              <a:t>The recursive nature of CTEs comes from their ability to be self-referencing; something neither sub-queries nor views can do</a:t>
            </a:r>
            <a:endParaRPr lang="en-CA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"/>
            <a:ext cx="8001000" cy="5867400"/>
          </a:xfrm>
        </p:spPr>
        <p:txBody>
          <a:bodyPr>
            <a:normAutofit/>
          </a:bodyPr>
          <a:lstStyle/>
          <a:p>
            <a:r>
              <a:rPr lang="en-US" sz="2800" dirty="0"/>
              <a:t>The semantics of the recursive execution is as follows:</a:t>
            </a:r>
            <a:br>
              <a:rPr lang="en-US" sz="2800" dirty="0"/>
            </a:br>
            <a:endParaRPr lang="en-US" sz="2800" dirty="0"/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Split the CTE expression into anchor and recursive members.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Run the anchor member(s) creating the first invocation or base result set (T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800" dirty="0"/>
              <a:t>).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Run the recursive member(s) with 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800" dirty="0"/>
              <a:t> as an input and 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i+1</a:t>
            </a:r>
            <a:r>
              <a:rPr lang="en-US" sz="2800" dirty="0"/>
              <a:t> as an output.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Repeat step 3 until an empty set is returned.</a:t>
            </a:r>
          </a:p>
          <a:p>
            <a:pPr marL="596646" indent="-514350">
              <a:buFont typeface="+mj-lt"/>
              <a:buAutoNum type="arabicPeriod"/>
            </a:pPr>
            <a:r>
              <a:rPr lang="en-US" sz="2800" dirty="0"/>
              <a:t>Return the result set. This is a UNION ALL of T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sz="2800" dirty="0"/>
              <a:t> to 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19200" y="1143000"/>
            <a:ext cx="7924800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CTE DECLARATION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CTE_name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[ ( 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column_name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[,…n] ) ]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(</a:t>
            </a:r>
          </a:p>
          <a:p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CTE_Anchor_member_query_definition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ALL</a:t>
            </a:r>
          </a:p>
          <a:p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CTE_Recursive_member_query_definition</a:t>
            </a:r>
            <a:endParaRPr lang="en-CA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CA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CA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-- CTE USE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n-CA" sz="2400" b="1" dirty="0" err="1">
                <a:latin typeface="Courier New" pitchFamily="49" charset="0"/>
                <a:cs typeface="Courier New" pitchFamily="49" charset="0"/>
              </a:rPr>
              <a:t>column_list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CA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sz="2400" b="1" dirty="0">
                <a:latin typeface="Courier New" pitchFamily="49" charset="0"/>
                <a:cs typeface="Courier New" pitchFamily="49" charset="0"/>
              </a:rPr>
              <a:t> CTE_NAME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304800"/>
            <a:ext cx="30480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Returns rows that represent the top-level </a:t>
            </a:r>
          </a:p>
          <a:p>
            <a:pPr algn="ctr"/>
            <a:r>
              <a:rPr lang="en-US" sz="2000" b="1" dirty="0"/>
              <a:t>items in a hierarchy.</a:t>
            </a:r>
            <a:endParaRPr lang="en-CA" sz="2000" b="1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2514600" y="800100"/>
            <a:ext cx="2971800" cy="1866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715000" y="4876800"/>
            <a:ext cx="30480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Returns the details for the lower  level items and maps to the “parents” of those records by joining back to the CTE itself</a:t>
            </a:r>
            <a:endParaRPr lang="en-CA" sz="2000" b="1" dirty="0"/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>
          <a:xfrm flipH="1" flipV="1">
            <a:off x="3048000" y="3733800"/>
            <a:ext cx="41910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57400" y="5410200"/>
            <a:ext cx="23622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attaches the rows from each recursion to the final result set.</a:t>
            </a:r>
            <a:endParaRPr lang="en-CA" sz="2000" b="1" dirty="0"/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H="1" flipV="1">
            <a:off x="2057400" y="3352800"/>
            <a:ext cx="1181100" cy="2057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7464" y="762000"/>
            <a:ext cx="7848600" cy="53553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TSQL2012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declare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@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= 9;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WITH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EmpsCTE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(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mgrid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       0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distance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= @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UNION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ALL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M.empid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M.mgrid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M.firstname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M.lastname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      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S.distance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+ 1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distance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EmpsCTE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S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CA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JOIN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HR.Employees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AS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M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CA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ON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S.mgrid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M.empid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)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mgrid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, distance </a:t>
            </a:r>
          </a:p>
          <a:p>
            <a:r>
              <a:rPr lang="en-CA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CA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CA" b="1" dirty="0" err="1">
                <a:latin typeface="Courier New" pitchFamily="49" charset="0"/>
                <a:cs typeface="Courier New" pitchFamily="49" charset="0"/>
              </a:rPr>
              <a:t>EmpsCTE</a:t>
            </a:r>
            <a:r>
              <a:rPr lang="en-CA" b="1" dirty="0">
                <a:latin typeface="Courier New" pitchFamily="49" charset="0"/>
                <a:cs typeface="Courier New" pitchFamily="49" charset="0"/>
              </a:rPr>
              <a:t>;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7464" y="152400"/>
            <a:ext cx="63246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CA" dirty="0"/>
              <a:t>Get the management chain leading to employee 9.</a:t>
            </a:r>
          </a:p>
        </p:txBody>
      </p:sp>
    </p:spTree>
    <p:extLst>
      <p:ext uri="{BB962C8B-B14F-4D97-AF65-F5344CB8AC3E}">
        <p14:creationId xmlns:p14="http://schemas.microsoft.com/office/powerpoint/2010/main" val="570763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1524000"/>
          </a:xfrm>
        </p:spPr>
        <p:txBody>
          <a:bodyPr/>
          <a:lstStyle/>
          <a:p>
            <a:r>
              <a:rPr lang="en-CA" b="1" dirty="0"/>
              <a:t>Recursive Queries Using Common Table Expressions MSDN</a:t>
            </a:r>
            <a:endParaRPr lang="en-CA" dirty="0"/>
          </a:p>
          <a:p>
            <a:endParaRPr lang="en-CA" dirty="0"/>
          </a:p>
          <a:p>
            <a:pPr>
              <a:buNone/>
            </a:pPr>
            <a:endParaRPr lang="en-CA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76400" y="3105835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>
                <a:solidFill>
                  <a:srgbClr val="0070C0"/>
                </a:solidFill>
              </a:rPr>
              <a:t>http://msdn.microsoft.com/en-us/library/ms186243.aspx</a:t>
            </a:r>
            <a:endParaRPr lang="en-CA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2821</TotalTime>
  <Words>2234</Words>
  <Application>Microsoft Office PowerPoint</Application>
  <PresentationFormat>On-screen Show (4:3)</PresentationFormat>
  <Paragraphs>329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Calibri</vt:lpstr>
      <vt:lpstr>Cordia New</vt:lpstr>
      <vt:lpstr>Courier New</vt:lpstr>
      <vt:lpstr>Gill Sans MT</vt:lpstr>
      <vt:lpstr>Verdana</vt:lpstr>
      <vt:lpstr>Wingdings 2</vt:lpstr>
      <vt:lpstr>Solstice</vt:lpstr>
      <vt:lpstr>Lesson 5</vt:lpstr>
      <vt:lpstr>Objective</vt:lpstr>
      <vt:lpstr>IN Operator</vt:lpstr>
      <vt:lpstr>Subqueries</vt:lpstr>
      <vt:lpstr>Non-correlated Subqueries</vt:lpstr>
      <vt:lpstr>PowerPoint Presentation</vt:lpstr>
      <vt:lpstr>Derived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Correlated Subqueries</vt:lpstr>
      <vt:lpstr>PowerPoint Presentation</vt:lpstr>
      <vt:lpstr>Exists operator</vt:lpstr>
      <vt:lpstr>PowerPoint Presentation</vt:lpstr>
      <vt:lpstr>PowerPoint Presentation</vt:lpstr>
      <vt:lpstr>PowerPoint Presentation</vt:lpstr>
      <vt:lpstr>Common Table Expression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Recursive CTEs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Habib</dc:creator>
  <cp:lastModifiedBy>Andrei T</cp:lastModifiedBy>
  <cp:revision>250</cp:revision>
  <cp:lastPrinted>2015-02-03T04:07:52Z</cp:lastPrinted>
  <dcterms:created xsi:type="dcterms:W3CDTF">2006-08-16T00:00:00Z</dcterms:created>
  <dcterms:modified xsi:type="dcterms:W3CDTF">2024-10-19T01:10:25Z</dcterms:modified>
</cp:coreProperties>
</file>