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78" r:id="rId3"/>
    <p:sldId id="279" r:id="rId4"/>
    <p:sldId id="280" r:id="rId5"/>
    <p:sldId id="329" r:id="rId6"/>
    <p:sldId id="330" r:id="rId7"/>
    <p:sldId id="282" r:id="rId8"/>
    <p:sldId id="331" r:id="rId9"/>
    <p:sldId id="283" r:id="rId10"/>
    <p:sldId id="284" r:id="rId11"/>
    <p:sldId id="363" r:id="rId12"/>
    <p:sldId id="312" r:id="rId13"/>
    <p:sldId id="315" r:id="rId14"/>
    <p:sldId id="316" r:id="rId15"/>
    <p:sldId id="291" r:id="rId16"/>
    <p:sldId id="337" r:id="rId17"/>
    <p:sldId id="314" r:id="rId18"/>
    <p:sldId id="349" r:id="rId19"/>
    <p:sldId id="350" r:id="rId20"/>
    <p:sldId id="351" r:id="rId21"/>
    <p:sldId id="352" r:id="rId22"/>
    <p:sldId id="353" r:id="rId23"/>
    <p:sldId id="366" r:id="rId24"/>
    <p:sldId id="358" r:id="rId25"/>
    <p:sldId id="36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FF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2/3/2022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Lesson 4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/>
              <a:t>Aggregate Queries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924800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Implementing Aggregate Queries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295400"/>
            <a:ext cx="7498080" cy="548640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Aggregate</a:t>
            </a:r>
            <a:r>
              <a:rPr lang="en-CA" dirty="0"/>
              <a:t> functions allow you to apply calculations on values in a column</a:t>
            </a:r>
            <a:br>
              <a:rPr lang="en-CA" dirty="0"/>
            </a:br>
            <a:endParaRPr lang="en-US" dirty="0"/>
          </a:p>
          <a:p>
            <a:r>
              <a:rPr lang="en-CA" dirty="0">
                <a:solidFill>
                  <a:srgbClr val="0070C0"/>
                </a:solidFill>
              </a:rPr>
              <a:t>GROUP BY </a:t>
            </a:r>
            <a:r>
              <a:rPr lang="en-CA" dirty="0"/>
              <a:t>clause allows you to provide aggregate on </a:t>
            </a:r>
            <a:r>
              <a:rPr lang="en-CA" u="sng" dirty="0"/>
              <a:t>subsets</a:t>
            </a:r>
            <a:r>
              <a:rPr lang="en-CA" dirty="0"/>
              <a:t> of the data</a:t>
            </a:r>
            <a:br>
              <a:rPr lang="en-CA" dirty="0"/>
            </a:br>
            <a:endParaRPr lang="en-CA" dirty="0"/>
          </a:p>
          <a:p>
            <a:r>
              <a:rPr lang="en-CA" dirty="0"/>
              <a:t>Aggregate functions perform calculations on a set of data and return a scalar (single) value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7638288" cy="106680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AVG</a:t>
            </a:r>
            <a:r>
              <a:rPr lang="en-CA" dirty="0"/>
              <a:t> returns the average of all values in the data set.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endParaRPr lang="en-CA" dirty="0"/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524000" y="3124200"/>
            <a:ext cx="7239000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JOB_PORTAL_DB;</a:t>
            </a:r>
          </a:p>
          <a:p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AVG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'Average Salary'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Applicant_Profiles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 Aggregate Functions</a:t>
            </a:r>
            <a:endParaRPr lang="en-CA" sz="3600" dirty="0"/>
          </a:p>
        </p:txBody>
      </p:sp>
      <p:sp>
        <p:nvSpPr>
          <p:cNvPr id="6" name="Rectangle 5"/>
          <p:cNvSpPr/>
          <p:nvPr/>
        </p:nvSpPr>
        <p:spPr>
          <a:xfrm>
            <a:off x="1524000" y="5079831"/>
            <a:ext cx="7239000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AVG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'Average Salary'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Applicant_Profiles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N'Toronto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304800"/>
            <a:ext cx="7714488" cy="114300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CHECKSUM_AGG</a:t>
            </a:r>
            <a:r>
              <a:rPr lang="en-CA" dirty="0"/>
              <a:t> returns the checksum of all values in the data set</a:t>
            </a:r>
          </a:p>
          <a:p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1493982" y="2057400"/>
            <a:ext cx="71628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CHECKSUM_AGG ([ ALL | DISTINCT ]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int_expression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) 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5882" y="3505200"/>
            <a:ext cx="72390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JOB_PORTAL_DB</a:t>
            </a:r>
          </a:p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b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</a:br>
            <a:endParaRPr lang="en-CA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CHECKSUM_AGG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Applicant_Profiles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dirty="0">
              <a:solidFill>
                <a:prstClr val="black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304800"/>
            <a:ext cx="7650480" cy="4343400"/>
          </a:xfrm>
        </p:spPr>
        <p:txBody>
          <a:bodyPr/>
          <a:lstStyle/>
          <a:p>
            <a:r>
              <a:rPr lang="en-CA" dirty="0">
                <a:solidFill>
                  <a:srgbClr val="0070C0"/>
                </a:solidFill>
              </a:rPr>
              <a:t>COUNT</a:t>
            </a:r>
            <a:r>
              <a:rPr lang="en-CA" dirty="0"/>
              <a:t> returns the number items in a group</a:t>
            </a:r>
          </a:p>
          <a:p>
            <a:r>
              <a:rPr lang="en-CA" dirty="0">
                <a:solidFill>
                  <a:srgbClr val="0070C0"/>
                </a:solidFill>
              </a:rPr>
              <a:t>COUNT</a:t>
            </a:r>
            <a:r>
              <a:rPr lang="en-CA" dirty="0"/>
              <a:t>(*) returns the number of rows in the set, including NULLs</a:t>
            </a:r>
          </a:p>
          <a:p>
            <a:r>
              <a:rPr lang="en-CA" dirty="0">
                <a:solidFill>
                  <a:srgbClr val="0070C0"/>
                </a:solidFill>
              </a:rPr>
              <a:t>COUNT</a:t>
            </a:r>
            <a:r>
              <a:rPr lang="en-CA" dirty="0"/>
              <a:t> </a:t>
            </a:r>
            <a:r>
              <a:rPr lang="en-CA" dirty="0">
                <a:solidFill>
                  <a:srgbClr val="0070C0"/>
                </a:solidFill>
              </a:rPr>
              <a:t>DISTINCT</a:t>
            </a:r>
            <a:r>
              <a:rPr lang="en-CA" dirty="0"/>
              <a:t> returns the number of unique </a:t>
            </a:r>
            <a:r>
              <a:rPr lang="en-US" dirty="0"/>
              <a:t>non-</a:t>
            </a:r>
            <a:r>
              <a:rPr lang="en-CA" dirty="0"/>
              <a:t>NULL values in the data set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606665" y="4005660"/>
            <a:ext cx="71628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COUNT ({[[ALL | DISTINCT] expression] | *})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6664" y="4495800"/>
            <a:ext cx="716279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 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JOB_PORTAL_DB</a:t>
            </a:r>
          </a:p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endParaRPr lang="en-CA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ALL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[Applicant]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Applicant_Job_Applications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</a:p>
          <a:p>
            <a:endParaRPr lang="en-CA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DISTINCT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[Applicant]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Applicant_Job_Applications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64659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762000"/>
            <a:ext cx="7772400" cy="2895600"/>
          </a:xfrm>
        </p:spPr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rgbClr val="0070C0"/>
                </a:solidFill>
              </a:rPr>
              <a:t>COUNT_BIG</a:t>
            </a:r>
            <a:r>
              <a:rPr lang="en-CA" dirty="0"/>
              <a:t> works the same as </a:t>
            </a:r>
            <a:r>
              <a:rPr lang="en-CA" dirty="0">
                <a:solidFill>
                  <a:srgbClr val="0070C0"/>
                </a:solidFill>
              </a:rPr>
              <a:t>COUNT</a:t>
            </a:r>
            <a:r>
              <a:rPr lang="en-CA" dirty="0"/>
              <a:t>, but it returns the </a:t>
            </a:r>
            <a:r>
              <a:rPr lang="en-CA" dirty="0" err="1">
                <a:solidFill>
                  <a:srgbClr val="0070C0"/>
                </a:solidFill>
              </a:rPr>
              <a:t>bigint</a:t>
            </a:r>
            <a:r>
              <a:rPr lang="en-CA" dirty="0"/>
              <a:t> data type</a:t>
            </a:r>
            <a:br>
              <a:rPr lang="en-CA" dirty="0"/>
            </a:br>
            <a:endParaRPr lang="en-CA" dirty="0"/>
          </a:p>
          <a:p>
            <a:r>
              <a:rPr lang="en-CA" dirty="0">
                <a:solidFill>
                  <a:srgbClr val="0070C0"/>
                </a:solidFill>
              </a:rPr>
              <a:t>MAX/MIN</a:t>
            </a:r>
            <a:r>
              <a:rPr lang="en-CA" dirty="0"/>
              <a:t> returns the highest/lowest value in the data set for numeric and character-based </a:t>
            </a:r>
            <a:r>
              <a:rPr lang="en-US" dirty="0"/>
              <a:t>fields.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45855" y="4724400"/>
            <a:ext cx="5423280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JOB_PORTAL_DB;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 </a:t>
            </a:r>
            <a:b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6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/>
              </a:rPr>
              <a:t>MAX</a:t>
            </a:r>
            <a:r>
              <a:rPr lang="en-US" sz="16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1600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16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 [</a:t>
            </a:r>
            <a:r>
              <a:rPr lang="en-US" sz="1600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16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1600" dirty="0" err="1">
                <a:solidFill>
                  <a:prstClr val="black"/>
                </a:solidFill>
                <a:latin typeface="Consolas"/>
              </a:rPr>
              <a:t>Applicant_Profiles</a:t>
            </a:r>
            <a:r>
              <a:rPr lang="en-US" sz="16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2045855" y="4042450"/>
            <a:ext cx="542328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MAX ([ALL | DISTINCT] expression) </a:t>
            </a:r>
          </a:p>
        </p:txBody>
      </p:sp>
    </p:spTree>
    <p:extLst>
      <p:ext uri="{BB962C8B-B14F-4D97-AF65-F5344CB8AC3E}">
        <p14:creationId xmlns:p14="http://schemas.microsoft.com/office/powerpoint/2010/main" val="3979238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990600"/>
            <a:ext cx="7714488" cy="2286000"/>
          </a:xfrm>
        </p:spPr>
        <p:txBody>
          <a:bodyPr>
            <a:normAutofit lnSpcReduction="10000"/>
          </a:bodyPr>
          <a:lstStyle/>
          <a:p>
            <a:r>
              <a:rPr lang="en-CA" dirty="0">
                <a:solidFill>
                  <a:srgbClr val="0070C0"/>
                </a:solidFill>
              </a:rPr>
              <a:t>SUM</a:t>
            </a:r>
            <a:r>
              <a:rPr lang="en-CA" dirty="0"/>
              <a:t> returns the total of the values in the data set.</a:t>
            </a:r>
            <a:br>
              <a:rPr lang="en-CA" dirty="0"/>
            </a:br>
            <a:r>
              <a:rPr lang="en-CA" dirty="0"/>
              <a:t>Use </a:t>
            </a:r>
            <a:r>
              <a:rPr lang="en-CA" dirty="0">
                <a:solidFill>
                  <a:srgbClr val="0070C0"/>
                </a:solidFill>
              </a:rPr>
              <a:t>ALL</a:t>
            </a:r>
            <a:r>
              <a:rPr lang="en-CA" dirty="0"/>
              <a:t> or </a:t>
            </a:r>
            <a:r>
              <a:rPr lang="en-CA" dirty="0">
                <a:solidFill>
                  <a:srgbClr val="0070C0"/>
                </a:solidFill>
              </a:rPr>
              <a:t>DISTINCT</a:t>
            </a:r>
            <a:r>
              <a:rPr lang="en-CA" dirty="0"/>
              <a:t>  to produce either the sum of all values or only distinct values in the data set.</a:t>
            </a:r>
          </a:p>
          <a:p>
            <a:endParaRPr lang="en-CA" dirty="0"/>
          </a:p>
        </p:txBody>
      </p:sp>
      <p:sp>
        <p:nvSpPr>
          <p:cNvPr id="2" name="Rectangle 1"/>
          <p:cNvSpPr/>
          <p:nvPr/>
        </p:nvSpPr>
        <p:spPr>
          <a:xfrm>
            <a:off x="2590800" y="4114800"/>
            <a:ext cx="487184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SUM ([ALL | DISTINCT] expression)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609600"/>
            <a:ext cx="7498080" cy="5715000"/>
          </a:xfrm>
        </p:spPr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rgbClr val="0070C0"/>
                </a:solidFill>
              </a:rPr>
              <a:t>STDEV</a:t>
            </a:r>
            <a:r>
              <a:rPr lang="en-CA" dirty="0"/>
              <a:t> returns the statistical standard deviation of the values in the data set</a:t>
            </a:r>
            <a:br>
              <a:rPr lang="en-CA" dirty="0"/>
            </a:br>
            <a:endParaRPr lang="en-CA" dirty="0"/>
          </a:p>
          <a:p>
            <a:r>
              <a:rPr lang="en-CA" dirty="0">
                <a:solidFill>
                  <a:srgbClr val="0070C0"/>
                </a:solidFill>
              </a:rPr>
              <a:t>STDEVP</a:t>
            </a:r>
            <a:r>
              <a:rPr lang="en-CA" dirty="0"/>
              <a:t> returns the statistical standard deviation for the population of the values in </a:t>
            </a:r>
            <a:r>
              <a:rPr lang="en-US" dirty="0"/>
              <a:t>the data set</a:t>
            </a:r>
            <a:br>
              <a:rPr lang="en-US" dirty="0"/>
            </a:br>
            <a:endParaRPr lang="en-US" dirty="0"/>
          </a:p>
          <a:p>
            <a:r>
              <a:rPr lang="en-CA" dirty="0">
                <a:solidFill>
                  <a:srgbClr val="0070C0"/>
                </a:solidFill>
              </a:rPr>
              <a:t>VAR</a:t>
            </a:r>
            <a:r>
              <a:rPr lang="en-CA" dirty="0"/>
              <a:t> returns the statistical variance of the values in the data set</a:t>
            </a:r>
            <a:br>
              <a:rPr lang="en-CA" dirty="0"/>
            </a:br>
            <a:endParaRPr lang="en-CA" dirty="0"/>
          </a:p>
          <a:p>
            <a:r>
              <a:rPr lang="en-CA" dirty="0">
                <a:solidFill>
                  <a:srgbClr val="0070C0"/>
                </a:solidFill>
              </a:rPr>
              <a:t>VARP</a:t>
            </a:r>
            <a:r>
              <a:rPr lang="en-CA" dirty="0"/>
              <a:t> returns the statistical variance for the population of the values in the data set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1321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62000"/>
            <a:ext cx="7714488" cy="5486400"/>
          </a:xfrm>
        </p:spPr>
        <p:txBody>
          <a:bodyPr/>
          <a:lstStyle/>
          <a:p>
            <a:r>
              <a:rPr lang="en-CA" dirty="0">
                <a:solidFill>
                  <a:srgbClr val="0070C0"/>
                </a:solidFill>
              </a:rPr>
              <a:t>NULL</a:t>
            </a:r>
            <a:r>
              <a:rPr lang="en-CA" dirty="0"/>
              <a:t> values are ignored for all the aggregate functions. It is important to understand this so that you can verify the data is being properly interpreted.</a:t>
            </a:r>
          </a:p>
          <a:p>
            <a:endParaRPr lang="en-US" dirty="0"/>
          </a:p>
          <a:p>
            <a:r>
              <a:rPr lang="en-US" dirty="0"/>
              <a:t>Important to remember Null is not </a:t>
            </a:r>
            <a:r>
              <a:rPr lang="en-US" sz="3600" dirty="0"/>
              <a:t>0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790688" cy="4724400"/>
          </a:xfrm>
        </p:spPr>
        <p:txBody>
          <a:bodyPr>
            <a:normAutofit/>
          </a:bodyPr>
          <a:lstStyle/>
          <a:p>
            <a:r>
              <a:rPr lang="en-US" dirty="0"/>
              <a:t>When an </a:t>
            </a:r>
            <a:r>
              <a:rPr lang="en-CA" dirty="0"/>
              <a:t>aggregate function is included in the </a:t>
            </a:r>
            <a:r>
              <a:rPr lang="en-CA" dirty="0">
                <a:solidFill>
                  <a:srgbClr val="0070C0"/>
                </a:solidFill>
              </a:rPr>
              <a:t>SELECT</a:t>
            </a:r>
            <a:r>
              <a:rPr lang="en-CA" dirty="0"/>
              <a:t> clause, all other expressions in the </a:t>
            </a:r>
            <a:r>
              <a:rPr lang="en-CA" dirty="0">
                <a:solidFill>
                  <a:srgbClr val="0070C0"/>
                </a:solidFill>
              </a:rPr>
              <a:t>SELECT</a:t>
            </a:r>
            <a:r>
              <a:rPr lang="en-CA" dirty="0"/>
              <a:t> clause must either be aggregate functions or included in a </a:t>
            </a:r>
            <a:r>
              <a:rPr lang="en-CA" dirty="0">
                <a:solidFill>
                  <a:srgbClr val="0070C0"/>
                </a:solidFill>
              </a:rPr>
              <a:t>GROUP</a:t>
            </a:r>
            <a:r>
              <a:rPr lang="en-CA" dirty="0"/>
              <a:t> </a:t>
            </a:r>
            <a:r>
              <a:rPr lang="en-CA" dirty="0">
                <a:solidFill>
                  <a:srgbClr val="0070C0"/>
                </a:solidFill>
              </a:rPr>
              <a:t>BY</a:t>
            </a:r>
            <a:r>
              <a:rPr lang="en-CA" dirty="0"/>
              <a:t> clause.</a:t>
            </a:r>
            <a:br>
              <a:rPr lang="en-CA" dirty="0"/>
            </a:br>
            <a:endParaRPr lang="en-CA" dirty="0"/>
          </a:p>
          <a:p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GROUP</a:t>
            </a:r>
            <a:r>
              <a:rPr lang="en-CA" dirty="0"/>
              <a:t> </a:t>
            </a:r>
            <a:r>
              <a:rPr lang="en-CA" dirty="0">
                <a:solidFill>
                  <a:srgbClr val="0070C0"/>
                </a:solidFill>
              </a:rPr>
              <a:t>BY</a:t>
            </a:r>
            <a:r>
              <a:rPr lang="en-CA" dirty="0"/>
              <a:t> clause allows you to define subtotals for the aggregate data.</a:t>
            </a:r>
          </a:p>
          <a:p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020762"/>
          </a:xfrm>
        </p:spPr>
        <p:txBody>
          <a:bodyPr>
            <a:normAutofit/>
          </a:bodyPr>
          <a:lstStyle/>
          <a:p>
            <a:pPr algn="ctr"/>
            <a:r>
              <a:rPr lang="en-CA" sz="4000" dirty="0"/>
              <a:t>GROUP BY Clause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457200"/>
            <a:ext cx="7767782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[Login]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,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FF00FF"/>
                </a:solidFill>
                <a:latin typeface="Consolas"/>
              </a:rPr>
              <a:t>	MIN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'Minimum'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,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FF00FF"/>
                </a:solidFill>
                <a:latin typeface="Consolas"/>
              </a:rPr>
              <a:t>	AVG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'Average'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,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FF00FF"/>
                </a:solidFill>
                <a:latin typeface="Consolas"/>
              </a:rPr>
              <a:t>	MAX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'Maximum'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Applicant_Profiles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]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Country_Code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N'USA'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Group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By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[Login]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733801"/>
            <a:ext cx="4572000" cy="2733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9295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625" y="685800"/>
            <a:ext cx="7714488" cy="37338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Select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	SL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[Login]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srgbClr val="FF00FF"/>
                </a:solidFill>
                <a:latin typeface="Consolas"/>
              </a:rPr>
              <a:t>	MIN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'Minimum'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srgbClr val="FF00FF"/>
                </a:solidFill>
                <a:latin typeface="Consolas"/>
              </a:rPr>
              <a:t>	AVG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'Average'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srgbClr val="FF00FF"/>
                </a:solidFill>
                <a:latin typeface="Consolas"/>
              </a:rPr>
              <a:t>	MAX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Current_Salary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'Maximum'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pPr marL="82296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	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Applicant_Profiles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AP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INNER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JOIN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	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Security_Logins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]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SL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AP</a:t>
            </a:r>
            <a:r>
              <a:rPr lang="en-US" sz="2000" dirty="0" err="1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 err="1">
                <a:solidFill>
                  <a:srgbClr val="0000FF"/>
                </a:solidFill>
                <a:latin typeface="Consolas"/>
              </a:rPr>
              <a:t>Login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SL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ID</a:t>
            </a:r>
          </a:p>
          <a:p>
            <a:pPr marL="82296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Where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pPr marL="82296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Country_Code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N'USA'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pPr marL="82296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Group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By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pPr marL="82296" indent="0">
              <a:buNone/>
            </a:pPr>
            <a:r>
              <a:rPr lang="en-US" sz="2000" dirty="0">
                <a:solidFill>
                  <a:prstClr val="black"/>
                </a:solidFill>
                <a:latin typeface="Consolas"/>
              </a:rPr>
              <a:t>	SL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[Login];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0625" y="184605"/>
            <a:ext cx="510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As previous but including Login name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4448175"/>
            <a:ext cx="43719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726680" cy="533400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Example: The total for each </a:t>
            </a:r>
            <a:r>
              <a:rPr lang="en-US" sz="2100" dirty="0" err="1"/>
              <a:t>OrderID</a:t>
            </a:r>
            <a:r>
              <a:rPr lang="en-US" sz="2100" dirty="0"/>
              <a:t> from the </a:t>
            </a:r>
            <a:r>
              <a:rPr lang="en-US" sz="2100" dirty="0" err="1"/>
              <a:t>OrderDetails</a:t>
            </a:r>
            <a:r>
              <a:rPr lang="en-US" sz="2100" dirty="0"/>
              <a:t> table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95400" y="838200"/>
            <a:ext cx="7543800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TSQL2012</a:t>
            </a:r>
            <a:br>
              <a:rPr lang="en-CA" sz="1600" b="1" dirty="0">
                <a:latin typeface="Courier New" pitchFamily="49" charset="0"/>
                <a:cs typeface="Courier New" pitchFamily="49" charset="0"/>
              </a:rPr>
            </a:br>
            <a:r>
              <a:rPr lang="en-CA" sz="1600" b="1" dirty="0">
                <a:latin typeface="Courier New" pitchFamily="49" charset="0"/>
                <a:cs typeface="Courier New" pitchFamily="49" charset="0"/>
              </a:rPr>
              <a:t>GO</a:t>
            </a:r>
            <a:br>
              <a:rPr lang="en-CA" sz="1600" b="1" dirty="0">
                <a:latin typeface="Courier New" pitchFamily="49" charset="0"/>
                <a:cs typeface="Courier New" pitchFamily="49" charset="0"/>
              </a:rPr>
            </a:br>
            <a:b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SubTotal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Sales.OrderDetails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048000"/>
            <a:ext cx="28194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609600"/>
            <a:ext cx="7485888" cy="1905000"/>
          </a:xfrm>
        </p:spPr>
        <p:txBody>
          <a:bodyPr/>
          <a:lstStyle/>
          <a:p>
            <a:r>
              <a:rPr lang="en-US" dirty="0"/>
              <a:t>Number of applicants for each City from the </a:t>
            </a:r>
            <a:r>
              <a:rPr lang="en-US" dirty="0" err="1"/>
              <a:t>Applicant_Profiles</a:t>
            </a:r>
            <a:r>
              <a:rPr lang="en-US" dirty="0"/>
              <a:t> table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360811" y="1676400"/>
            <a:ext cx="7620000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b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Select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r>
              <a:rPr lang="en-US" sz="2000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,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r>
              <a:rPr lang="en-US" sz="2000" dirty="0">
                <a:solidFill>
                  <a:srgbClr val="FF00FF"/>
                </a:solidFill>
                <a:latin typeface="Consolas"/>
              </a:rPr>
              <a:t>	Count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)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sz="2000" dirty="0" err="1">
                <a:solidFill>
                  <a:srgbClr val="808080"/>
                </a:solidFill>
                <a:latin typeface="Consolas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Applicant_Profiles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Group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By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City_Town</a:t>
            </a:r>
            <a:endParaRPr lang="en-US" sz="2000" dirty="0">
              <a:solidFill>
                <a:prstClr val="black"/>
              </a:solidFill>
              <a:latin typeface="Consolas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Order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By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sz="2000" dirty="0">
                <a:solidFill>
                  <a:prstClr val="black"/>
                </a:solidFill>
                <a:latin typeface="Consolas"/>
              </a:rPr>
              <a:t>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810" y="4648200"/>
            <a:ext cx="2982589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990600"/>
            <a:ext cx="7638288" cy="2971800"/>
          </a:xfrm>
        </p:spPr>
        <p:txBody>
          <a:bodyPr/>
          <a:lstStyle/>
          <a:p>
            <a:r>
              <a:rPr lang="en-US" dirty="0"/>
              <a:t>Using the </a:t>
            </a:r>
            <a:r>
              <a:rPr lang="en-US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</a:t>
            </a:r>
            <a:br>
              <a:rPr lang="en-US" dirty="0"/>
            </a:br>
            <a:endParaRPr lang="en-US" dirty="0"/>
          </a:p>
          <a:p>
            <a:pPr lvl="1"/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HAVING</a:t>
            </a:r>
            <a:r>
              <a:rPr lang="en-CA" dirty="0"/>
              <a:t> clause allows you to filter based on the results of the calculations performed by the aggregate functions.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304800"/>
            <a:ext cx="7848600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JOB_PORTAL_DB</a:t>
            </a:r>
          </a:p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  <a:b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</a:br>
            <a:endParaRPr lang="en-CA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,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FF00FF"/>
                </a:solidFill>
                <a:latin typeface="Consolas"/>
              </a:rPr>
              <a:t>	Count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dbo</a:t>
            </a:r>
            <a:r>
              <a:rPr lang="en-US" dirty="0" err="1">
                <a:solidFill>
                  <a:srgbClr val="808080"/>
                </a:solidFill>
                <a:latin typeface="Consolas"/>
              </a:rPr>
              <a:t>.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Applicant_Profiles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Group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By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City_Town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Having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&gt;=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2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Order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By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prstClr val="black"/>
                </a:solidFill>
                <a:latin typeface="Consolas"/>
              </a:rPr>
              <a:t>	</a:t>
            </a:r>
            <a:r>
              <a:rPr lang="en-US" dirty="0" err="1">
                <a:solidFill>
                  <a:prstClr val="black"/>
                </a:solidFill>
                <a:latin typeface="Consolas"/>
              </a:rPr>
              <a:t>City_Town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324" y="4495800"/>
            <a:ext cx="3814209" cy="223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791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599768"/>
            <a:ext cx="754380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TSQL2012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b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6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yyyy,O.OrderDate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'Year'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)*(1-discount)) As </a:t>
            </a:r>
            <a:r>
              <a:rPr lang="en-US" sz="16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'Total Order Amount'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Sales.Orders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O Left Join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Sales.OrderDetails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OD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OD.orderid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yyyy,O.OrderDate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yyyy,O.OrderDate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&gt;= </a:t>
            </a:r>
            <a:r>
              <a:rPr lang="en-US" sz="1600" b="1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'2007'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DATEPART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yyyy,O.OrderDate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A" sz="16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3581400"/>
            <a:ext cx="426027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OVER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2138680"/>
          </a:xfrm>
        </p:spPr>
        <p:txBody>
          <a:bodyPr/>
          <a:lstStyle/>
          <a:p>
            <a:r>
              <a:rPr lang="en-CA" dirty="0"/>
              <a:t>The benefits of using OVER is that unlike grouped queries, it does not hide the detail — it returns a row for every underlying query’s row</a:t>
            </a:r>
          </a:p>
        </p:txBody>
      </p:sp>
    </p:spTree>
    <p:extLst>
      <p:ext uri="{BB962C8B-B14F-4D97-AF65-F5344CB8AC3E}">
        <p14:creationId xmlns:p14="http://schemas.microsoft.com/office/powerpoint/2010/main" val="1850510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7800" y="419856"/>
            <a:ext cx="70866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custid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orderid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PARTITION BY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custid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custtotal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grandtotal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Sales.OrderValues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pic>
        <p:nvPicPr>
          <p:cNvPr id="1026" name="Picture 2" descr="C:\Users\Habib\Desktop\Untitle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0"/>
            <a:ext cx="4706704" cy="41013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200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Ranking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800600"/>
          </a:xfrm>
        </p:spPr>
        <p:txBody>
          <a:bodyPr>
            <a:normAutofit/>
          </a:bodyPr>
          <a:lstStyle/>
          <a:p>
            <a:r>
              <a:rPr lang="en-US" dirty="0"/>
              <a:t>These are  functions that allow us to include numeric columns in our result sets where the value in the column reflects the “rank” of the row</a:t>
            </a:r>
            <a:br>
              <a:rPr lang="en-US" dirty="0"/>
            </a:br>
            <a:endParaRPr lang="en-US" dirty="0"/>
          </a:p>
          <a:p>
            <a:pPr marL="870966" lvl="1" indent="-51435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ROW_NUMBER</a:t>
            </a:r>
          </a:p>
          <a:p>
            <a:pPr marL="870966" lvl="1" indent="-51435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RANK</a:t>
            </a:r>
          </a:p>
          <a:p>
            <a:pPr marL="870966" lvl="1" indent="-51435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DENSE_RANK</a:t>
            </a:r>
          </a:p>
          <a:p>
            <a:pPr marL="870966" lvl="1" indent="-514350">
              <a:buFont typeface="+mj-lt"/>
              <a:buAutoNum type="arabicParenR"/>
            </a:pPr>
            <a:r>
              <a:rPr lang="en-US" dirty="0">
                <a:solidFill>
                  <a:srgbClr val="0070C0"/>
                </a:solidFill>
              </a:rPr>
              <a:t>NTILE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9524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24384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RANK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([&lt;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partition_by_clause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&gt;] 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order_by_clause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&gt;)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810000"/>
            <a:ext cx="7772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DENSE_RANK</a:t>
            </a:r>
            <a:r>
              <a:rPr lang="en-CA" sz="2200" b="1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CA" sz="2200" b="1" dirty="0">
                <a:latin typeface="Courier New" pitchFamily="49" charset="0"/>
                <a:cs typeface="Courier New" pitchFamily="49" charset="0"/>
              </a:rPr>
              <a:t> ([&lt;</a:t>
            </a:r>
            <a:r>
              <a:rPr lang="en-CA" sz="2200" b="1" dirty="0" err="1">
                <a:latin typeface="Courier New" pitchFamily="49" charset="0"/>
                <a:cs typeface="Courier New" pitchFamily="49" charset="0"/>
              </a:rPr>
              <a:t>partition_by_clause</a:t>
            </a:r>
            <a:r>
              <a:rPr lang="en-CA" sz="2200" b="1" dirty="0">
                <a:latin typeface="Courier New" pitchFamily="49" charset="0"/>
                <a:cs typeface="Courier New" pitchFamily="49" charset="0"/>
              </a:rPr>
              <a:t>&gt;] </a:t>
            </a:r>
          </a:p>
          <a:p>
            <a:r>
              <a:rPr lang="en-CA" sz="22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CA" sz="2200" b="1" dirty="0" err="1">
                <a:latin typeface="Courier New" pitchFamily="49" charset="0"/>
                <a:cs typeface="Courier New" pitchFamily="49" charset="0"/>
              </a:rPr>
              <a:t>order_by_clause</a:t>
            </a:r>
            <a:r>
              <a:rPr lang="en-CA" sz="2200" b="1" dirty="0">
                <a:latin typeface="Courier New" pitchFamily="49" charset="0"/>
                <a:cs typeface="Courier New" pitchFamily="49" charset="0"/>
              </a:rPr>
              <a:t>&gt;) 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990600"/>
            <a:ext cx="792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ROW_NUMBER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([&lt;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partition_by_clause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&gt;] &lt;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order_by_clause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&gt;)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1428" y="5105400"/>
            <a:ext cx="79263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NTILE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integer_expression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([&lt;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partition_by_clause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&gt;]&lt;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order_by_clause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&gt;) 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986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9909" y="152400"/>
            <a:ext cx="7848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20 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,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,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RowRank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,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DENSE_RANK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unitprice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DenseRank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[Production].[Products]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964" y="1676400"/>
            <a:ext cx="6172200" cy="4772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9585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59657"/>
            <a:ext cx="7772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rnk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Sales.OrderValues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16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4419600" cy="533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222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066800"/>
          </a:xfrm>
        </p:spPr>
        <p:txBody>
          <a:bodyPr/>
          <a:lstStyle/>
          <a:p>
            <a:pPr algn="ctr"/>
            <a:r>
              <a:rPr lang="en-US" dirty="0"/>
              <a:t>NTILE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219200"/>
            <a:ext cx="7638288" cy="34290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NTILE</a:t>
            </a:r>
            <a:r>
              <a:rPr lang="en-US" sz="3600" dirty="0"/>
              <a:t> function generates numbers by dividing the rows into a given number of groups based on the total  number of rows (or the number of rows in the partition if the &lt;</a:t>
            </a:r>
            <a:r>
              <a:rPr lang="en-US" sz="3600" dirty="0" err="1"/>
              <a:t>partition_by_clause</a:t>
            </a:r>
            <a:r>
              <a:rPr lang="en-US" sz="3600" dirty="0"/>
              <a:t>&gt; is used)</a:t>
            </a:r>
            <a:endParaRPr lang="en-CA" sz="3600" dirty="0"/>
          </a:p>
        </p:txBody>
      </p:sp>
      <p:sp>
        <p:nvSpPr>
          <p:cNvPr id="4" name="Rectangle 3"/>
          <p:cNvSpPr/>
          <p:nvPr/>
        </p:nvSpPr>
        <p:spPr>
          <a:xfrm>
            <a:off x="1143000" y="5029200"/>
            <a:ext cx="76962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NTILE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integer_expression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OVER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([&lt;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partition_by_clause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&gt;]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order_by_clause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&gt;) 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712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52400"/>
            <a:ext cx="7772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C.custid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C.TotalVal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NTILE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(4)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C.TotalVal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Ntile4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TotalVal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Sales.OrderValues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custid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&gt; 25000)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09800"/>
            <a:ext cx="4953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685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7156</TotalTime>
  <Words>1310</Words>
  <Application>Microsoft Office PowerPoint</Application>
  <PresentationFormat>On-screen Show (4:3)</PresentationFormat>
  <Paragraphs>149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Consolas</vt:lpstr>
      <vt:lpstr>Courier New</vt:lpstr>
      <vt:lpstr>Gill Sans MT</vt:lpstr>
      <vt:lpstr>Verdana</vt:lpstr>
      <vt:lpstr>Wingdings 2</vt:lpstr>
      <vt:lpstr>Solstice</vt:lpstr>
      <vt:lpstr>Lesson 4</vt:lpstr>
      <vt:lpstr>Implementing Aggregate Queries</vt:lpstr>
      <vt:lpstr> Aggregate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BY Clause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 function</vt:lpstr>
      <vt:lpstr>PowerPoint Presentation</vt:lpstr>
      <vt:lpstr>Ranking Functions</vt:lpstr>
      <vt:lpstr>PowerPoint Presentation</vt:lpstr>
      <vt:lpstr>PowerPoint Presentation</vt:lpstr>
      <vt:lpstr>PowerPoint Presentation</vt:lpstr>
      <vt:lpstr>NTILE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Andrei Tselichtchev</cp:lastModifiedBy>
  <cp:revision>350</cp:revision>
  <dcterms:created xsi:type="dcterms:W3CDTF">2006-08-16T00:00:00Z</dcterms:created>
  <dcterms:modified xsi:type="dcterms:W3CDTF">2022-02-04T01:25:02Z</dcterms:modified>
</cp:coreProperties>
</file>