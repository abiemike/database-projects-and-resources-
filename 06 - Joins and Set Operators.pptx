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  <p:sldId id="271" r:id="rId3"/>
    <p:sldId id="272" r:id="rId4"/>
    <p:sldId id="300" r:id="rId5"/>
    <p:sldId id="298" r:id="rId6"/>
    <p:sldId id="301" r:id="rId7"/>
    <p:sldId id="299" r:id="rId8"/>
    <p:sldId id="273" r:id="rId9"/>
    <p:sldId id="302" r:id="rId10"/>
    <p:sldId id="274" r:id="rId11"/>
    <p:sldId id="303" r:id="rId12"/>
    <p:sldId id="275" r:id="rId13"/>
    <p:sldId id="304" r:id="rId14"/>
    <p:sldId id="276" r:id="rId15"/>
    <p:sldId id="305" r:id="rId16"/>
    <p:sldId id="311" r:id="rId17"/>
    <p:sldId id="306" r:id="rId18"/>
    <p:sldId id="307" r:id="rId19"/>
    <p:sldId id="308" r:id="rId20"/>
    <p:sldId id="309" r:id="rId21"/>
    <p:sldId id="310" r:id="rId22"/>
    <p:sldId id="314" r:id="rId23"/>
    <p:sldId id="315" r:id="rId24"/>
    <p:sldId id="316" r:id="rId25"/>
    <p:sldId id="317" r:id="rId26"/>
    <p:sldId id="318" r:id="rId27"/>
    <p:sldId id="319" r:id="rId28"/>
    <p:sldId id="320" r:id="rId29"/>
    <p:sldId id="322" r:id="rId3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330" autoAdjust="0"/>
    <p:restoredTop sz="94660"/>
  </p:normalViewPr>
  <p:slideViewPr>
    <p:cSldViewPr>
      <p:cViewPr varScale="1">
        <p:scale>
          <a:sx n="106" d="100"/>
          <a:sy n="106" d="100"/>
        </p:scale>
        <p:origin x="1956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10/23/2024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/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10/23/2024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Lesson 6</a:t>
            </a:r>
            <a:endParaRPr lang="en-CA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6600" dirty="0"/>
              <a:t>Joins</a:t>
            </a:r>
            <a:endParaRPr lang="en-CA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533400"/>
            <a:ext cx="9144000" cy="68580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400" b="1" dirty="0"/>
              <a:t>Joining Related Tables</a:t>
            </a:r>
            <a:br>
              <a:rPr lang="en-US" sz="4400" b="1" dirty="0"/>
            </a:b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0" y="1295400"/>
            <a:ext cx="7714488" cy="5181600"/>
          </a:xfrm>
        </p:spPr>
        <p:txBody>
          <a:bodyPr>
            <a:normAutofit/>
          </a:bodyPr>
          <a:lstStyle/>
          <a:p>
            <a:r>
              <a:rPr lang="en-CA" dirty="0"/>
              <a:t>With normalized databases, information required for a single result set may be located in more than one table</a:t>
            </a:r>
            <a:br>
              <a:rPr lang="en-CA" dirty="0"/>
            </a:br>
            <a:endParaRPr lang="en-CA" dirty="0"/>
          </a:p>
          <a:p>
            <a:r>
              <a:rPr lang="en-US" dirty="0"/>
              <a:t>When defining a JOIN, you must:</a:t>
            </a:r>
          </a:p>
          <a:p>
            <a:pPr lvl="1"/>
            <a:r>
              <a:rPr lang="en-US" dirty="0"/>
              <a:t>Define the tables to be joined</a:t>
            </a:r>
          </a:p>
          <a:p>
            <a:pPr lvl="1"/>
            <a:r>
              <a:rPr lang="en-US" dirty="0"/>
              <a:t>Define the join  type</a:t>
            </a:r>
          </a:p>
          <a:p>
            <a:pPr lvl="1"/>
            <a:r>
              <a:rPr lang="en-US" dirty="0"/>
              <a:t>Define a join condition, which is made up of the columns on which the tables are joined and the logical operator</a:t>
            </a:r>
            <a:endParaRPr lang="en-CA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524000"/>
            <a:ext cx="8001000" cy="4495800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INNER JOIN</a:t>
            </a:r>
            <a:r>
              <a:rPr lang="en-US" dirty="0"/>
              <a:t>s allow you to match related records from different tables</a:t>
            </a:r>
            <a:br>
              <a:rPr lang="en-US" dirty="0"/>
            </a:br>
            <a:endParaRPr lang="en-US" dirty="0"/>
          </a:p>
          <a:p>
            <a:r>
              <a:rPr lang="en-US" dirty="0"/>
              <a:t>Return only the rows from tables that match the join condition </a:t>
            </a:r>
            <a:br>
              <a:rPr lang="en-US" dirty="0"/>
            </a:br>
            <a:endParaRPr lang="en-US" dirty="0"/>
          </a:p>
          <a:p>
            <a:r>
              <a:rPr lang="en-US" dirty="0">
                <a:solidFill>
                  <a:srgbClr val="0070C0"/>
                </a:solidFill>
              </a:rPr>
              <a:t>INNER</a:t>
            </a:r>
            <a:r>
              <a:rPr lang="en-US" dirty="0"/>
              <a:t> keyword is optional</a:t>
            </a:r>
          </a:p>
          <a:p>
            <a:endParaRPr lang="en-CA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0018" y="11545"/>
            <a:ext cx="9144000" cy="1143000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/>
              <a:t>INNER JOIN</a:t>
            </a:r>
            <a:endParaRPr lang="en-CA" sz="4000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Untitled-1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2209800" y="609600"/>
            <a:ext cx="5255203" cy="3200400"/>
          </a:xfrm>
        </p:spPr>
      </p:pic>
      <p:pic>
        <p:nvPicPr>
          <p:cNvPr id="5" name="Picture 4" descr="Untitled-1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133600" y="4648200"/>
            <a:ext cx="5145690" cy="190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209800" y="152400"/>
            <a:ext cx="52578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Student</a:t>
            </a:r>
            <a:endParaRPr lang="en-CA" dirty="0"/>
          </a:p>
        </p:txBody>
      </p:sp>
      <p:sp>
        <p:nvSpPr>
          <p:cNvPr id="10" name="Rectangle 9"/>
          <p:cNvSpPr/>
          <p:nvPr/>
        </p:nvSpPr>
        <p:spPr>
          <a:xfrm>
            <a:off x="2133600" y="4038600"/>
            <a:ext cx="5029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Teacher</a:t>
            </a:r>
            <a:endParaRPr lang="en-CA" dirty="0"/>
          </a:p>
        </p:txBody>
      </p:sp>
      <p:sp>
        <p:nvSpPr>
          <p:cNvPr id="7" name="Oval 6"/>
          <p:cNvSpPr/>
          <p:nvPr/>
        </p:nvSpPr>
        <p:spPr>
          <a:xfrm>
            <a:off x="6248400" y="533400"/>
            <a:ext cx="990600" cy="4572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Oval 10"/>
          <p:cNvSpPr/>
          <p:nvPr/>
        </p:nvSpPr>
        <p:spPr>
          <a:xfrm>
            <a:off x="2895600" y="4572000"/>
            <a:ext cx="1371600" cy="5334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13" name="Straight Arrow Connector 12"/>
          <p:cNvCxnSpPr>
            <a:endCxn id="11" idx="0"/>
          </p:cNvCxnSpPr>
          <p:nvPr/>
        </p:nvCxnSpPr>
        <p:spPr>
          <a:xfrm flipH="1">
            <a:off x="3581400" y="990600"/>
            <a:ext cx="3048000" cy="3581400"/>
          </a:xfrm>
          <a:prstGeom prst="straightConnector1">
            <a:avLst/>
          </a:prstGeom>
          <a:ln w="25400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1" y="609600"/>
            <a:ext cx="7467600" cy="10668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To generate a class list showing each </a:t>
            </a:r>
          </a:p>
          <a:p>
            <a:pPr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student’s name and their teacher</a:t>
            </a:r>
          </a:p>
          <a:p>
            <a:pPr>
              <a:buNone/>
            </a:pPr>
            <a:endParaRPr lang="en-US" sz="2400" b="1" dirty="0">
              <a:solidFill>
                <a:srgbClr val="0000FF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endParaRPr lang="en-US" sz="2400" b="1" dirty="0">
              <a:solidFill>
                <a:srgbClr val="0000FF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endParaRPr lang="en-CA" sz="2400" b="1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endParaRPr lang="en-CA" sz="24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295400" y="2274838"/>
            <a:ext cx="7467600" cy="34778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SELECT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br>
              <a:rPr lang="en-US" sz="2000" b="1" dirty="0">
                <a:latin typeface="Courier New" pitchFamily="49" charset="0"/>
                <a:cs typeface="Courier New" pitchFamily="49" charset="0"/>
              </a:rPr>
            </a:b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student.first_name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,</a:t>
            </a:r>
          </a:p>
          <a:p>
            <a:pPr>
              <a:buNone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student.last_name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,</a:t>
            </a:r>
          </a:p>
          <a:p>
            <a:pPr>
              <a:buNone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teacher.first_name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,</a:t>
            </a:r>
          </a:p>
          <a:p>
            <a:pPr>
              <a:buNone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teacher.last_name</a:t>
            </a:r>
            <a:endParaRPr lang="en-US" sz="2000" b="1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FROM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pPr>
              <a:buNone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student </a:t>
            </a:r>
          </a:p>
          <a:p>
            <a:pPr>
              <a:buNone/>
            </a:pPr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itchFamily="49" charset="0"/>
                <a:cs typeface="Courier New" pitchFamily="49" charset="0"/>
              </a:rPr>
              <a:t>INNER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itchFamily="49" charset="0"/>
                <a:cs typeface="Courier New" pitchFamily="49" charset="0"/>
              </a:rPr>
              <a:t>JOIN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pPr>
              <a:buNone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teacher</a:t>
            </a:r>
          </a:p>
          <a:p>
            <a:pPr>
              <a:buNone/>
            </a:pPr>
            <a:r>
              <a:rPr lang="en-CA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ON</a:t>
            </a:r>
            <a:r>
              <a:rPr lang="en-CA" sz="2000" b="1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pPr>
              <a:buNone/>
            </a:pPr>
            <a:r>
              <a:rPr lang="en-CA" sz="20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CA" sz="2000" b="1" dirty="0" err="1">
                <a:latin typeface="Courier New" pitchFamily="49" charset="0"/>
                <a:cs typeface="Courier New" pitchFamily="49" charset="0"/>
              </a:rPr>
              <a:t>student.teacher</a:t>
            </a:r>
            <a:r>
              <a:rPr lang="en-CA" sz="2000" b="1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CA" sz="2000" b="1" dirty="0" err="1">
                <a:latin typeface="Courier New" pitchFamily="49" charset="0"/>
                <a:cs typeface="Courier New" pitchFamily="49" charset="0"/>
              </a:rPr>
              <a:t>teacher.teacher_id</a:t>
            </a:r>
            <a:endParaRPr lang="en-CA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Untitled-1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866403" y="838200"/>
            <a:ext cx="6487887" cy="35052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TextBox 4"/>
          <p:cNvSpPr txBox="1"/>
          <p:nvPr/>
        </p:nvSpPr>
        <p:spPr>
          <a:xfrm>
            <a:off x="1752599" y="5331008"/>
            <a:ext cx="6564745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800" dirty="0"/>
              <a:t>Student  5 and Teacher 3 are missing!!!</a:t>
            </a:r>
            <a:endParaRPr lang="en-CA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45673" y="76200"/>
            <a:ext cx="6400800" cy="4038600"/>
          </a:xfr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Same example using alias</a:t>
            </a:r>
          </a:p>
          <a:p>
            <a:pPr>
              <a:buNone/>
            </a:pP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SELECT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pPr>
              <a:buNone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s.first_name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	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'Student FN'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, </a:t>
            </a:r>
            <a:br>
              <a:rPr lang="en-US" sz="2000" b="1" dirty="0">
                <a:latin typeface="Courier New" pitchFamily="49" charset="0"/>
                <a:cs typeface="Courier New" pitchFamily="49" charset="0"/>
              </a:rPr>
            </a:b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s.last_name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	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'Student LN'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, </a:t>
            </a:r>
            <a:br>
              <a:rPr lang="en-US" sz="2000" b="1" dirty="0">
                <a:latin typeface="Courier New" pitchFamily="49" charset="0"/>
                <a:cs typeface="Courier New" pitchFamily="49" charset="0"/>
              </a:rPr>
            </a:b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t.first_name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	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'Teacher FN'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, </a:t>
            </a:r>
            <a:br>
              <a:rPr lang="en-US" sz="2000" b="1" dirty="0">
                <a:latin typeface="Courier New" pitchFamily="49" charset="0"/>
                <a:cs typeface="Courier New" pitchFamily="49" charset="0"/>
              </a:rPr>
            </a:b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t.last_name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	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'Teacher LN'</a:t>
            </a:r>
          </a:p>
          <a:p>
            <a:pPr>
              <a:buNone/>
            </a:pP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FROM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pPr>
              <a:buNone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student 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s </a:t>
            </a:r>
          </a:p>
          <a:p>
            <a:pPr>
              <a:buNone/>
            </a:pPr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itchFamily="49" charset="0"/>
                <a:cs typeface="Courier New" pitchFamily="49" charset="0"/>
              </a:rPr>
              <a:t>INNER JOIN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pPr>
              <a:buNone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teacher 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t</a:t>
            </a:r>
          </a:p>
          <a:p>
            <a:pPr>
              <a:buNone/>
            </a:pPr>
            <a:r>
              <a:rPr lang="en-CA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ON</a:t>
            </a:r>
            <a:r>
              <a:rPr lang="en-CA" sz="2000" b="1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pPr>
              <a:buNone/>
            </a:pPr>
            <a:r>
              <a:rPr lang="en-CA" sz="20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CA" sz="2000" b="1" dirty="0" err="1">
                <a:latin typeface="Courier New" pitchFamily="49" charset="0"/>
                <a:cs typeface="Courier New" pitchFamily="49" charset="0"/>
              </a:rPr>
              <a:t>s.teacher</a:t>
            </a:r>
            <a:r>
              <a:rPr lang="en-CA" sz="2000" b="1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CA" sz="2000" b="1" dirty="0" err="1">
                <a:latin typeface="Courier New" pitchFamily="49" charset="0"/>
                <a:cs typeface="Courier New" pitchFamily="49" charset="0"/>
              </a:rPr>
              <a:t>t.teacher_id</a:t>
            </a:r>
            <a:endParaRPr lang="en-CA" sz="2000" b="1" dirty="0">
              <a:latin typeface="Courier New" pitchFamily="49" charset="0"/>
              <a:cs typeface="Courier New" pitchFamily="49" charset="0"/>
            </a:endParaRPr>
          </a:p>
        </p:txBody>
      </p:sp>
      <p:pic>
        <p:nvPicPr>
          <p:cNvPr id="4" name="Content Placeholder 4" descr="Untitled-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752600" y="4191000"/>
            <a:ext cx="6324600" cy="25146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524000"/>
            <a:ext cx="7866888" cy="4876800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0070C0"/>
                </a:solidFill>
              </a:rPr>
              <a:t>OUTER JOIN</a:t>
            </a:r>
            <a:r>
              <a:rPr lang="en-US" dirty="0"/>
              <a:t> also include records from one or both tables that do not have corresponding record(s) in the other table</a:t>
            </a:r>
            <a:br>
              <a:rPr lang="en-US" dirty="0"/>
            </a:br>
            <a:endParaRPr lang="en-US" dirty="0"/>
          </a:p>
          <a:p>
            <a:r>
              <a:rPr lang="en-US" dirty="0"/>
              <a:t>Returns all rows from one table (Left or Right) and only information from rows that are in common from other table</a:t>
            </a:r>
            <a:br>
              <a:rPr lang="en-US" dirty="0"/>
            </a:br>
            <a:endParaRPr lang="en-US" dirty="0"/>
          </a:p>
          <a:p>
            <a:r>
              <a:rPr lang="en-US" dirty="0">
                <a:solidFill>
                  <a:srgbClr val="0070C0"/>
                </a:solidFill>
              </a:rPr>
              <a:t>OUTER</a:t>
            </a:r>
            <a:r>
              <a:rPr lang="en-US" dirty="0"/>
              <a:t> keyword is optional</a:t>
            </a:r>
          </a:p>
          <a:p>
            <a:pPr>
              <a:buNone/>
            </a:pPr>
            <a:endParaRPr lang="en-US" sz="2400" b="1" dirty="0">
              <a:solidFill>
                <a:srgbClr val="0000FF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066800" y="36945"/>
            <a:ext cx="7866888" cy="1143000"/>
          </a:xfrm>
        </p:spPr>
        <p:txBody>
          <a:bodyPr>
            <a:noAutofit/>
          </a:bodyPr>
          <a:lstStyle/>
          <a:p>
            <a:pPr algn="ctr"/>
            <a:r>
              <a:rPr lang="en-US" sz="3600" b="1" dirty="0"/>
              <a:t>LEFT and RIGHT OUTER JOIN</a:t>
            </a:r>
            <a:endParaRPr lang="en-CA" sz="3600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57400" y="228600"/>
            <a:ext cx="5949196" cy="3505200"/>
          </a:xfr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SELECT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br>
              <a:rPr lang="en-US" b="1" dirty="0">
                <a:latin typeface="Courier New" pitchFamily="49" charset="0"/>
                <a:cs typeface="Courier New" pitchFamily="49" charset="0"/>
              </a:rPr>
            </a:br>
            <a:r>
              <a:rPr lang="en-US" b="1" dirty="0" err="1">
                <a:latin typeface="Courier New" pitchFamily="49" charset="0"/>
                <a:cs typeface="Courier New" pitchFamily="49" charset="0"/>
              </a:rPr>
              <a:t>s.first_name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'Student FN'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s.last_name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'Student LN'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t.first_name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'Teacher FN'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CA" b="1" dirty="0" err="1">
                <a:latin typeface="Courier New" pitchFamily="49" charset="0"/>
                <a:cs typeface="Courier New" pitchFamily="49" charset="0"/>
              </a:rPr>
              <a:t>t.last_name</a:t>
            </a:r>
            <a:r>
              <a:rPr lang="en-CA" b="1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CA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  <a:r>
              <a:rPr lang="en-CA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'Teacher LN'</a:t>
            </a:r>
          </a:p>
          <a:p>
            <a:pPr>
              <a:buNone/>
            </a:pP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FROM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pPr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	student 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s </a:t>
            </a:r>
          </a:p>
          <a:p>
            <a:pPr>
              <a:buNone/>
            </a:pP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itchFamily="49" charset="0"/>
                <a:cs typeface="Courier New" pitchFamily="49" charset="0"/>
              </a:rPr>
              <a:t>LEFT OUTER JOIN </a:t>
            </a:r>
          </a:p>
          <a:p>
            <a:pPr>
              <a:buNone/>
            </a:pP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teacher 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t</a:t>
            </a:r>
          </a:p>
          <a:p>
            <a:pPr>
              <a:buNone/>
            </a:pPr>
            <a:r>
              <a:rPr lang="en-CA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ON</a:t>
            </a:r>
            <a:r>
              <a:rPr lang="en-CA" b="1" dirty="0">
                <a:latin typeface="Courier New" pitchFamily="49" charset="0"/>
                <a:cs typeface="Courier New" pitchFamily="49" charset="0"/>
              </a:rPr>
              <a:t> </a:t>
            </a:r>
            <a:br>
              <a:rPr lang="en-CA" b="1" dirty="0">
                <a:latin typeface="Courier New" pitchFamily="49" charset="0"/>
                <a:cs typeface="Courier New" pitchFamily="49" charset="0"/>
              </a:rPr>
            </a:br>
            <a:r>
              <a:rPr lang="en-CA" b="1" dirty="0" err="1">
                <a:latin typeface="Courier New" pitchFamily="49" charset="0"/>
                <a:cs typeface="Courier New" pitchFamily="49" charset="0"/>
              </a:rPr>
              <a:t>s.teacher</a:t>
            </a:r>
            <a:r>
              <a:rPr lang="en-CA" b="1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CA" b="1" dirty="0" err="1">
                <a:latin typeface="Courier New" pitchFamily="49" charset="0"/>
                <a:cs typeface="Courier New" pitchFamily="49" charset="0"/>
              </a:rPr>
              <a:t>t.teacher_id</a:t>
            </a:r>
            <a:endParaRPr lang="en-CA" b="1" dirty="0">
              <a:latin typeface="Courier New" pitchFamily="49" charset="0"/>
              <a:cs typeface="Courier New" pitchFamily="49" charset="0"/>
            </a:endParaRPr>
          </a:p>
          <a:p>
            <a:endParaRPr lang="en-CA" dirty="0"/>
          </a:p>
          <a:p>
            <a:endParaRPr lang="en-CA" dirty="0"/>
          </a:p>
        </p:txBody>
      </p:sp>
      <p:pic>
        <p:nvPicPr>
          <p:cNvPr id="4" name="Picture 3" descr="Untitled-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57400" y="3886200"/>
            <a:ext cx="5949197" cy="29718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0" y="543607"/>
            <a:ext cx="7696200" cy="57150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Right outer join</a:t>
            </a:r>
          </a:p>
          <a:p>
            <a:pPr>
              <a:buNone/>
            </a:pPr>
            <a:r>
              <a:rPr lang="en-US" dirty="0"/>
              <a:t> 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sz="2800" dirty="0"/>
          </a:p>
          <a:p>
            <a:pPr>
              <a:buNone/>
            </a:pPr>
            <a:r>
              <a:rPr lang="en-US" sz="2800" dirty="0"/>
              <a:t>This example and previous one are the same</a:t>
            </a:r>
          </a:p>
          <a:p>
            <a:endParaRPr lang="en-CA" dirty="0"/>
          </a:p>
        </p:txBody>
      </p:sp>
      <p:sp>
        <p:nvSpPr>
          <p:cNvPr id="4" name="Rectangle 3"/>
          <p:cNvSpPr/>
          <p:nvPr/>
        </p:nvSpPr>
        <p:spPr>
          <a:xfrm>
            <a:off x="1371600" y="1077007"/>
            <a:ext cx="6429664" cy="415498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SELECT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pPr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s.first_name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'Student FN'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, 	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s.last_name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'Student LN'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, 	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t.first_name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'Teacher FN'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, 	</a:t>
            </a:r>
            <a:r>
              <a:rPr lang="en-CA" sz="2400" b="1" dirty="0" err="1">
                <a:latin typeface="Courier New" pitchFamily="49" charset="0"/>
                <a:cs typeface="Courier New" pitchFamily="49" charset="0"/>
              </a:rPr>
              <a:t>t.last_name</a:t>
            </a:r>
            <a:r>
              <a:rPr lang="en-CA" sz="2400" b="1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CA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  <a:r>
              <a:rPr lang="en-CA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24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'Teacher LN'</a:t>
            </a:r>
          </a:p>
          <a:p>
            <a:pPr>
              <a:buNone/>
            </a:pPr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FROM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pPr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teacher </a:t>
            </a:r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t </a:t>
            </a:r>
          </a:p>
          <a:p>
            <a:pPr>
              <a:buNone/>
            </a:pPr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itchFamily="49" charset="0"/>
                <a:cs typeface="Courier New" pitchFamily="49" charset="0"/>
              </a:rPr>
              <a:t>Right OUTER JOIN </a:t>
            </a:r>
          </a:p>
          <a:p>
            <a:pPr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student </a:t>
            </a:r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s</a:t>
            </a:r>
          </a:p>
          <a:p>
            <a:pPr>
              <a:buNone/>
            </a:pPr>
            <a:r>
              <a:rPr lang="en-CA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ON</a:t>
            </a:r>
            <a:r>
              <a:rPr lang="en-CA" sz="2400" b="1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pPr>
              <a:buNone/>
            </a:pPr>
            <a:r>
              <a:rPr lang="en-CA" sz="24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CA" sz="2400" b="1" dirty="0" err="1">
                <a:latin typeface="Courier New" pitchFamily="49" charset="0"/>
                <a:cs typeface="Courier New" pitchFamily="49" charset="0"/>
              </a:rPr>
              <a:t>s.teacher</a:t>
            </a:r>
            <a:r>
              <a:rPr lang="en-CA" sz="2400" b="1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CA" sz="2400" b="1" dirty="0" err="1">
                <a:latin typeface="Courier New" pitchFamily="49" charset="0"/>
                <a:cs typeface="Courier New" pitchFamily="49" charset="0"/>
              </a:rPr>
              <a:t>t.teacher_id</a:t>
            </a:r>
            <a:endParaRPr lang="en-CA" sz="24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Left Arrow 4"/>
          <p:cNvSpPr/>
          <p:nvPr/>
        </p:nvSpPr>
        <p:spPr>
          <a:xfrm>
            <a:off x="4724400" y="3182714"/>
            <a:ext cx="1905000" cy="1219200"/>
          </a:xfrm>
          <a:prstGeom prst="leftArrow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Tables swapped</a:t>
            </a:r>
            <a:endParaRPr lang="en-CA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182255" y="152400"/>
            <a:ext cx="5980545" cy="34778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SELECT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br>
              <a:rPr lang="en-US" sz="2000" b="1" dirty="0">
                <a:latin typeface="Courier New" pitchFamily="49" charset="0"/>
                <a:cs typeface="Courier New" pitchFamily="49" charset="0"/>
              </a:rPr>
            </a:b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s.first_name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'Student FN'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, 	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s.last_name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 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'Student LN'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, </a:t>
            </a: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t.first_name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'Teacher FN'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, </a:t>
            </a:r>
          </a:p>
          <a:p>
            <a:r>
              <a:rPr lang="en-CA" sz="20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CA" sz="2000" b="1" dirty="0" err="1">
                <a:latin typeface="Courier New" pitchFamily="49" charset="0"/>
                <a:cs typeface="Courier New" pitchFamily="49" charset="0"/>
              </a:rPr>
              <a:t>t.last_name</a:t>
            </a:r>
            <a:r>
              <a:rPr lang="en-CA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  <a:r>
              <a:rPr lang="en-CA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20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'Teacher LN'</a:t>
            </a:r>
          </a:p>
          <a:p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FROM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br>
              <a:rPr lang="en-US" sz="2000" b="1" dirty="0">
                <a:latin typeface="Courier New" pitchFamily="49" charset="0"/>
                <a:cs typeface="Courier New" pitchFamily="49" charset="0"/>
              </a:rPr>
            </a:b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student 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s </a:t>
            </a:r>
          </a:p>
          <a:p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itchFamily="49" charset="0"/>
                <a:cs typeface="Courier New" pitchFamily="49" charset="0"/>
              </a:rPr>
              <a:t>RIGHT OUTER JOIN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br>
              <a:rPr lang="en-US" sz="2000" b="1" dirty="0">
                <a:latin typeface="Courier New" pitchFamily="49" charset="0"/>
                <a:cs typeface="Courier New" pitchFamily="49" charset="0"/>
              </a:rPr>
            </a:b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teacher 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t</a:t>
            </a:r>
          </a:p>
          <a:p>
            <a:r>
              <a:rPr lang="en-CA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ON</a:t>
            </a:r>
            <a:r>
              <a:rPr lang="en-CA" sz="2000" b="1" dirty="0">
                <a:latin typeface="Courier New" pitchFamily="49" charset="0"/>
                <a:cs typeface="Courier New" pitchFamily="49" charset="0"/>
              </a:rPr>
              <a:t> </a:t>
            </a:r>
            <a:br>
              <a:rPr lang="en-CA" sz="2000" b="1" dirty="0">
                <a:latin typeface="Courier New" pitchFamily="49" charset="0"/>
                <a:cs typeface="Courier New" pitchFamily="49" charset="0"/>
              </a:rPr>
            </a:br>
            <a:r>
              <a:rPr lang="en-CA" sz="20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CA" sz="2000" b="1" dirty="0" err="1">
                <a:latin typeface="Courier New" pitchFamily="49" charset="0"/>
                <a:cs typeface="Courier New" pitchFamily="49" charset="0"/>
              </a:rPr>
              <a:t>s.teacher</a:t>
            </a:r>
            <a:r>
              <a:rPr lang="en-CA" sz="2000" b="1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CA" sz="2000" b="1" dirty="0" err="1">
                <a:latin typeface="Courier New" pitchFamily="49" charset="0"/>
                <a:cs typeface="Courier New" pitchFamily="49" charset="0"/>
              </a:rPr>
              <a:t>t.teacher_id</a:t>
            </a:r>
            <a:endParaRPr lang="en-CA" sz="2000" b="1" dirty="0">
              <a:latin typeface="Courier New" pitchFamily="49" charset="0"/>
              <a:cs typeface="Courier New" pitchFamily="49" charset="0"/>
            </a:endParaRPr>
          </a:p>
        </p:txBody>
      </p:sp>
      <p:pic>
        <p:nvPicPr>
          <p:cNvPr id="7" name="Content Placeholder 6" descr="Untitled-1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198419" y="3962399"/>
            <a:ext cx="5922579" cy="287250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0" y="1219200"/>
            <a:ext cx="7714488" cy="54864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</a:t>
            </a:r>
            <a:r>
              <a:rPr lang="en-US" dirty="0">
                <a:solidFill>
                  <a:srgbClr val="0070C0"/>
                </a:solidFill>
              </a:rPr>
              <a:t>FULL OUTER JOIN </a:t>
            </a:r>
            <a:r>
              <a:rPr lang="en-US" dirty="0"/>
              <a:t>is a combination of the </a:t>
            </a:r>
            <a:r>
              <a:rPr lang="en-US" dirty="0">
                <a:solidFill>
                  <a:srgbClr val="0070C0"/>
                </a:solidFill>
              </a:rPr>
              <a:t>LEFT</a:t>
            </a:r>
            <a:r>
              <a:rPr lang="en-US" dirty="0"/>
              <a:t> </a:t>
            </a:r>
            <a:r>
              <a:rPr lang="en-US" dirty="0">
                <a:solidFill>
                  <a:srgbClr val="0070C0"/>
                </a:solidFill>
              </a:rPr>
              <a:t>JOIN</a:t>
            </a:r>
            <a:r>
              <a:rPr lang="en-US" dirty="0"/>
              <a:t> and the </a:t>
            </a:r>
            <a:r>
              <a:rPr lang="en-US" dirty="0">
                <a:solidFill>
                  <a:srgbClr val="0070C0"/>
                </a:solidFill>
              </a:rPr>
              <a:t>RIGHT</a:t>
            </a:r>
            <a:r>
              <a:rPr lang="en-US" dirty="0"/>
              <a:t> </a:t>
            </a:r>
            <a:r>
              <a:rPr lang="en-US" dirty="0">
                <a:solidFill>
                  <a:srgbClr val="0070C0"/>
                </a:solidFill>
              </a:rPr>
              <a:t>JOIN</a:t>
            </a:r>
            <a:br>
              <a:rPr lang="en-US" dirty="0"/>
            </a:br>
            <a:endParaRPr lang="en-CA" dirty="0"/>
          </a:p>
          <a:p>
            <a:r>
              <a:rPr lang="en-CA" dirty="0"/>
              <a:t>A </a:t>
            </a:r>
            <a:r>
              <a:rPr lang="en-CA" dirty="0">
                <a:solidFill>
                  <a:srgbClr val="0070C0"/>
                </a:solidFill>
              </a:rPr>
              <a:t>FULL OUTER JOIN</a:t>
            </a:r>
            <a:r>
              <a:rPr lang="en-CA" dirty="0"/>
              <a:t> displays every row from every table in the JOIN clause</a:t>
            </a:r>
            <a:br>
              <a:rPr lang="en-CA" dirty="0"/>
            </a:br>
            <a:endParaRPr lang="en-CA" dirty="0"/>
          </a:p>
          <a:p>
            <a:r>
              <a:rPr lang="en-CA" dirty="0"/>
              <a:t>This can be helpful in finding unmatched rows when relational integrity is not being enforced on the </a:t>
            </a:r>
            <a:r>
              <a:rPr lang="en-US" dirty="0"/>
              <a:t>tables.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>
            <a:normAutofit/>
          </a:bodyPr>
          <a:lstStyle/>
          <a:p>
            <a:pPr algn="ctr"/>
            <a:r>
              <a:rPr lang="en-CA" sz="3600" b="1" dirty="0"/>
              <a:t>FULL OUTER JOIN</a:t>
            </a:r>
            <a:endParaRPr lang="en-US" sz="3600" b="1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0" y="76200"/>
            <a:ext cx="7498080" cy="3810000"/>
          </a:xfr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SELECT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</a:t>
            </a:r>
            <a:br>
              <a:rPr lang="en-US" sz="2400" b="1" dirty="0">
                <a:latin typeface="Courier New" pitchFamily="49" charset="0"/>
                <a:cs typeface="Courier New" pitchFamily="49" charset="0"/>
              </a:rPr>
            </a:b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s.first_name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	</a:t>
            </a:r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'Student FN'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,</a:t>
            </a:r>
            <a:br>
              <a:rPr lang="en-US" sz="2400" b="1" dirty="0">
                <a:latin typeface="Courier New" pitchFamily="49" charset="0"/>
                <a:cs typeface="Courier New" pitchFamily="49" charset="0"/>
              </a:rPr>
            </a:b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s.last_name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	</a:t>
            </a:r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 </a:t>
            </a:r>
            <a:r>
              <a:rPr lang="en-US" sz="24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'Student LN'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, 	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t.first_name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	</a:t>
            </a:r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'Teacher FN'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, </a:t>
            </a:r>
          </a:p>
          <a:p>
            <a:pPr>
              <a:buNone/>
            </a:pPr>
            <a:r>
              <a:rPr lang="en-CA" sz="2400" b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CA" sz="2400" b="1" dirty="0" err="1">
                <a:latin typeface="Courier New" pitchFamily="49" charset="0"/>
                <a:cs typeface="Courier New" pitchFamily="49" charset="0"/>
              </a:rPr>
              <a:t>t.last_name</a:t>
            </a:r>
            <a:r>
              <a:rPr lang="en-CA" sz="2400" b="1" dirty="0">
                <a:latin typeface="Courier New" pitchFamily="49" charset="0"/>
                <a:cs typeface="Courier New" pitchFamily="49" charset="0"/>
              </a:rPr>
              <a:t> 	</a:t>
            </a:r>
            <a:r>
              <a:rPr lang="en-CA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  <a:r>
              <a:rPr lang="en-CA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24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'Teacher LN'</a:t>
            </a:r>
          </a:p>
          <a:p>
            <a:pPr>
              <a:buNone/>
            </a:pPr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FROM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</a:t>
            </a:r>
            <a:br>
              <a:rPr lang="en-US" sz="2400" b="1" dirty="0">
                <a:latin typeface="Courier New" pitchFamily="49" charset="0"/>
                <a:cs typeface="Courier New" pitchFamily="49" charset="0"/>
              </a:rPr>
            </a:b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student </a:t>
            </a:r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s </a:t>
            </a:r>
          </a:p>
          <a:p>
            <a:pPr>
              <a:buNone/>
            </a:pPr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FULL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itchFamily="49" charset="0"/>
                <a:cs typeface="Courier New" pitchFamily="49" charset="0"/>
              </a:rPr>
              <a:t>OUTER JOIN </a:t>
            </a:r>
            <a:b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teacher </a:t>
            </a:r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t</a:t>
            </a:r>
          </a:p>
          <a:p>
            <a:pPr>
              <a:buNone/>
            </a:pPr>
            <a:r>
              <a:rPr lang="en-CA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ON</a:t>
            </a:r>
            <a:r>
              <a:rPr lang="en-CA" sz="2400" b="1" dirty="0">
                <a:latin typeface="Courier New" pitchFamily="49" charset="0"/>
                <a:cs typeface="Courier New" pitchFamily="49" charset="0"/>
              </a:rPr>
              <a:t> </a:t>
            </a:r>
            <a:br>
              <a:rPr lang="en-CA" sz="2400" b="1" dirty="0">
                <a:latin typeface="Courier New" pitchFamily="49" charset="0"/>
                <a:cs typeface="Courier New" pitchFamily="49" charset="0"/>
              </a:rPr>
            </a:br>
            <a:r>
              <a:rPr lang="en-CA" sz="24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CA" sz="2400" b="1" dirty="0" err="1">
                <a:latin typeface="Courier New" pitchFamily="49" charset="0"/>
                <a:cs typeface="Courier New" pitchFamily="49" charset="0"/>
              </a:rPr>
              <a:t>s.teacher</a:t>
            </a:r>
            <a:r>
              <a:rPr lang="en-CA" sz="2400" b="1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CA" sz="2400" b="1" dirty="0" err="1">
                <a:latin typeface="Courier New" pitchFamily="49" charset="0"/>
                <a:cs typeface="Courier New" pitchFamily="49" charset="0"/>
              </a:rPr>
              <a:t>t.teacher_id</a:t>
            </a:r>
            <a:endParaRPr lang="en-CA" sz="2400" b="1" dirty="0">
              <a:latin typeface="Courier New" pitchFamily="49" charset="0"/>
              <a:cs typeface="Courier New" pitchFamily="49" charset="0"/>
            </a:endParaRPr>
          </a:p>
          <a:p>
            <a:endParaRPr lang="en-CA" sz="2400" b="1" dirty="0">
              <a:latin typeface="Courier New" pitchFamily="49" charset="0"/>
              <a:cs typeface="Courier New" pitchFamily="49" charset="0"/>
            </a:endParaRPr>
          </a:p>
        </p:txBody>
      </p:sp>
      <p:pic>
        <p:nvPicPr>
          <p:cNvPr id="5" name="Picture 4" descr="Untitled-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219200" y="4038599"/>
            <a:ext cx="4953000" cy="269155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0" y="1524000"/>
            <a:ext cx="7638288" cy="4724400"/>
          </a:xfrm>
        </p:spPr>
        <p:txBody>
          <a:bodyPr>
            <a:normAutofit/>
          </a:bodyPr>
          <a:lstStyle/>
          <a:p>
            <a:r>
              <a:rPr lang="en-CA" dirty="0">
                <a:solidFill>
                  <a:srgbClr val="0070C0"/>
                </a:solidFill>
              </a:rPr>
              <a:t>Cross joins </a:t>
            </a:r>
            <a:r>
              <a:rPr lang="en-CA" dirty="0"/>
              <a:t>provide a </a:t>
            </a:r>
            <a:r>
              <a:rPr lang="en-CA" dirty="0">
                <a:solidFill>
                  <a:srgbClr val="0070C0"/>
                </a:solidFill>
              </a:rPr>
              <a:t>Cartesian</a:t>
            </a:r>
            <a:r>
              <a:rPr lang="en-CA" dirty="0"/>
              <a:t> product of the two tables. </a:t>
            </a:r>
            <a:br>
              <a:rPr lang="en-CA" dirty="0"/>
            </a:br>
            <a:r>
              <a:rPr lang="en-CA" dirty="0"/>
              <a:t>Every row from the first table is joined with every row from the second table</a:t>
            </a:r>
            <a:br>
              <a:rPr lang="en-CA" dirty="0"/>
            </a:br>
            <a:endParaRPr lang="en-CA" dirty="0"/>
          </a:p>
          <a:p>
            <a:r>
              <a:rPr lang="en-CA" dirty="0"/>
              <a:t>This </a:t>
            </a:r>
            <a:r>
              <a:rPr lang="en-CA" dirty="0">
                <a:solidFill>
                  <a:srgbClr val="0070C0"/>
                </a:solidFill>
              </a:rPr>
              <a:t>JOIN</a:t>
            </a:r>
            <a:r>
              <a:rPr lang="en-CA" dirty="0"/>
              <a:t> does not have a </a:t>
            </a:r>
            <a:r>
              <a:rPr lang="en-CA" dirty="0">
                <a:solidFill>
                  <a:srgbClr val="0070C0"/>
                </a:solidFill>
              </a:rPr>
              <a:t>ON</a:t>
            </a:r>
            <a:r>
              <a:rPr lang="en-CA" dirty="0"/>
              <a:t> clause</a:t>
            </a:r>
            <a:endParaRPr lang="en-CA" i="1" dirty="0"/>
          </a:p>
          <a:p>
            <a:endParaRPr lang="en-CA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066800" y="274638"/>
            <a:ext cx="8077200" cy="1143000"/>
          </a:xfrm>
        </p:spPr>
        <p:txBody>
          <a:bodyPr>
            <a:normAutofit/>
          </a:bodyPr>
          <a:lstStyle/>
          <a:p>
            <a:pPr algn="ctr"/>
            <a:r>
              <a:rPr lang="en-CA" sz="3600" b="1" dirty="0"/>
              <a:t>Cross JOIN</a:t>
            </a:r>
            <a:endParaRPr lang="en-US" sz="3600" b="1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0" y="152400"/>
            <a:ext cx="3429000" cy="4114800"/>
          </a:xfr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SELECT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s.first_name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,</a:t>
            </a:r>
            <a:br>
              <a:rPr lang="en-US" sz="2400" b="1" dirty="0">
                <a:latin typeface="Courier New" pitchFamily="49" charset="0"/>
                <a:cs typeface="Courier New" pitchFamily="49" charset="0"/>
              </a:rPr>
            </a:b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s.last_name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,</a:t>
            </a:r>
            <a:br>
              <a:rPr lang="en-US" sz="2400" b="1" dirty="0">
                <a:latin typeface="Courier New" pitchFamily="49" charset="0"/>
                <a:cs typeface="Courier New" pitchFamily="49" charset="0"/>
              </a:rPr>
            </a:b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t.first_name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,</a:t>
            </a:r>
            <a:br>
              <a:rPr lang="en-US" sz="2400" b="1" dirty="0">
                <a:latin typeface="Courier New" pitchFamily="49" charset="0"/>
                <a:cs typeface="Courier New" pitchFamily="49" charset="0"/>
              </a:rPr>
            </a:br>
            <a:r>
              <a:rPr lang="en-CA" sz="2400" b="1" dirty="0" err="1">
                <a:latin typeface="Courier New" pitchFamily="49" charset="0"/>
                <a:cs typeface="Courier New" pitchFamily="49" charset="0"/>
              </a:rPr>
              <a:t>t.last_name</a:t>
            </a:r>
            <a:r>
              <a:rPr lang="en-CA" sz="2400" b="1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pPr>
              <a:buNone/>
            </a:pPr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FROM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</a:t>
            </a:r>
            <a:br>
              <a:rPr lang="en-US" sz="2400" b="1" dirty="0">
                <a:latin typeface="Courier New" pitchFamily="49" charset="0"/>
                <a:cs typeface="Courier New" pitchFamily="49" charset="0"/>
              </a:rPr>
            </a:br>
            <a:r>
              <a:rPr lang="en-US" sz="2400" b="1" dirty="0">
                <a:latin typeface="Courier New" pitchFamily="49" charset="0"/>
                <a:cs typeface="Courier New" pitchFamily="49" charset="0"/>
              </a:rPr>
              <a:t>student </a:t>
            </a:r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s </a:t>
            </a:r>
          </a:p>
          <a:p>
            <a:pPr>
              <a:buNone/>
            </a:pPr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itchFamily="49" charset="0"/>
                <a:cs typeface="Courier New" pitchFamily="49" charset="0"/>
              </a:rPr>
              <a:t>CROSS JOIN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pPr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teacher </a:t>
            </a:r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t</a:t>
            </a:r>
          </a:p>
          <a:p>
            <a:endParaRPr lang="en-CA" dirty="0"/>
          </a:p>
        </p:txBody>
      </p:sp>
      <p:pic>
        <p:nvPicPr>
          <p:cNvPr id="4" name="Picture 3" descr="Untitled-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029200" y="76200"/>
            <a:ext cx="3911600" cy="66294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457200"/>
            <a:ext cx="7790688" cy="2667000"/>
          </a:xfrm>
        </p:spPr>
        <p:txBody>
          <a:bodyPr>
            <a:normAutofit/>
          </a:bodyPr>
          <a:lstStyle/>
          <a:p>
            <a:r>
              <a:rPr lang="en-CA" dirty="0"/>
              <a:t>To use the </a:t>
            </a:r>
            <a:r>
              <a:rPr lang="en-CA" dirty="0" err="1"/>
              <a:t>Nums</a:t>
            </a:r>
            <a:r>
              <a:rPr lang="en-CA" dirty="0"/>
              <a:t> table in TSQL2012 DB to generate a result with a row for each weekday (1 through 7) and shift number (1 through 3), assuming there are three shifts a day.</a:t>
            </a:r>
          </a:p>
        </p:txBody>
      </p:sp>
      <p:sp>
        <p:nvSpPr>
          <p:cNvPr id="4" name="Rectangle 3"/>
          <p:cNvSpPr/>
          <p:nvPr/>
        </p:nvSpPr>
        <p:spPr>
          <a:xfrm>
            <a:off x="1524000" y="3276600"/>
            <a:ext cx="6858000" cy="31700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CA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SELECT</a:t>
            </a:r>
            <a:r>
              <a:rPr lang="en-CA" sz="2000" b="1" dirty="0">
                <a:latin typeface="Courier New" pitchFamily="49" charset="0"/>
                <a:cs typeface="Courier New" pitchFamily="49" charset="0"/>
              </a:rPr>
              <a:t> </a:t>
            </a:r>
            <a:br>
              <a:rPr lang="en-CA" sz="2000" b="1" dirty="0">
                <a:latin typeface="Courier New" pitchFamily="49" charset="0"/>
                <a:cs typeface="Courier New" pitchFamily="49" charset="0"/>
              </a:rPr>
            </a:br>
            <a:r>
              <a:rPr lang="en-CA" sz="20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CA" sz="2000" b="1" dirty="0" err="1">
                <a:latin typeface="Courier New" pitchFamily="49" charset="0"/>
                <a:cs typeface="Courier New" pitchFamily="49" charset="0"/>
              </a:rPr>
              <a:t>D.n</a:t>
            </a:r>
            <a:r>
              <a:rPr lang="en-CA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  <a:r>
              <a:rPr lang="en-CA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2000" b="1" dirty="0" err="1">
                <a:latin typeface="Courier New" pitchFamily="49" charset="0"/>
                <a:cs typeface="Courier New" pitchFamily="49" charset="0"/>
              </a:rPr>
              <a:t>theday</a:t>
            </a:r>
            <a:r>
              <a:rPr lang="en-CA" sz="2000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CA" sz="2000" b="1" dirty="0" err="1">
                <a:latin typeface="Courier New" pitchFamily="49" charset="0"/>
                <a:cs typeface="Courier New" pitchFamily="49" charset="0"/>
              </a:rPr>
              <a:t>S.n</a:t>
            </a:r>
            <a:r>
              <a:rPr lang="en-CA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  <a:r>
              <a:rPr lang="en-CA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2000" b="1" dirty="0" err="1">
                <a:latin typeface="Courier New" pitchFamily="49" charset="0"/>
                <a:cs typeface="Courier New" pitchFamily="49" charset="0"/>
              </a:rPr>
              <a:t>shiftno</a:t>
            </a:r>
            <a:r>
              <a:rPr lang="en-CA" sz="2000" b="1" dirty="0">
                <a:latin typeface="Courier New" pitchFamily="49" charset="0"/>
                <a:cs typeface="Courier New" pitchFamily="49" charset="0"/>
              </a:rPr>
              <a:t>   </a:t>
            </a:r>
          </a:p>
          <a:p>
            <a:r>
              <a:rPr lang="en-CA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FROM</a:t>
            </a:r>
            <a:r>
              <a:rPr lang="en-CA" sz="2000" b="1" dirty="0">
                <a:latin typeface="Courier New" pitchFamily="49" charset="0"/>
                <a:cs typeface="Courier New" pitchFamily="49" charset="0"/>
              </a:rPr>
              <a:t> </a:t>
            </a:r>
            <a:br>
              <a:rPr lang="en-CA" sz="2000" b="1" dirty="0">
                <a:latin typeface="Courier New" pitchFamily="49" charset="0"/>
                <a:cs typeface="Courier New" pitchFamily="49" charset="0"/>
              </a:rPr>
            </a:br>
            <a:r>
              <a:rPr lang="en-CA" sz="20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CA" sz="2000" b="1" dirty="0" err="1">
                <a:latin typeface="Courier New" pitchFamily="49" charset="0"/>
                <a:cs typeface="Courier New" pitchFamily="49" charset="0"/>
              </a:rPr>
              <a:t>dbo.Nums</a:t>
            </a:r>
            <a:r>
              <a:rPr lang="en-CA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  <a:r>
              <a:rPr lang="en-CA" sz="2000" b="1" dirty="0">
                <a:latin typeface="Courier New" pitchFamily="49" charset="0"/>
                <a:cs typeface="Courier New" pitchFamily="49" charset="0"/>
              </a:rPr>
              <a:t> D </a:t>
            </a:r>
          </a:p>
          <a:p>
            <a:r>
              <a:rPr lang="en-CA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itchFamily="49" charset="0"/>
                <a:cs typeface="Courier New" pitchFamily="49" charset="0"/>
              </a:rPr>
              <a:t>CROSS JOIN </a:t>
            </a:r>
          </a:p>
          <a:p>
            <a:r>
              <a:rPr lang="en-CA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CA" sz="2000" b="1" dirty="0" err="1">
                <a:latin typeface="Courier New" pitchFamily="49" charset="0"/>
                <a:cs typeface="Courier New" pitchFamily="49" charset="0"/>
              </a:rPr>
              <a:t>dbo.Nums</a:t>
            </a:r>
            <a:r>
              <a:rPr lang="en-CA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  <a:r>
              <a:rPr lang="en-CA" sz="2000" b="1" dirty="0">
                <a:latin typeface="Courier New" pitchFamily="49" charset="0"/>
                <a:cs typeface="Courier New" pitchFamily="49" charset="0"/>
              </a:rPr>
              <a:t> S </a:t>
            </a:r>
          </a:p>
          <a:p>
            <a:r>
              <a:rPr lang="en-CA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WHERE</a:t>
            </a:r>
            <a:r>
              <a:rPr lang="en-CA" sz="2000" b="1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r>
              <a:rPr lang="en-CA" sz="20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CA" sz="2000" b="1" dirty="0" err="1">
                <a:latin typeface="Courier New" pitchFamily="49" charset="0"/>
                <a:cs typeface="Courier New" pitchFamily="49" charset="0"/>
              </a:rPr>
              <a:t>D.n</a:t>
            </a:r>
            <a:r>
              <a:rPr lang="en-CA" sz="2000" b="1" dirty="0">
                <a:latin typeface="Courier New" pitchFamily="49" charset="0"/>
                <a:cs typeface="Courier New" pitchFamily="49" charset="0"/>
              </a:rPr>
              <a:t> &lt;= 7 </a:t>
            </a:r>
            <a:r>
              <a:rPr lang="en-CA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itchFamily="49" charset="0"/>
                <a:cs typeface="Courier New" pitchFamily="49" charset="0"/>
              </a:rPr>
              <a:t>AND</a:t>
            </a:r>
            <a:r>
              <a:rPr lang="en-CA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2000" b="1" dirty="0" err="1">
                <a:latin typeface="Courier New" pitchFamily="49" charset="0"/>
                <a:cs typeface="Courier New" pitchFamily="49" charset="0"/>
              </a:rPr>
              <a:t>S.n</a:t>
            </a:r>
            <a:r>
              <a:rPr lang="en-CA" sz="2000" b="1" dirty="0">
                <a:latin typeface="Courier New" pitchFamily="49" charset="0"/>
                <a:cs typeface="Courier New" pitchFamily="49" charset="0"/>
              </a:rPr>
              <a:t> &lt;= 3 </a:t>
            </a:r>
          </a:p>
          <a:p>
            <a:r>
              <a:rPr lang="en-CA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ORDER</a:t>
            </a:r>
            <a:r>
              <a:rPr lang="en-CA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BY</a:t>
            </a:r>
            <a:r>
              <a:rPr lang="en-CA" sz="2000" b="1" dirty="0">
                <a:latin typeface="Courier New" pitchFamily="49" charset="0"/>
                <a:cs typeface="Courier New" pitchFamily="49" charset="0"/>
              </a:rPr>
              <a:t> </a:t>
            </a:r>
            <a:br>
              <a:rPr lang="en-CA" sz="2000" b="1" dirty="0">
                <a:latin typeface="Courier New" pitchFamily="49" charset="0"/>
                <a:cs typeface="Courier New" pitchFamily="49" charset="0"/>
              </a:rPr>
            </a:br>
            <a:r>
              <a:rPr lang="en-CA" sz="20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CA" sz="2000" b="1" dirty="0" err="1">
                <a:latin typeface="Courier New" pitchFamily="49" charset="0"/>
                <a:cs typeface="Courier New" pitchFamily="49" charset="0"/>
              </a:rPr>
              <a:t>theday</a:t>
            </a:r>
            <a:r>
              <a:rPr lang="en-CA" sz="2000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CA" sz="2000" b="1" dirty="0" err="1">
                <a:latin typeface="Courier New" pitchFamily="49" charset="0"/>
                <a:cs typeface="Courier New" pitchFamily="49" charset="0"/>
              </a:rPr>
              <a:t>shiftno</a:t>
            </a:r>
            <a:r>
              <a:rPr lang="en-CA" sz="2000" b="1" dirty="0">
                <a:latin typeface="Courier New" pitchFamily="49" charset="0"/>
                <a:cs typeface="Courier New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7218389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295400"/>
            <a:ext cx="8001000" cy="4953000"/>
          </a:xfrm>
        </p:spPr>
        <p:txBody>
          <a:bodyPr/>
          <a:lstStyle/>
          <a:p>
            <a:r>
              <a:rPr lang="en-US" dirty="0"/>
              <a:t>This situation is known as a </a:t>
            </a:r>
            <a:r>
              <a:rPr lang="en-US" dirty="0">
                <a:solidFill>
                  <a:srgbClr val="0070C0"/>
                </a:solidFill>
              </a:rPr>
              <a:t>SELF-JOIN</a:t>
            </a:r>
            <a:r>
              <a:rPr lang="en-US" dirty="0"/>
              <a:t>, and it occurs when you want to compare records in a table to each other</a:t>
            </a:r>
            <a:br>
              <a:rPr lang="en-US" dirty="0"/>
            </a:br>
            <a:endParaRPr lang="en-US" dirty="0"/>
          </a:p>
          <a:p>
            <a:r>
              <a:rPr lang="en-US" dirty="0"/>
              <a:t>Typical example of a self-join is a “flattened” employees table that contains information on an organizational hierarchy</a:t>
            </a:r>
            <a:endParaRPr lang="en-CA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3091" y="76200"/>
            <a:ext cx="9144000" cy="1143000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/>
              <a:t>Joining a table with itself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Untitled-1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524000" y="609600"/>
            <a:ext cx="6685498" cy="48006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Rectangle 8"/>
          <p:cNvSpPr/>
          <p:nvPr/>
        </p:nvSpPr>
        <p:spPr>
          <a:xfrm>
            <a:off x="4038600" y="5638800"/>
            <a:ext cx="1828800" cy="6858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Internal reference</a:t>
            </a:r>
            <a:endParaRPr lang="en-CA" dirty="0"/>
          </a:p>
        </p:txBody>
      </p:sp>
      <p:cxnSp>
        <p:nvCxnSpPr>
          <p:cNvPr id="11" name="Straight Arrow Connector 10"/>
          <p:cNvCxnSpPr/>
          <p:nvPr/>
        </p:nvCxnSpPr>
        <p:spPr>
          <a:xfrm flipH="1" flipV="1">
            <a:off x="1905000" y="5029200"/>
            <a:ext cx="2286000" cy="990600"/>
          </a:xfrm>
          <a:prstGeom prst="straightConnector1">
            <a:avLst/>
          </a:prstGeom>
          <a:ln w="50800"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V="1">
            <a:off x="5867400" y="5029200"/>
            <a:ext cx="914400" cy="838200"/>
          </a:xfrm>
          <a:prstGeom prst="straightConnector1">
            <a:avLst/>
          </a:prstGeom>
          <a:ln w="50800"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Untitled-1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371600" y="1295400"/>
            <a:ext cx="7333027" cy="4800600"/>
          </a:xfrm>
          <a:effectLst/>
        </p:spPr>
      </p:pic>
      <p:sp>
        <p:nvSpPr>
          <p:cNvPr id="5" name="TextBox 4"/>
          <p:cNvSpPr txBox="1"/>
          <p:nvPr/>
        </p:nvSpPr>
        <p:spPr>
          <a:xfrm>
            <a:off x="2133600" y="381000"/>
            <a:ext cx="518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Representation of previous table</a:t>
            </a:r>
            <a:endParaRPr lang="en-CA" sz="2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990600"/>
            <a:ext cx="8001000" cy="4648200"/>
          </a:xfr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SELECT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</a:t>
            </a:r>
            <a:br>
              <a:rPr lang="en-US" sz="2400" b="1" dirty="0">
                <a:latin typeface="Courier New" pitchFamily="49" charset="0"/>
                <a:cs typeface="Courier New" pitchFamily="49" charset="0"/>
              </a:rPr>
            </a:b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e.first_name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	</a:t>
            </a:r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‘Employee FN’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,</a:t>
            </a:r>
          </a:p>
          <a:p>
            <a:pPr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e.last_name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	</a:t>
            </a:r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‘Employee LN’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,</a:t>
            </a:r>
          </a:p>
          <a:p>
            <a:pPr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e.title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		</a:t>
            </a:r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‘Employee Title’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, </a:t>
            </a:r>
          </a:p>
          <a:p>
            <a:pPr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m.first_name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	</a:t>
            </a:r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‘Manager FN’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, 	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m.last_name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	</a:t>
            </a:r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‘Manager LN’</a:t>
            </a:r>
          </a:p>
          <a:p>
            <a:pPr>
              <a:buNone/>
            </a:pPr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FROM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pPr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	employees </a:t>
            </a:r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e </a:t>
            </a:r>
          </a:p>
          <a:p>
            <a:pPr>
              <a:buNone/>
            </a:pPr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itchFamily="49" charset="0"/>
                <a:cs typeface="Courier New" pitchFamily="49" charset="0"/>
              </a:rPr>
              <a:t>LEFT OUTER JOIN </a:t>
            </a:r>
          </a:p>
          <a:p>
            <a:pPr>
              <a:buNone/>
            </a:pPr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employees </a:t>
            </a:r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m</a:t>
            </a:r>
          </a:p>
          <a:p>
            <a:pPr>
              <a:buNone/>
            </a:pPr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ON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</a:t>
            </a:r>
            <a:br>
              <a:rPr lang="en-US" sz="2400" b="1" dirty="0">
                <a:latin typeface="Courier New" pitchFamily="49" charset="0"/>
                <a:cs typeface="Courier New" pitchFamily="49" charset="0"/>
              </a:rPr>
            </a:b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e.manager_id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m.employee_id</a:t>
            </a:r>
            <a:endParaRPr lang="en-CA" sz="2400" b="1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Untitled-2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295400" y="304800"/>
            <a:ext cx="7624510" cy="36576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Rectangle 5"/>
          <p:cNvSpPr/>
          <p:nvPr/>
        </p:nvSpPr>
        <p:spPr>
          <a:xfrm>
            <a:off x="1295400" y="4267200"/>
            <a:ext cx="762000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If we used an </a:t>
            </a:r>
            <a:r>
              <a:rPr lang="en-US" sz="2800" dirty="0">
                <a:solidFill>
                  <a:srgbClr val="0070C0"/>
                </a:solidFill>
              </a:rPr>
              <a:t>INNER JOIN </a:t>
            </a:r>
            <a:r>
              <a:rPr lang="en-US" sz="2800" dirty="0"/>
              <a:t>instead of a </a:t>
            </a:r>
            <a:r>
              <a:rPr lang="en-US" sz="2800" dirty="0">
                <a:solidFill>
                  <a:srgbClr val="0070C0"/>
                </a:solidFill>
              </a:rPr>
              <a:t>LEFT OUTER JOIN</a:t>
            </a:r>
            <a:r>
              <a:rPr lang="en-US" sz="2800" dirty="0"/>
              <a:t>, my employee list would have omitted the company’s president, who </a:t>
            </a:r>
          </a:p>
          <a:p>
            <a:r>
              <a:rPr lang="en-US" sz="2800" dirty="0"/>
              <a:t>has no manager</a:t>
            </a:r>
            <a:endParaRPr lang="en-CA" sz="2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8473"/>
            <a:ext cx="9144000" cy="1143000"/>
          </a:xfrm>
        </p:spPr>
        <p:txBody>
          <a:bodyPr/>
          <a:lstStyle/>
          <a:p>
            <a:pPr algn="ctr"/>
            <a:r>
              <a:rPr lang="en-CA" dirty="0"/>
              <a:t>Combining Datasets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0" y="1447800"/>
            <a:ext cx="7714488" cy="5257800"/>
          </a:xfrm>
        </p:spPr>
        <p:txBody>
          <a:bodyPr>
            <a:normAutofit/>
          </a:bodyPr>
          <a:lstStyle/>
          <a:p>
            <a:r>
              <a:rPr lang="en-US" dirty="0"/>
              <a:t>The </a:t>
            </a:r>
            <a:r>
              <a:rPr lang="en-US" dirty="0">
                <a:solidFill>
                  <a:srgbClr val="0070C0"/>
                </a:solidFill>
              </a:rPr>
              <a:t>UNION</a:t>
            </a:r>
            <a:r>
              <a:rPr lang="en-US" dirty="0"/>
              <a:t>, </a:t>
            </a:r>
            <a:r>
              <a:rPr lang="en-US" dirty="0">
                <a:solidFill>
                  <a:srgbClr val="0070C0"/>
                </a:solidFill>
              </a:rPr>
              <a:t>EXCEPT</a:t>
            </a:r>
            <a:r>
              <a:rPr lang="en-US" dirty="0"/>
              <a:t> and </a:t>
            </a:r>
            <a:r>
              <a:rPr lang="en-US" dirty="0">
                <a:solidFill>
                  <a:srgbClr val="0070C0"/>
                </a:solidFill>
              </a:rPr>
              <a:t>INTERSECT</a:t>
            </a:r>
            <a:r>
              <a:rPr lang="en-US" dirty="0"/>
              <a:t> operators can be specified between two or more queries to provide a single result set</a:t>
            </a:r>
            <a:br>
              <a:rPr lang="en-US" dirty="0"/>
            </a:br>
            <a:endParaRPr lang="en-US" dirty="0"/>
          </a:p>
          <a:p>
            <a:r>
              <a:rPr lang="en-US" dirty="0">
                <a:solidFill>
                  <a:srgbClr val="0070C0"/>
                </a:solidFill>
              </a:rPr>
              <a:t>EXCEPT</a:t>
            </a:r>
            <a:r>
              <a:rPr lang="en-US" dirty="0"/>
              <a:t> and </a:t>
            </a:r>
            <a:r>
              <a:rPr lang="en-US" dirty="0">
                <a:solidFill>
                  <a:srgbClr val="0070C0"/>
                </a:solidFill>
              </a:rPr>
              <a:t>INTERSECT</a:t>
            </a:r>
            <a:r>
              <a:rPr lang="en-US" dirty="0"/>
              <a:t> operators  compare the result sets of two queries to determine what subset of rows should be included in the final result set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2497111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09" y="152400"/>
            <a:ext cx="9144000" cy="1143000"/>
          </a:xfrm>
        </p:spPr>
        <p:txBody>
          <a:bodyPr/>
          <a:lstStyle/>
          <a:p>
            <a:pPr algn="ctr"/>
            <a:r>
              <a:rPr lang="en-CA" dirty="0"/>
              <a:t>UNION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447800"/>
            <a:ext cx="8001000" cy="4648200"/>
          </a:xfrm>
        </p:spPr>
        <p:txBody>
          <a:bodyPr>
            <a:normAutofit fontScale="92500"/>
          </a:bodyPr>
          <a:lstStyle/>
          <a:p>
            <a:r>
              <a:rPr lang="en-US" dirty="0"/>
              <a:t>The </a:t>
            </a:r>
            <a:r>
              <a:rPr lang="en-US" dirty="0">
                <a:solidFill>
                  <a:srgbClr val="0070C0"/>
                </a:solidFill>
              </a:rPr>
              <a:t>UNION</a:t>
            </a:r>
            <a:r>
              <a:rPr lang="en-US" dirty="0"/>
              <a:t> operator allows you to combine the result sets created by multiple  </a:t>
            </a:r>
            <a:r>
              <a:rPr lang="en-US" dirty="0">
                <a:solidFill>
                  <a:srgbClr val="0070C0"/>
                </a:solidFill>
              </a:rPr>
              <a:t>SELECT</a:t>
            </a:r>
            <a:r>
              <a:rPr lang="en-US" dirty="0"/>
              <a:t>  statements into a single result set</a:t>
            </a:r>
            <a:br>
              <a:rPr lang="en-US" dirty="0"/>
            </a:br>
            <a:endParaRPr lang="en-US" dirty="0"/>
          </a:p>
          <a:p>
            <a:r>
              <a:rPr lang="en-US" dirty="0"/>
              <a:t>The </a:t>
            </a:r>
            <a:r>
              <a:rPr lang="en-US" dirty="0">
                <a:solidFill>
                  <a:srgbClr val="0070C0"/>
                </a:solidFill>
              </a:rPr>
              <a:t>ALL</a:t>
            </a:r>
            <a:r>
              <a:rPr lang="en-US" dirty="0"/>
              <a:t> keyword specifies that all rows, including duplicate rows, should be returned</a:t>
            </a:r>
            <a:br>
              <a:rPr lang="en-US" dirty="0"/>
            </a:br>
            <a:endParaRPr lang="en-US" dirty="0"/>
          </a:p>
          <a:p>
            <a:r>
              <a:rPr lang="en-US" dirty="0"/>
              <a:t>By default, duplicate rows are </a:t>
            </a:r>
            <a:r>
              <a:rPr lang="en-US" b="1" dirty="0"/>
              <a:t>not</a:t>
            </a:r>
            <a:r>
              <a:rPr lang="en-US" dirty="0"/>
              <a:t> returned</a:t>
            </a:r>
          </a:p>
        </p:txBody>
      </p:sp>
    </p:spTree>
    <p:extLst>
      <p:ext uri="{BB962C8B-B14F-4D97-AF65-F5344CB8AC3E}">
        <p14:creationId xmlns:p14="http://schemas.microsoft.com/office/powerpoint/2010/main" val="26388422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609600"/>
            <a:ext cx="7562088" cy="2895600"/>
          </a:xfrm>
        </p:spPr>
        <p:txBody>
          <a:bodyPr/>
          <a:lstStyle/>
          <a:p>
            <a:r>
              <a:rPr lang="en-US" dirty="0"/>
              <a:t>When specifying the </a:t>
            </a:r>
            <a:r>
              <a:rPr lang="en-US" dirty="0">
                <a:solidFill>
                  <a:srgbClr val="0070C0"/>
                </a:solidFill>
              </a:rPr>
              <a:t>UNION</a:t>
            </a:r>
            <a:r>
              <a:rPr lang="en-US" dirty="0"/>
              <a:t> operator, both queries must return the same number of columns</a:t>
            </a:r>
          </a:p>
          <a:p>
            <a:r>
              <a:rPr lang="en-US" dirty="0"/>
              <a:t>Each data type in the corresponding columns must be compatible</a:t>
            </a:r>
            <a:endParaRPr lang="en-CA" dirty="0"/>
          </a:p>
        </p:txBody>
      </p:sp>
      <p:sp>
        <p:nvSpPr>
          <p:cNvPr id="4" name="Rectangle 3"/>
          <p:cNvSpPr/>
          <p:nvPr/>
        </p:nvSpPr>
        <p:spPr>
          <a:xfrm>
            <a:off x="1143000" y="3657600"/>
            <a:ext cx="7772400" cy="23083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SELECT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r>
              <a:rPr lang="en-US" sz="2400" b="1" dirty="0">
                <a:solidFill>
                  <a:srgbClr val="FF66FF"/>
                </a:solidFill>
                <a:latin typeface="Courier New" pitchFamily="49" charset="0"/>
                <a:cs typeface="Courier New" pitchFamily="49" charset="0"/>
              </a:rPr>
              <a:t>CONVERT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(Char(8), 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Employees.EmployeeID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) </a:t>
            </a:r>
          </a:p>
          <a:p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FROM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Employees </a:t>
            </a:r>
          </a:p>
          <a:p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UNION </a:t>
            </a:r>
          </a:p>
          <a:p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SELECT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Customers.CustomerID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FROM Customers</a:t>
            </a:r>
            <a:endParaRPr lang="en-CA" sz="24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Left Arrow 4"/>
          <p:cNvSpPr/>
          <p:nvPr/>
        </p:nvSpPr>
        <p:spPr>
          <a:xfrm rot="1547415">
            <a:off x="5447049" y="5790535"/>
            <a:ext cx="2255643" cy="68580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String</a:t>
            </a:r>
            <a:endParaRPr lang="en-CA" b="1" dirty="0"/>
          </a:p>
        </p:txBody>
      </p:sp>
    </p:spTree>
    <p:extLst>
      <p:ext uri="{BB962C8B-B14F-4D97-AF65-F5344CB8AC3E}">
        <p14:creationId xmlns:p14="http://schemas.microsoft.com/office/powerpoint/2010/main" val="4139065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685800"/>
            <a:ext cx="7562088" cy="5562600"/>
          </a:xfrm>
        </p:spPr>
        <p:txBody>
          <a:bodyPr/>
          <a:lstStyle/>
          <a:p>
            <a:r>
              <a:rPr lang="en-US" dirty="0"/>
              <a:t>The column titles are taken from the first query listed</a:t>
            </a:r>
            <a:br>
              <a:rPr lang="en-US" dirty="0"/>
            </a:br>
            <a:endParaRPr lang="en-US" dirty="0"/>
          </a:p>
          <a:p>
            <a:r>
              <a:rPr lang="en-US" dirty="0">
                <a:solidFill>
                  <a:srgbClr val="0070C0"/>
                </a:solidFill>
              </a:rPr>
              <a:t>ORDER BY </a:t>
            </a:r>
            <a:r>
              <a:rPr lang="en-US" dirty="0"/>
              <a:t>clauses should be defined at the end of the last </a:t>
            </a:r>
            <a:r>
              <a:rPr lang="en-US" dirty="0">
                <a:solidFill>
                  <a:srgbClr val="0070C0"/>
                </a:solidFill>
              </a:rPr>
              <a:t>SELECT</a:t>
            </a:r>
            <a:r>
              <a:rPr lang="en-US" dirty="0"/>
              <a:t> statement</a:t>
            </a:r>
            <a:br>
              <a:rPr lang="en-US" dirty="0"/>
            </a:br>
            <a:endParaRPr lang="en-US" dirty="0"/>
          </a:p>
          <a:p>
            <a:r>
              <a:rPr lang="en-US" dirty="0"/>
              <a:t>Each </a:t>
            </a:r>
            <a:r>
              <a:rPr lang="en-US" dirty="0">
                <a:solidFill>
                  <a:srgbClr val="0070C0"/>
                </a:solidFill>
              </a:rPr>
              <a:t>SELECT</a:t>
            </a:r>
            <a:r>
              <a:rPr lang="en-US" dirty="0"/>
              <a:t> statement should include its own </a:t>
            </a:r>
            <a:r>
              <a:rPr lang="en-US" dirty="0">
                <a:solidFill>
                  <a:srgbClr val="0070C0"/>
                </a:solidFill>
              </a:rPr>
              <a:t>WHERE</a:t>
            </a:r>
            <a:r>
              <a:rPr lang="en-US" dirty="0"/>
              <a:t> clause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2299960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295400" y="685800"/>
            <a:ext cx="7620000" cy="53245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CA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use</a:t>
            </a:r>
            <a:r>
              <a:rPr lang="en-CA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2000" b="1" dirty="0" err="1">
                <a:latin typeface="Courier New" pitchFamily="49" charset="0"/>
                <a:cs typeface="Courier New" pitchFamily="49" charset="0"/>
              </a:rPr>
              <a:t>Northwind</a:t>
            </a:r>
            <a:br>
              <a:rPr lang="en-CA" sz="2000" b="1" dirty="0">
                <a:latin typeface="Courier New" pitchFamily="49" charset="0"/>
                <a:cs typeface="Courier New" pitchFamily="49" charset="0"/>
              </a:rPr>
            </a:br>
            <a:endParaRPr lang="en-CA" sz="2000" b="1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SELECT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br>
              <a:rPr lang="en-US" sz="2000" b="1" dirty="0">
                <a:latin typeface="Courier New" pitchFamily="49" charset="0"/>
                <a:cs typeface="Courier New" pitchFamily="49" charset="0"/>
              </a:rPr>
            </a:b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FirstName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+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' '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+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LastName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	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'Contact Name'</a:t>
            </a:r>
            <a:r>
              <a:rPr lang="en-CA" sz="2000" b="1" dirty="0">
                <a:latin typeface="Courier New" pitchFamily="49" charset="0"/>
                <a:cs typeface="Courier New" pitchFamily="49" charset="0"/>
              </a:rPr>
              <a:t>, </a:t>
            </a:r>
          </a:p>
          <a:p>
            <a:r>
              <a:rPr lang="en-CA" sz="20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	[</a:t>
            </a:r>
            <a:r>
              <a:rPr lang="en-CA" sz="20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Northwind</a:t>
            </a:r>
            <a:r>
              <a:rPr lang="en-CA" sz="20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Traders]</a:t>
            </a:r>
            <a:r>
              <a:rPr lang="en-CA" sz="2000" b="1" dirty="0">
                <a:latin typeface="Courier New" pitchFamily="49" charset="0"/>
                <a:cs typeface="Courier New" pitchFamily="49" charset="0"/>
              </a:rPr>
              <a:t> 	</a:t>
            </a:r>
            <a:r>
              <a:rPr lang="en-CA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  <a:r>
              <a:rPr lang="en-CA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20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'Company'</a:t>
            </a:r>
            <a:r>
              <a:rPr lang="en-CA" sz="2000" b="1" dirty="0">
                <a:latin typeface="Courier New" pitchFamily="49" charset="0"/>
                <a:cs typeface="Courier New" pitchFamily="49" charset="0"/>
              </a:rPr>
              <a:t>,</a:t>
            </a:r>
          </a:p>
          <a:p>
            <a:r>
              <a:rPr lang="en-CA" sz="20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CA" sz="2000" b="1" dirty="0" err="1">
                <a:latin typeface="Courier New" pitchFamily="49" charset="0"/>
                <a:cs typeface="Courier New" pitchFamily="49" charset="0"/>
              </a:rPr>
              <a:t>Employees.HomePhone</a:t>
            </a:r>
            <a:r>
              <a:rPr lang="en-CA" sz="2000" b="1" dirty="0">
                <a:latin typeface="Courier New" pitchFamily="49" charset="0"/>
                <a:cs typeface="Courier New" pitchFamily="49" charset="0"/>
              </a:rPr>
              <a:t> 	</a:t>
            </a:r>
            <a:r>
              <a:rPr lang="en-CA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  <a:r>
              <a:rPr lang="en-CA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20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'Phone'</a:t>
            </a:r>
            <a:r>
              <a:rPr lang="en-CA" sz="2000" b="1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r>
              <a:rPr lang="en-CA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FROM</a:t>
            </a:r>
            <a:r>
              <a:rPr lang="en-CA" sz="2000" b="1" dirty="0">
                <a:latin typeface="Courier New" pitchFamily="49" charset="0"/>
                <a:cs typeface="Courier New" pitchFamily="49" charset="0"/>
              </a:rPr>
              <a:t> </a:t>
            </a:r>
            <a:br>
              <a:rPr lang="en-CA" sz="2000" b="1" dirty="0">
                <a:latin typeface="Courier New" pitchFamily="49" charset="0"/>
                <a:cs typeface="Courier New" pitchFamily="49" charset="0"/>
              </a:rPr>
            </a:br>
            <a:r>
              <a:rPr lang="en-CA" sz="2000" b="1" dirty="0">
                <a:latin typeface="Courier New" pitchFamily="49" charset="0"/>
                <a:cs typeface="Courier New" pitchFamily="49" charset="0"/>
              </a:rPr>
              <a:t>	Employees </a:t>
            </a:r>
          </a:p>
          <a:p>
            <a:r>
              <a:rPr lang="en-CA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UNION</a:t>
            </a:r>
          </a:p>
          <a:p>
            <a:r>
              <a:rPr lang="en-CA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SELECT</a:t>
            </a:r>
            <a:r>
              <a:rPr lang="en-CA" sz="2000" b="1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r>
              <a:rPr lang="en-CA" sz="20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CA" sz="2000" b="1" dirty="0" err="1">
                <a:latin typeface="Courier New" pitchFamily="49" charset="0"/>
                <a:cs typeface="Courier New" pitchFamily="49" charset="0"/>
              </a:rPr>
              <a:t>ContactName</a:t>
            </a:r>
            <a:r>
              <a:rPr lang="en-CA" sz="2000" b="1" dirty="0">
                <a:latin typeface="Courier New" pitchFamily="49" charset="0"/>
                <a:cs typeface="Courier New" pitchFamily="49" charset="0"/>
              </a:rPr>
              <a:t>,</a:t>
            </a:r>
            <a:br>
              <a:rPr lang="en-CA" sz="2000" b="1" dirty="0">
                <a:latin typeface="Courier New" pitchFamily="49" charset="0"/>
                <a:cs typeface="Courier New" pitchFamily="49" charset="0"/>
              </a:rPr>
            </a:br>
            <a:r>
              <a:rPr lang="en-CA" sz="20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CA" sz="2000" b="1" dirty="0" err="1">
                <a:latin typeface="Courier New" pitchFamily="49" charset="0"/>
                <a:cs typeface="Courier New" pitchFamily="49" charset="0"/>
              </a:rPr>
              <a:t>CompanyName</a:t>
            </a:r>
            <a:r>
              <a:rPr lang="en-CA" sz="2000" b="1" dirty="0">
                <a:latin typeface="Courier New" pitchFamily="49" charset="0"/>
                <a:cs typeface="Courier New" pitchFamily="49" charset="0"/>
              </a:rPr>
              <a:t>,</a:t>
            </a:r>
            <a:br>
              <a:rPr lang="en-CA" sz="2000" b="1" dirty="0">
                <a:latin typeface="Courier New" pitchFamily="49" charset="0"/>
                <a:cs typeface="Courier New" pitchFamily="49" charset="0"/>
              </a:rPr>
            </a:br>
            <a:r>
              <a:rPr lang="en-CA" sz="2000" b="1" dirty="0">
                <a:latin typeface="Courier New" pitchFamily="49" charset="0"/>
                <a:cs typeface="Courier New" pitchFamily="49" charset="0"/>
              </a:rPr>
              <a:t>	Phone </a:t>
            </a:r>
          </a:p>
          <a:p>
            <a:r>
              <a:rPr lang="en-CA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FROM</a:t>
            </a:r>
            <a:r>
              <a:rPr lang="en-CA" sz="2000" b="1" dirty="0">
                <a:latin typeface="Courier New" pitchFamily="49" charset="0"/>
                <a:cs typeface="Courier New" pitchFamily="49" charset="0"/>
              </a:rPr>
              <a:t> </a:t>
            </a:r>
            <a:br>
              <a:rPr lang="en-CA" sz="2000" b="1" dirty="0">
                <a:latin typeface="Courier New" pitchFamily="49" charset="0"/>
                <a:cs typeface="Courier New" pitchFamily="49" charset="0"/>
              </a:rPr>
            </a:br>
            <a:r>
              <a:rPr lang="en-CA" sz="2000" b="1" dirty="0">
                <a:latin typeface="Courier New" pitchFamily="49" charset="0"/>
                <a:cs typeface="Courier New" pitchFamily="49" charset="0"/>
              </a:rPr>
              <a:t>	Customers </a:t>
            </a:r>
          </a:p>
          <a:p>
            <a:r>
              <a:rPr lang="en-CA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ORDER</a:t>
            </a:r>
            <a:r>
              <a:rPr lang="en-CA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BY</a:t>
            </a:r>
            <a:r>
              <a:rPr lang="en-CA" sz="2000" b="1" dirty="0">
                <a:latin typeface="Courier New" pitchFamily="49" charset="0"/>
                <a:cs typeface="Courier New" pitchFamily="49" charset="0"/>
              </a:rPr>
              <a:t> </a:t>
            </a:r>
            <a:br>
              <a:rPr lang="en-CA" sz="2000" b="1" dirty="0">
                <a:latin typeface="Courier New" pitchFamily="49" charset="0"/>
                <a:cs typeface="Courier New" pitchFamily="49" charset="0"/>
              </a:rPr>
            </a:br>
            <a:r>
              <a:rPr lang="en-CA" sz="2000" b="1" dirty="0">
                <a:latin typeface="Courier New" pitchFamily="49" charset="0"/>
                <a:cs typeface="Courier New" pitchFamily="49" charset="0"/>
              </a:rPr>
              <a:t>	[Contact Name];</a:t>
            </a:r>
          </a:p>
        </p:txBody>
      </p:sp>
    </p:spTree>
    <p:extLst>
      <p:ext uri="{BB962C8B-B14F-4D97-AF65-F5344CB8AC3E}">
        <p14:creationId xmlns:p14="http://schemas.microsoft.com/office/powerpoint/2010/main" val="42236796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 EXCEPT and INTERSECT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>
                <a:solidFill>
                  <a:srgbClr val="0070C0"/>
                </a:solidFill>
              </a:rPr>
              <a:t>EXCEPT</a:t>
            </a:r>
            <a:r>
              <a:rPr lang="en-US" dirty="0"/>
              <a:t> operator returns all rows that exist in the table to the left of the operator that do not have matching rows in the table to the right</a:t>
            </a:r>
            <a:endParaRPr lang="en-CA" dirty="0"/>
          </a:p>
        </p:txBody>
      </p:sp>
      <p:sp>
        <p:nvSpPr>
          <p:cNvPr id="4" name="Rectangle 3"/>
          <p:cNvSpPr/>
          <p:nvPr/>
        </p:nvSpPr>
        <p:spPr>
          <a:xfrm>
            <a:off x="1905000" y="3703137"/>
            <a:ext cx="5638800" cy="193899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SELECT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EmployeeKey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FROM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DimEmployee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EXCEPT </a:t>
            </a:r>
          </a:p>
          <a:p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SELECT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EmployeeKey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FROM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FactResellerSales</a:t>
            </a:r>
            <a:endParaRPr lang="en-CA" sz="24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689600" y="4114800"/>
            <a:ext cx="3124200" cy="914400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Employees who have never placed a reseller sales order 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7382151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7656" y="457200"/>
            <a:ext cx="7933944" cy="29718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same number of columns with compatible data types must be defined in both queries</a:t>
            </a:r>
            <a:br>
              <a:rPr lang="en-US" dirty="0"/>
            </a:br>
            <a:endParaRPr lang="en-US" dirty="0"/>
          </a:p>
          <a:p>
            <a:r>
              <a:rPr lang="en-US" dirty="0"/>
              <a:t>You may need to join the tables to achieve this</a:t>
            </a:r>
            <a:endParaRPr lang="en-CA" dirty="0"/>
          </a:p>
        </p:txBody>
      </p:sp>
      <p:sp>
        <p:nvSpPr>
          <p:cNvPr id="4" name="Rectangle 3"/>
          <p:cNvSpPr/>
          <p:nvPr/>
        </p:nvSpPr>
        <p:spPr>
          <a:xfrm>
            <a:off x="1219200" y="3566279"/>
            <a:ext cx="7772400" cy="31393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JOB_PORTAL_DB</a:t>
            </a:r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8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GO</a:t>
            </a:r>
            <a:endParaRPr lang="en-US" sz="18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8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SL</a:t>
            </a:r>
            <a:r>
              <a:rPr lang="en-US" sz="1800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8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Login</a:t>
            </a:r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SL</a:t>
            </a:r>
            <a:r>
              <a:rPr lang="en-US" sz="1800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Full_Name</a:t>
            </a:r>
            <a:endParaRPr lang="en-US" sz="18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dbo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Security_Logins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</a:t>
            </a:r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SL</a:t>
            </a:r>
          </a:p>
          <a:p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EXCEPT</a:t>
            </a:r>
            <a:endParaRPr lang="en-US" sz="18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SL</a:t>
            </a:r>
            <a:r>
              <a:rPr lang="en-US" sz="1800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8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Login</a:t>
            </a:r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SL</a:t>
            </a:r>
            <a:r>
              <a:rPr lang="en-US" sz="1800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Full_Name</a:t>
            </a:r>
            <a:endParaRPr lang="en-US" sz="18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dbo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Security_Logins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</a:t>
            </a:r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SL</a:t>
            </a:r>
          </a:p>
          <a:p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INNER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JOIN</a:t>
            </a:r>
            <a:endParaRPr lang="en-US" sz="18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dbo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Security_Logins_Log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</a:t>
            </a:r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SLL</a:t>
            </a:r>
          </a:p>
          <a:p>
            <a:r>
              <a:rPr lang="fi-FI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i-FI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ON</a:t>
            </a:r>
            <a:r>
              <a:rPr lang="fi-FI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SLL</a:t>
            </a:r>
            <a:r>
              <a:rPr lang="fi-FI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fi-FI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Login</a:t>
            </a:r>
            <a:r>
              <a:rPr lang="fi-FI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i-FI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fi-FI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SL</a:t>
            </a:r>
            <a:r>
              <a:rPr lang="fi-FI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fi-FI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</a:t>
            </a:r>
            <a:r>
              <a:rPr lang="fi-FI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CA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410200" y="3733800"/>
            <a:ext cx="3429000" cy="762000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Find users who have never logon to the system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1035369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52400"/>
            <a:ext cx="7866888" cy="16764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INTERSECT</a:t>
            </a:r>
            <a:r>
              <a:rPr lang="en-US" dirty="0"/>
              <a:t> returns matching rows from both queries only. </a:t>
            </a:r>
            <a:endParaRPr lang="en-CA" dirty="0"/>
          </a:p>
        </p:txBody>
      </p:sp>
      <p:sp>
        <p:nvSpPr>
          <p:cNvPr id="4" name="Rectangle 3"/>
          <p:cNvSpPr/>
          <p:nvPr/>
        </p:nvSpPr>
        <p:spPr>
          <a:xfrm>
            <a:off x="1097872" y="2362200"/>
            <a:ext cx="7866888" cy="39703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JOB_PORTAL_DB</a:t>
            </a:r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8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GO</a:t>
            </a:r>
            <a:endParaRPr lang="en-US" sz="18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8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SL</a:t>
            </a:r>
            <a:r>
              <a:rPr lang="en-US" sz="1800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8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Login</a:t>
            </a:r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SL</a:t>
            </a:r>
            <a:r>
              <a:rPr lang="en-US" sz="1800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Full_Name</a:t>
            </a:r>
            <a:endParaRPr lang="en-US" sz="18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dbo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Security_Logins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</a:t>
            </a:r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SL</a:t>
            </a:r>
          </a:p>
          <a:p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INTERSECT</a:t>
            </a:r>
            <a:endParaRPr lang="en-US" sz="18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SELECT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SL</a:t>
            </a:r>
            <a:r>
              <a:rPr lang="en-US" sz="1800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8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Login</a:t>
            </a:r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SL</a:t>
            </a:r>
            <a:r>
              <a:rPr lang="en-US" sz="1800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Full_Name</a:t>
            </a:r>
            <a:endParaRPr lang="en-US" sz="18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FROM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dbo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Security_Logins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</a:t>
            </a:r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SL</a:t>
            </a:r>
          </a:p>
          <a:p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INNER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JOIN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dbo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Applicant_Profiles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</a:t>
            </a:r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AP </a:t>
            </a:r>
            <a:b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ON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</a:t>
            </a:r>
            <a:r>
              <a:rPr lang="en-US" sz="1800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8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Login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SL</a:t>
            </a:r>
            <a:r>
              <a:rPr lang="en-US" sz="1800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</a:t>
            </a:r>
            <a:endParaRPr lang="en-US" sz="18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INNER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JOIN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dbo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Applicant_Job_Applications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</a:t>
            </a:r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AJA </a:t>
            </a:r>
            <a:b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ON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AJA</a:t>
            </a:r>
            <a:r>
              <a:rPr lang="en-US" sz="1800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Applicant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</a:t>
            </a:r>
            <a:r>
              <a:rPr lang="en-US" sz="1800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</a:t>
            </a:r>
            <a:endParaRPr lang="en-US" sz="18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WHERE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AJA</a:t>
            </a:r>
            <a:r>
              <a:rPr lang="en-US" sz="1800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Application_Date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b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BETWEEN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'2017-01-01'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AND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'2017-12-31'</a:t>
            </a:r>
            <a:endParaRPr lang="en-CA" sz="2400" b="1" dirty="0">
              <a:latin typeface="Courier New" panose="02070309020205020404" pitchFamily="49" charset="0"/>
              <a:cs typeface="Courier New" pitchFamily="49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105400" y="1447800"/>
            <a:ext cx="3657600" cy="762000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Find users who applied for a job in year of 2017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26478542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6504</TotalTime>
  <Words>1497</Words>
  <Application>Microsoft Office PowerPoint</Application>
  <PresentationFormat>On-screen Show (4:3)</PresentationFormat>
  <Paragraphs>176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Courier New</vt:lpstr>
      <vt:lpstr>Gill Sans MT</vt:lpstr>
      <vt:lpstr>Verdana</vt:lpstr>
      <vt:lpstr>Wingdings 2</vt:lpstr>
      <vt:lpstr>Solstice</vt:lpstr>
      <vt:lpstr>Lesson 6</vt:lpstr>
      <vt:lpstr>Joining Related Tables </vt:lpstr>
      <vt:lpstr>INNER JOIN</vt:lpstr>
      <vt:lpstr>PowerPoint Presentation</vt:lpstr>
      <vt:lpstr>PowerPoint Presentation</vt:lpstr>
      <vt:lpstr>PowerPoint Presentation</vt:lpstr>
      <vt:lpstr>PowerPoint Presentation</vt:lpstr>
      <vt:lpstr>LEFT and RIGHT OUTER JOIN</vt:lpstr>
      <vt:lpstr>PowerPoint Presentation</vt:lpstr>
      <vt:lpstr>PowerPoint Presentation</vt:lpstr>
      <vt:lpstr>PowerPoint Presentation</vt:lpstr>
      <vt:lpstr>FULL OUTER JOIN</vt:lpstr>
      <vt:lpstr>PowerPoint Presentation</vt:lpstr>
      <vt:lpstr>Cross JOIN</vt:lpstr>
      <vt:lpstr>PowerPoint Presentation</vt:lpstr>
      <vt:lpstr>PowerPoint Presentation</vt:lpstr>
      <vt:lpstr>Joining a table with itself</vt:lpstr>
      <vt:lpstr>PowerPoint Presentation</vt:lpstr>
      <vt:lpstr>PowerPoint Presentation</vt:lpstr>
      <vt:lpstr>PowerPoint Presentation</vt:lpstr>
      <vt:lpstr>PowerPoint Presentation</vt:lpstr>
      <vt:lpstr>Combining Datasets</vt:lpstr>
      <vt:lpstr>UNION Operator</vt:lpstr>
      <vt:lpstr>PowerPoint Presentation</vt:lpstr>
      <vt:lpstr>PowerPoint Presentation</vt:lpstr>
      <vt:lpstr>PowerPoint Presentation</vt:lpstr>
      <vt:lpstr> EXCEPT and INTERSECT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Habib</dc:creator>
  <cp:lastModifiedBy>Andrei T</cp:lastModifiedBy>
  <cp:revision>259</cp:revision>
  <dcterms:created xsi:type="dcterms:W3CDTF">2006-08-16T00:00:00Z</dcterms:created>
  <dcterms:modified xsi:type="dcterms:W3CDTF">2024-10-24T01:50:17Z</dcterms:modified>
</cp:coreProperties>
</file>