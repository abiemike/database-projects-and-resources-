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256" r:id="rId2"/>
    <p:sldId id="271" r:id="rId3"/>
    <p:sldId id="272" r:id="rId4"/>
    <p:sldId id="300" r:id="rId5"/>
    <p:sldId id="298" r:id="rId6"/>
    <p:sldId id="301" r:id="rId7"/>
    <p:sldId id="299" r:id="rId8"/>
    <p:sldId id="273" r:id="rId9"/>
    <p:sldId id="302" r:id="rId10"/>
    <p:sldId id="274" r:id="rId11"/>
    <p:sldId id="303" r:id="rId12"/>
    <p:sldId id="275" r:id="rId13"/>
    <p:sldId id="304" r:id="rId14"/>
    <p:sldId id="276" r:id="rId15"/>
    <p:sldId id="305" r:id="rId16"/>
    <p:sldId id="311" r:id="rId17"/>
    <p:sldId id="306" r:id="rId18"/>
    <p:sldId id="307" r:id="rId19"/>
    <p:sldId id="308" r:id="rId20"/>
    <p:sldId id="309" r:id="rId21"/>
    <p:sldId id="310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94660"/>
  </p:normalViewPr>
  <p:slideViewPr>
    <p:cSldViewPr>
      <p:cViewPr varScale="1">
        <p:scale>
          <a:sx n="76" d="100"/>
          <a:sy n="76" d="100"/>
        </p:scale>
        <p:origin x="112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D93A9-A7D1-4A71-BFE7-2C120E8539B5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07D76-5B11-400F-9479-985959684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68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07D76-5B11-400F-9479-9859596841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7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10/31/2024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Lesson 6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600" dirty="0"/>
              <a:t>Joins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Joining Related Tables</a:t>
            </a:r>
            <a:br>
              <a:rPr lang="en-US" sz="4400" b="1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714488" cy="5181600"/>
          </a:xfrm>
        </p:spPr>
        <p:txBody>
          <a:bodyPr>
            <a:normAutofit/>
          </a:bodyPr>
          <a:lstStyle/>
          <a:p>
            <a:r>
              <a:rPr lang="en-CA" dirty="0"/>
              <a:t>With normalized databases, information required for a single result set may be located in more than one table</a:t>
            </a:r>
            <a:br>
              <a:rPr lang="en-CA" dirty="0"/>
            </a:br>
            <a:endParaRPr lang="en-CA" dirty="0"/>
          </a:p>
          <a:p>
            <a:r>
              <a:rPr lang="en-US" dirty="0"/>
              <a:t>When defining a JOIN, you must:</a:t>
            </a:r>
          </a:p>
          <a:p>
            <a:pPr lvl="1"/>
            <a:r>
              <a:rPr lang="en-US" dirty="0"/>
              <a:t>Define the tables to be joined</a:t>
            </a:r>
          </a:p>
          <a:p>
            <a:pPr lvl="1"/>
            <a:r>
              <a:rPr lang="en-US" dirty="0"/>
              <a:t>Define the join  type</a:t>
            </a:r>
          </a:p>
          <a:p>
            <a:pPr lvl="1"/>
            <a:r>
              <a:rPr lang="en-US" dirty="0"/>
              <a:t>Define a join condition, which is made up of the columns on which the tables are joined and the logical operator</a:t>
            </a: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8001000" cy="44958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INNER JOIN</a:t>
            </a:r>
            <a:r>
              <a:rPr lang="en-US" dirty="0"/>
              <a:t>s allow you to match related records from different tables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Return only the rows from tables that match the join condition 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INNER</a:t>
            </a:r>
            <a:r>
              <a:rPr lang="en-US" dirty="0"/>
              <a:t> keyword is optional</a:t>
            </a:r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018" y="11545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INNER JOIN</a:t>
            </a:r>
            <a:endParaRPr lang="en-CA" sz="4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09800" y="609600"/>
            <a:ext cx="5255203" cy="3200400"/>
          </a:xfrm>
        </p:spPr>
      </p:pic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4648200"/>
            <a:ext cx="5145690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09800" y="152400"/>
            <a:ext cx="525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  <a:endParaRPr lang="en-CA" dirty="0"/>
          </a:p>
        </p:txBody>
      </p:sp>
      <p:sp>
        <p:nvSpPr>
          <p:cNvPr id="10" name="Rectangle 9"/>
          <p:cNvSpPr/>
          <p:nvPr/>
        </p:nvSpPr>
        <p:spPr>
          <a:xfrm>
            <a:off x="2133600" y="4038600"/>
            <a:ext cx="502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</a:t>
            </a:r>
            <a:endParaRPr lang="en-CA" dirty="0"/>
          </a:p>
        </p:txBody>
      </p:sp>
      <p:sp>
        <p:nvSpPr>
          <p:cNvPr id="7" name="Oval 6"/>
          <p:cNvSpPr/>
          <p:nvPr/>
        </p:nvSpPr>
        <p:spPr>
          <a:xfrm>
            <a:off x="6248400" y="533400"/>
            <a:ext cx="990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/>
          <p:cNvSpPr/>
          <p:nvPr/>
        </p:nvSpPr>
        <p:spPr>
          <a:xfrm>
            <a:off x="2895600" y="4572000"/>
            <a:ext cx="1371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3581400" y="990600"/>
            <a:ext cx="3048000" cy="358140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609600"/>
            <a:ext cx="7467600" cy="106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To generate a class list showing each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student’s name and their teacher</a:t>
            </a: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95400" y="2274838"/>
            <a:ext cx="7467600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student.first_name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student.last_name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teacher.first_name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teacher.last_name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</a:p>
          <a:p>
            <a:pPr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</a:t>
            </a:r>
          </a:p>
          <a:p>
            <a:pPr>
              <a:buNone/>
            </a:pP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student.teacher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teacher.teacher_id</a:t>
            </a:r>
            <a:endParaRPr lang="en-CA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66403" y="838200"/>
            <a:ext cx="6487887" cy="3505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752599" y="5331008"/>
            <a:ext cx="656474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/>
              <a:t>Student  5 and Teacher 3 are missing!!!</a:t>
            </a:r>
            <a:endParaRPr lang="en-CA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5673" y="76200"/>
            <a:ext cx="6400800" cy="40386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Same example using alias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Content Placeholder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4191000"/>
            <a:ext cx="6324600" cy="2514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7866888" cy="487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OUTER JOIN</a:t>
            </a:r>
            <a:r>
              <a:rPr lang="en-US" dirty="0"/>
              <a:t> also include records from one or both tables that do not have corresponding record(s) in the other table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Returns all rows from one table (Left or Right) and only information from rows that are in common from other table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OUTER</a:t>
            </a:r>
            <a:r>
              <a:rPr lang="en-US" dirty="0"/>
              <a:t> keyword is optional</a:t>
            </a:r>
          </a:p>
          <a:p>
            <a:pPr>
              <a:buNone/>
            </a:pP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36945"/>
            <a:ext cx="7866888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LEFT and RIGHT OUTER JOIN</a:t>
            </a:r>
            <a:endParaRPr lang="en-CA" sz="3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228600"/>
            <a:ext cx="5949196" cy="35052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LEFT OUTER JOIN </a:t>
            </a: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teacher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b="1" dirty="0">
                <a:latin typeface="Courier New" pitchFamily="49" charset="0"/>
                <a:cs typeface="Courier New" pitchFamily="49" charset="0"/>
              </a:rPr>
            </a:br>
            <a:r>
              <a:rPr lang="en-CA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400" y="3886200"/>
            <a:ext cx="5949197" cy="2971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43607"/>
            <a:ext cx="7696200" cy="571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Right outer join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This example and previous one are the same</a:t>
            </a:r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371600" y="1077007"/>
            <a:ext cx="6429664" cy="4154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Right OUTER JOIN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</a:t>
            </a:r>
          </a:p>
          <a:p>
            <a:pPr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4724400" y="3182714"/>
            <a:ext cx="1905000" cy="1219200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Tables swapped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82255" y="152400"/>
            <a:ext cx="5980545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RIGHT OUTER JOIN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Content Placeholder 6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8419" y="3962399"/>
            <a:ext cx="5922579" cy="28725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7714488" cy="54864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FULL OUTER JOIN </a:t>
            </a:r>
            <a:r>
              <a:rPr lang="en-US" dirty="0"/>
              <a:t>is a combination of the </a:t>
            </a:r>
            <a:r>
              <a:rPr lang="en-US" dirty="0">
                <a:solidFill>
                  <a:srgbClr val="0070C0"/>
                </a:solidFill>
              </a:rPr>
              <a:t>LEFT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JOIN</a:t>
            </a:r>
            <a:r>
              <a:rPr lang="en-US" dirty="0"/>
              <a:t> and the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JOIN</a:t>
            </a:r>
            <a:r>
              <a:rPr lang="en-US" dirty="0"/>
              <a:t/>
            </a:r>
            <a:br>
              <a:rPr lang="en-US" dirty="0"/>
            </a:br>
            <a:endParaRPr lang="en-CA" dirty="0"/>
          </a:p>
          <a:p>
            <a:r>
              <a:rPr lang="en-CA" dirty="0"/>
              <a:t>A </a:t>
            </a:r>
            <a:r>
              <a:rPr lang="en-CA" dirty="0">
                <a:solidFill>
                  <a:srgbClr val="0070C0"/>
                </a:solidFill>
              </a:rPr>
              <a:t>FULL OUTER JOIN</a:t>
            </a:r>
            <a:r>
              <a:rPr lang="en-CA" dirty="0"/>
              <a:t> displays every row from every table in the JOIN clause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This can be helpful in finding unmatched rows when relational integrity is not being enforced on the </a:t>
            </a:r>
            <a:r>
              <a:rPr lang="en-US" dirty="0"/>
              <a:t>tables.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/>
              <a:t>FULL OUTER JOIN</a:t>
            </a:r>
            <a:endParaRPr lang="en-US" sz="3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6200"/>
            <a:ext cx="7498080" cy="38100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'Student LN'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FN'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'Teacher LN'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FULL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OUTER JOIN </a:t>
            </a:r>
            <a:b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pPr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400" b="1" dirty="0">
                <a:latin typeface="Courier New" pitchFamily="49" charset="0"/>
                <a:cs typeface="Courier New" pitchFamily="49" charset="0"/>
              </a:rPr>
            </a:br>
            <a:r>
              <a:rPr lang="en-CA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s.teacher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t.teacher_id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4038599"/>
            <a:ext cx="4953000" cy="26915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524000"/>
            <a:ext cx="7638288" cy="4724400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Cross joins </a:t>
            </a:r>
            <a:r>
              <a:rPr lang="en-CA" dirty="0"/>
              <a:t>provide a </a:t>
            </a:r>
            <a:r>
              <a:rPr lang="en-CA" dirty="0">
                <a:solidFill>
                  <a:srgbClr val="0070C0"/>
                </a:solidFill>
              </a:rPr>
              <a:t>Cartesian</a:t>
            </a:r>
            <a:r>
              <a:rPr lang="en-CA" dirty="0"/>
              <a:t> product of the two tables. </a:t>
            </a:r>
            <a:br>
              <a:rPr lang="en-CA" dirty="0"/>
            </a:br>
            <a:r>
              <a:rPr lang="en-CA" dirty="0"/>
              <a:t>Every row from the first table is joined with every row from the second table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This </a:t>
            </a:r>
            <a:r>
              <a:rPr lang="en-CA" dirty="0">
                <a:solidFill>
                  <a:srgbClr val="0070C0"/>
                </a:solidFill>
              </a:rPr>
              <a:t>JOIN</a:t>
            </a:r>
            <a:r>
              <a:rPr lang="en-CA" dirty="0"/>
              <a:t> does not have a </a:t>
            </a:r>
            <a:r>
              <a:rPr lang="en-CA" dirty="0">
                <a:solidFill>
                  <a:srgbClr val="0070C0"/>
                </a:solidFill>
              </a:rPr>
              <a:t>ON</a:t>
            </a:r>
            <a:r>
              <a:rPr lang="en-CA" dirty="0"/>
              <a:t> clause</a:t>
            </a:r>
            <a:endParaRPr lang="en-CA" i="1" dirty="0"/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/>
              <a:t>Cross JOIN</a:t>
            </a:r>
            <a:endParaRPr lang="en-US" sz="3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52400"/>
            <a:ext cx="3429000" cy="41148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t.last_name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student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CROSS JOIN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teacher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</a:t>
            </a:r>
          </a:p>
          <a:p>
            <a:endParaRPr lang="en-CA" dirty="0"/>
          </a:p>
        </p:txBody>
      </p:sp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29200" y="76200"/>
            <a:ext cx="3911600" cy="6629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457200"/>
            <a:ext cx="7790688" cy="2667000"/>
          </a:xfrm>
        </p:spPr>
        <p:txBody>
          <a:bodyPr>
            <a:normAutofit/>
          </a:bodyPr>
          <a:lstStyle/>
          <a:p>
            <a:r>
              <a:rPr lang="en-CA" dirty="0"/>
              <a:t>To use the </a:t>
            </a:r>
            <a:r>
              <a:rPr lang="en-CA" dirty="0" err="1"/>
              <a:t>Nums</a:t>
            </a:r>
            <a:r>
              <a:rPr lang="en-CA" dirty="0"/>
              <a:t> table in TSQL2012 DB to generate a result with a row for each weekday (1 through 7) and shift number (1 through 3), assuming there are three shifts a 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3276600"/>
            <a:ext cx="6858000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theday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shiftno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dbo.Nums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D </a:t>
            </a:r>
          </a:p>
          <a:p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CROSS JOIN </a:t>
            </a:r>
          </a:p>
          <a:p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dbo.Nums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D.n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&lt;= 7 </a:t>
            </a:r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S.n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&lt;= 3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theday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shiftno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21838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8001000" cy="4953000"/>
          </a:xfrm>
        </p:spPr>
        <p:txBody>
          <a:bodyPr/>
          <a:lstStyle/>
          <a:p>
            <a:r>
              <a:rPr lang="en-US" dirty="0"/>
              <a:t>This situation is known as a </a:t>
            </a:r>
            <a:r>
              <a:rPr lang="en-US" dirty="0">
                <a:solidFill>
                  <a:srgbClr val="0070C0"/>
                </a:solidFill>
              </a:rPr>
              <a:t>SELF-JOIN</a:t>
            </a:r>
            <a:r>
              <a:rPr lang="en-US" dirty="0"/>
              <a:t>, and it occurs when you want to compare records in a table to each other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Typical example of a self-join is a “flattened” employees table that contains information on an organizational hierarchy</a:t>
            </a:r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091" y="762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Joining a table with itself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609600"/>
            <a:ext cx="6685498" cy="4800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4038600" y="5638800"/>
            <a:ext cx="1828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 reference</a:t>
            </a:r>
            <a:endParaRPr lang="en-CA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905000" y="5029200"/>
            <a:ext cx="2286000" cy="9906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867400" y="5029200"/>
            <a:ext cx="914400" cy="838200"/>
          </a:xfrm>
          <a:prstGeom prst="straightConnector1">
            <a:avLst/>
          </a:prstGeom>
          <a:ln w="508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1295400"/>
            <a:ext cx="7333027" cy="4800600"/>
          </a:xfrm>
          <a:effectLst/>
        </p:spPr>
      </p:pic>
      <p:sp>
        <p:nvSpPr>
          <p:cNvPr id="5" name="TextBox 4"/>
          <p:cNvSpPr txBox="1"/>
          <p:nvPr/>
        </p:nvSpPr>
        <p:spPr>
          <a:xfrm>
            <a:off x="2133600" y="38100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Representation of previous table</a:t>
            </a:r>
            <a:endParaRPr lang="en-CA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90600"/>
            <a:ext cx="7696200" cy="46482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FN’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LN’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e.title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‘Employee Title’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m.first_name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‘Manager FN’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m.last_name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‘Manager LN’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employees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LEFT OUTER JOIN </a:t>
            </a: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employees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m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e.manager_id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m.employee_id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Untitled-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304800"/>
            <a:ext cx="7624510" cy="365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1295400" y="4267200"/>
            <a:ext cx="7620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If we used an </a:t>
            </a:r>
            <a:r>
              <a:rPr lang="en-US" sz="2800" dirty="0">
                <a:solidFill>
                  <a:srgbClr val="0070C0"/>
                </a:solidFill>
              </a:rPr>
              <a:t>INNER JOIN </a:t>
            </a:r>
            <a:r>
              <a:rPr lang="en-US" sz="2800" dirty="0"/>
              <a:t>instead of a </a:t>
            </a:r>
            <a:r>
              <a:rPr lang="en-US" sz="2800" dirty="0">
                <a:solidFill>
                  <a:srgbClr val="0070C0"/>
                </a:solidFill>
              </a:rPr>
              <a:t>LEFT OUTER JOIN</a:t>
            </a:r>
            <a:r>
              <a:rPr lang="en-US" sz="2800" dirty="0"/>
              <a:t>, my employee list would have omitted the company’s president, who </a:t>
            </a:r>
          </a:p>
          <a:p>
            <a:r>
              <a:rPr lang="en-US" sz="2800" dirty="0"/>
              <a:t>has no manager</a:t>
            </a:r>
            <a:endParaRPr lang="en-CA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473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Combining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52578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operators can be specified between two or more queries to provide a single result set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EXCEPT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operators  compare the result sets of two queries to determine what subset of rows should be included in the final result set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9711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" y="152400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UNION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8001000" cy="46482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 operator allows you to combine the result sets created by multiple 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 statements into a single result set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ALL</a:t>
            </a:r>
            <a:r>
              <a:rPr lang="en-US" dirty="0"/>
              <a:t> keyword specifies that all rows, including duplicate rows, should be returned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By default, duplicate rows are </a:t>
            </a:r>
            <a:r>
              <a:rPr lang="en-US" b="1" dirty="0"/>
              <a:t>not</a:t>
            </a:r>
            <a:r>
              <a:rPr lang="en-US" dirty="0"/>
              <a:t> returned</a:t>
            </a:r>
          </a:p>
        </p:txBody>
      </p:sp>
    </p:spTree>
    <p:extLst>
      <p:ext uri="{BB962C8B-B14F-4D97-AF65-F5344CB8AC3E}">
        <p14:creationId xmlns:p14="http://schemas.microsoft.com/office/powerpoint/2010/main" val="2638842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0"/>
            <a:ext cx="7562088" cy="2895600"/>
          </a:xfrm>
        </p:spPr>
        <p:txBody>
          <a:bodyPr/>
          <a:lstStyle/>
          <a:p>
            <a:r>
              <a:rPr lang="en-US" dirty="0"/>
              <a:t>When specifying the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 operator, both queries must return the same number of columns</a:t>
            </a:r>
          </a:p>
          <a:p>
            <a:r>
              <a:rPr lang="en-US" dirty="0"/>
              <a:t>Each data type in the corresponding columns must be compatible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43000" y="3657600"/>
            <a:ext cx="77724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CONVERT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(Char(8),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Employees.EmployeeID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Employees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Customers.CustomerID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FROM Customers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 rot="1547415">
            <a:off x="5447049" y="5790535"/>
            <a:ext cx="2255643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String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13906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85800"/>
            <a:ext cx="7562088" cy="5562600"/>
          </a:xfrm>
        </p:spPr>
        <p:txBody>
          <a:bodyPr/>
          <a:lstStyle/>
          <a:p>
            <a:r>
              <a:rPr lang="en-US" dirty="0"/>
              <a:t>The column titles are taken from the first query listed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ORDER BY </a:t>
            </a:r>
            <a:r>
              <a:rPr lang="en-US" dirty="0"/>
              <a:t>clauses should be defined at the end of the last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 should include its own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9996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685800"/>
            <a:ext cx="7620000" cy="5324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Northwind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 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'Contact Name'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[</a:t>
            </a:r>
            <a:r>
              <a:rPr lang="en-CA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Northwind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Traders]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'Company'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Employees.HomePhone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'Phone'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Employees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ContactName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CompanyName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Phone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Customers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CA" sz="2000" b="1" dirty="0">
                <a:latin typeface="Courier New" pitchFamily="49" charset="0"/>
                <a:cs typeface="Courier New" pitchFamily="49" charset="0"/>
              </a:rPr>
            </a:br>
            <a:r>
              <a:rPr lang="en-CA" sz="2000" b="1" dirty="0">
                <a:latin typeface="Courier New" pitchFamily="49" charset="0"/>
                <a:cs typeface="Courier New" pitchFamily="49" charset="0"/>
              </a:rPr>
              <a:t>	[Contact Name];</a:t>
            </a:r>
          </a:p>
        </p:txBody>
      </p:sp>
    </p:spTree>
    <p:extLst>
      <p:ext uri="{BB962C8B-B14F-4D97-AF65-F5344CB8AC3E}">
        <p14:creationId xmlns:p14="http://schemas.microsoft.com/office/powerpoint/2010/main" val="4223679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 EXCEPT and INTERSECT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operator returns all rows that exist in the table to the left of the operator that do not have matching rows in the table to the right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905000" y="3703137"/>
            <a:ext cx="563880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EmployeeKey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DimEmployee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EXCEPT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EmployeeKey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FactResellerSales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89600" y="4114800"/>
            <a:ext cx="3124200" cy="914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Employees who have never placed a reseller sales order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8215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656" y="457200"/>
            <a:ext cx="7933944" cy="2971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same number of columns with compatible data types must be defined in both queries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may need to join the tables to achieve this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19200" y="3566279"/>
            <a:ext cx="7772400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Security_Logins_Log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</a:t>
            </a:r>
          </a:p>
          <a:p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i-FI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i-FI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fi-FI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10200" y="3733800"/>
            <a:ext cx="3429000" cy="762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users who have never logon to the system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3536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1676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INTERSECT</a:t>
            </a:r>
            <a:r>
              <a:rPr lang="en-US" dirty="0"/>
              <a:t> returns matching rows from both queries only. 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097872" y="2362200"/>
            <a:ext cx="7866888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Application_Date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'2017-01-01'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'2017-12-31'</a:t>
            </a:r>
            <a:endParaRPr lang="en-CA" sz="24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05400" y="1447800"/>
            <a:ext cx="3657600" cy="762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users who applied for a job in year of 2017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4785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7980</TotalTime>
  <Words>526</Words>
  <Application>Microsoft Office PowerPoint</Application>
  <PresentationFormat>On-screen Show (4:3)</PresentationFormat>
  <Paragraphs>177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Courier New</vt:lpstr>
      <vt:lpstr>Gill Sans MT</vt:lpstr>
      <vt:lpstr>Verdana</vt:lpstr>
      <vt:lpstr>Wingdings 2</vt:lpstr>
      <vt:lpstr>Solstice</vt:lpstr>
      <vt:lpstr>Lesson 6</vt:lpstr>
      <vt:lpstr>Joining Related Tables </vt:lpstr>
      <vt:lpstr>INNER JOIN</vt:lpstr>
      <vt:lpstr>PowerPoint Presentation</vt:lpstr>
      <vt:lpstr>PowerPoint Presentation</vt:lpstr>
      <vt:lpstr>PowerPoint Presentation</vt:lpstr>
      <vt:lpstr>PowerPoint Presentation</vt:lpstr>
      <vt:lpstr>LEFT and RIGHT OUTER JOIN</vt:lpstr>
      <vt:lpstr>PowerPoint Presentation</vt:lpstr>
      <vt:lpstr>PowerPoint Presentation</vt:lpstr>
      <vt:lpstr>PowerPoint Presentation</vt:lpstr>
      <vt:lpstr>FULL OUTER JOIN</vt:lpstr>
      <vt:lpstr>PowerPoint Presentation</vt:lpstr>
      <vt:lpstr>Cross JOIN</vt:lpstr>
      <vt:lpstr>PowerPoint Presentation</vt:lpstr>
      <vt:lpstr>PowerPoint Presentation</vt:lpstr>
      <vt:lpstr>Joining a table with itself</vt:lpstr>
      <vt:lpstr>PowerPoint Presentation</vt:lpstr>
      <vt:lpstr>PowerPoint Presentation</vt:lpstr>
      <vt:lpstr>PowerPoint Presentation</vt:lpstr>
      <vt:lpstr>PowerPoint Presentation</vt:lpstr>
      <vt:lpstr>Combining Datasets</vt:lpstr>
      <vt:lpstr>UNION Operator</vt:lpstr>
      <vt:lpstr>PowerPoint Presentation</vt:lpstr>
      <vt:lpstr>PowerPoint Presentation</vt:lpstr>
      <vt:lpstr>PowerPoint Presentation</vt:lpstr>
      <vt:lpstr> EXCEPT and INTERSECT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Microsoft account</cp:lastModifiedBy>
  <cp:revision>261</cp:revision>
  <dcterms:created xsi:type="dcterms:W3CDTF">2006-08-16T00:00:00Z</dcterms:created>
  <dcterms:modified xsi:type="dcterms:W3CDTF">2024-11-01T15:13:17Z</dcterms:modified>
</cp:coreProperties>
</file>