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6"/>
  </p:notesMasterIdLst>
  <p:sldIdLst>
    <p:sldId id="256" r:id="rId2"/>
    <p:sldId id="290" r:id="rId3"/>
    <p:sldId id="346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31" r:id="rId42"/>
    <p:sldId id="332" r:id="rId43"/>
    <p:sldId id="333" r:id="rId44"/>
    <p:sldId id="345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7" autoAdjust="0"/>
    <p:restoredTop sz="94660"/>
  </p:normalViewPr>
  <p:slideViewPr>
    <p:cSldViewPr>
      <p:cViewPr>
        <p:scale>
          <a:sx n="107" d="100"/>
          <a:sy n="107" d="100"/>
        </p:scale>
        <p:origin x="-84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3CE2E-8DFF-4D53-8621-D5B7565CA3E3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D2958-5444-48CB-ADF3-C5C2B687C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5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9D2958-5444-48CB-ADF3-C5C2B687C2D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48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Lesson </a:t>
            </a:r>
            <a:r>
              <a:rPr lang="en-US" dirty="0" smtClean="0"/>
              <a:t>10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b="1" dirty="0" smtClean="0"/>
              <a:t>Programming with T-SQL 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Stored Procedures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447800"/>
            <a:ext cx="7638288" cy="5181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Stored Procedures </a:t>
            </a:r>
            <a:r>
              <a:rPr lang="en-US" dirty="0" smtClean="0"/>
              <a:t>are T-SQL statements that perform one or more actions and are saved in the database with a </a:t>
            </a:r>
            <a:r>
              <a:rPr lang="en-US" dirty="0" smtClean="0"/>
              <a:t>name</a:t>
            </a:r>
            <a:endParaRPr lang="en-US" dirty="0" smtClean="0"/>
          </a:p>
          <a:p>
            <a:r>
              <a:rPr lang="en-US" dirty="0" smtClean="0"/>
              <a:t>They can accept parameters and return </a:t>
            </a:r>
            <a:r>
              <a:rPr lang="en-US" dirty="0" smtClean="0"/>
              <a:t>values</a:t>
            </a:r>
            <a:endParaRPr lang="en-US" dirty="0" smtClean="0"/>
          </a:p>
          <a:p>
            <a:r>
              <a:rPr lang="en-US" dirty="0" smtClean="0"/>
              <a:t>SPs are the only database object that can update data by executing DML </a:t>
            </a:r>
            <a:r>
              <a:rPr lang="en-US" dirty="0" smtClean="0"/>
              <a:t>statements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Stored Procedures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447800"/>
            <a:ext cx="7638288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Can be called using an execute </a:t>
            </a:r>
            <a:r>
              <a:rPr lang="en-US" dirty="0" smtClean="0"/>
              <a:t>command</a:t>
            </a:r>
            <a:endParaRPr lang="en-US" dirty="0" smtClean="0"/>
          </a:p>
          <a:p>
            <a:r>
              <a:rPr lang="en-US" dirty="0" smtClean="0"/>
              <a:t>Can return results from queries in client </a:t>
            </a:r>
            <a:r>
              <a:rPr lang="en-US" dirty="0" smtClean="0"/>
              <a:t>applications</a:t>
            </a:r>
            <a:endParaRPr lang="en-US" dirty="0" smtClean="0"/>
          </a:p>
          <a:p>
            <a:r>
              <a:rPr lang="en-US" dirty="0" smtClean="0"/>
              <a:t>Can modify data in </a:t>
            </a:r>
            <a:r>
              <a:rPr lang="en-US" dirty="0" smtClean="0"/>
              <a:t>tables</a:t>
            </a:r>
            <a:endParaRPr lang="en-US" dirty="0" smtClean="0"/>
          </a:p>
          <a:p>
            <a:r>
              <a:rPr lang="en-US" dirty="0" smtClean="0"/>
              <a:t>Can be used to create, alter or drop tables and </a:t>
            </a:r>
            <a:r>
              <a:rPr lang="en-US" dirty="0" smtClean="0"/>
              <a:t>indexes</a:t>
            </a:r>
            <a:endParaRPr lang="en-US" dirty="0" smtClean="0"/>
          </a:p>
          <a:p>
            <a:r>
              <a:rPr lang="en-US" dirty="0" smtClean="0"/>
              <a:t>Can provide a security layer to separate the user from the table, and protect the data from being </a:t>
            </a:r>
            <a:r>
              <a:rPr lang="en-US" dirty="0" smtClean="0"/>
              <a:t>changed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1286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457200"/>
            <a:ext cx="7638288" cy="6248400"/>
          </a:xfrm>
        </p:spPr>
        <p:txBody>
          <a:bodyPr/>
          <a:lstStyle/>
          <a:p>
            <a:r>
              <a:rPr lang="en-US" dirty="0" smtClean="0"/>
              <a:t>SQL Server generates compile and </a:t>
            </a:r>
            <a:r>
              <a:rPr lang="en-US" dirty="0" smtClean="0">
                <a:solidFill>
                  <a:srgbClr val="0070C0"/>
                </a:solidFill>
              </a:rPr>
              <a:t>execution plans </a:t>
            </a:r>
            <a:r>
              <a:rPr lang="en-US" dirty="0" smtClean="0"/>
              <a:t>that are stored in the </a:t>
            </a:r>
            <a:r>
              <a:rPr lang="en-US" dirty="0" smtClean="0">
                <a:solidFill>
                  <a:srgbClr val="0070C0"/>
                </a:solidFill>
              </a:rPr>
              <a:t>query cache </a:t>
            </a:r>
            <a:r>
              <a:rPr lang="en-US" dirty="0" smtClean="0"/>
              <a:t>and reused for subsequent executions when stored procedure is accessed for the first </a:t>
            </a:r>
            <a:r>
              <a:rPr lang="en-US" dirty="0" smtClean="0"/>
              <a:t>time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The main purpose of a stored procedure is to provide a security layer and an API to your databases that isolate applications from changes to the database structure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304800"/>
            <a:ext cx="8991600" cy="52629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{ </a:t>
            </a:r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PROC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| </a:t>
            </a:r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PROCEDURE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}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[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schema_name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.]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procedure_name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[; number ] 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[ {@parameter [ 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type_schema_name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.] 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data_type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} 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 [VARYING][= default][OUT |OUTPUT][READONLY]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] [ ,...n ] 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[ </a:t>
            </a:r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WITH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CA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procedure_option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&gt; [ ,...n ] ]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[ FOR REPLICATION ]  </a:t>
            </a:r>
          </a:p>
          <a:p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{ &lt;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sql_statement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&gt; [;][ ...n ] | 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  &lt;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method_specifier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&gt;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} [;]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  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CA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procedure_option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&gt; ::= 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 [ ENCRYPTION ] [ RECOMPILE ]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 [ EXECUTE AS Clause]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304800"/>
            <a:ext cx="7790688" cy="6477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ENCRYPTION</a:t>
            </a:r>
            <a:r>
              <a:rPr lang="en-US" dirty="0" smtClean="0"/>
              <a:t> :instructs SQL Server to apply a bitwise OR to the code in the object. (There is really no Encryption</a:t>
            </a:r>
            <a:r>
              <a:rPr lang="en-US" dirty="0" smtClean="0"/>
              <a:t>)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Anyone with </a:t>
            </a:r>
            <a:r>
              <a:rPr lang="en-US" dirty="0" smtClean="0">
                <a:solidFill>
                  <a:srgbClr val="0070C0"/>
                </a:solidFill>
              </a:rPr>
              <a:t>VIEW DEFINITION </a:t>
            </a:r>
            <a:r>
              <a:rPr lang="en-US" dirty="0" smtClean="0"/>
              <a:t>authority on the object can retrieve the </a:t>
            </a:r>
            <a:r>
              <a:rPr lang="en-US" dirty="0" smtClean="0"/>
              <a:t>code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>
                <a:solidFill>
                  <a:srgbClr val="0070C0"/>
                </a:solidFill>
              </a:rPr>
              <a:t>WITH RECOMPILE</a:t>
            </a:r>
            <a:r>
              <a:rPr lang="en-US" dirty="0" smtClean="0"/>
              <a:t> : instruct the database engine never to cache the execution </a:t>
            </a:r>
            <a:r>
              <a:rPr lang="en-US" dirty="0" smtClean="0"/>
              <a:t>plan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>
                <a:solidFill>
                  <a:srgbClr val="0070C0"/>
                </a:solidFill>
              </a:rPr>
              <a:t>EXECUTE AS</a:t>
            </a:r>
            <a:r>
              <a:rPr lang="en-US" dirty="0" smtClean="0"/>
              <a:t> :allows you to run the procedure as an alternative set of user credentials, different from those of the </a:t>
            </a:r>
            <a:r>
              <a:rPr lang="en-US" dirty="0" smtClean="0"/>
              <a:t>caller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609600"/>
            <a:ext cx="7562088" cy="5638800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>
                <a:solidFill>
                  <a:srgbClr val="0070C0"/>
                </a:solidFill>
              </a:rPr>
              <a:t>ALTER PROCEDURE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0070C0"/>
                </a:solidFill>
              </a:rPr>
              <a:t>ALTER PROC </a:t>
            </a:r>
            <a:r>
              <a:rPr lang="en-US" dirty="0" smtClean="0"/>
              <a:t>statement is used to change the definition or options of a stored  </a:t>
            </a:r>
            <a:r>
              <a:rPr lang="en-US" dirty="0" smtClean="0"/>
              <a:t>procedure</a:t>
            </a:r>
            <a:br>
              <a:rPr lang="en-US" dirty="0" smtClean="0"/>
            </a:br>
            <a:endParaRPr lang="en-US" dirty="0" smtClean="0"/>
          </a:p>
          <a:p>
            <a:r>
              <a:rPr lang="en-CA" dirty="0" smtClean="0">
                <a:solidFill>
                  <a:srgbClr val="0070C0"/>
                </a:solidFill>
              </a:rPr>
              <a:t>DROP PROCEDURE </a:t>
            </a:r>
            <a:r>
              <a:rPr lang="en-CA" dirty="0" smtClean="0"/>
              <a:t>statement is used to delete it</a:t>
            </a:r>
          </a:p>
          <a:p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" y="228600"/>
            <a:ext cx="8915400" cy="41549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AdventureWorks2012;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PROCEDURE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HumanResources.GetAllEmployees</a:t>
            </a: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SET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NOCOUNT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LoginID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VacationHours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JobTitle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HumanResources.EmployeeDepartmentHistory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h</a:t>
            </a:r>
          </a:p>
          <a:p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inner join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HumanResources.Employee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E</a:t>
            </a:r>
          </a:p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  ON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h.BusinessEntityID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E.BusinessEntityID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; 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GO;</a:t>
            </a:r>
            <a:endParaRPr lang="en-CA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" y="4853235"/>
            <a:ext cx="8915400" cy="20151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EXECUTE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HumanResources.GetAllEmployees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EXEC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HumanResources.GetAllEmployees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</a:p>
          <a:p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HumanResources.GetAllEmployees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066800"/>
            <a:ext cx="7790688" cy="4648200"/>
          </a:xfrm>
        </p:spPr>
        <p:txBody>
          <a:bodyPr/>
          <a:lstStyle/>
          <a:p>
            <a:r>
              <a:rPr lang="en-CA" dirty="0" smtClean="0"/>
              <a:t>Commenting Code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--This is a single line comment </a:t>
            </a:r>
          </a:p>
          <a:p>
            <a:pPr>
              <a:buNone/>
            </a:pP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/* 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This is a  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multi-line comment 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*/ </a:t>
            </a:r>
            <a:endParaRPr lang="en-CA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Variables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257800"/>
          </a:xfrm>
        </p:spPr>
        <p:txBody>
          <a:bodyPr/>
          <a:lstStyle/>
          <a:p>
            <a:r>
              <a:rPr lang="en-US" dirty="0" smtClean="0"/>
              <a:t> A local variable is designated by a single </a:t>
            </a:r>
            <a:r>
              <a:rPr lang="en-US" dirty="0" smtClean="0">
                <a:solidFill>
                  <a:srgbClr val="0000FF"/>
                </a:solidFill>
              </a:rPr>
              <a:t>at</a:t>
            </a:r>
            <a:r>
              <a:rPr lang="en-US" dirty="0" smtClean="0"/>
              <a:t> sign 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0070C0"/>
                </a:solidFill>
              </a:rPr>
              <a:t>@</a:t>
            </a:r>
            <a:r>
              <a:rPr lang="en-US" dirty="0" smtClean="0"/>
              <a:t>)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A global variable is designated by a double </a:t>
            </a:r>
            <a:r>
              <a:rPr lang="en-US" dirty="0" smtClean="0">
                <a:solidFill>
                  <a:srgbClr val="0000FF"/>
                </a:solidFill>
              </a:rPr>
              <a:t>at</a:t>
            </a:r>
            <a:r>
              <a:rPr lang="en-US" dirty="0" smtClean="0"/>
              <a:t> sign 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0070C0"/>
                </a:solidFill>
              </a:rPr>
              <a:t>@@</a:t>
            </a:r>
            <a:r>
              <a:rPr lang="en-US" dirty="0" smtClean="0"/>
              <a:t>)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You can create, read, and write local variables, but you can only read the values from global variables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8057521"/>
              </p:ext>
            </p:extLst>
          </p:nvPr>
        </p:nvGraphicFramePr>
        <p:xfrm>
          <a:off x="1295400" y="762000"/>
          <a:ext cx="7499350" cy="550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500"/>
                <a:gridCol w="4895850"/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GLOBAL VARIABLE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DEFINITION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@@ERROR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Error code from the last statement executed</a:t>
                      </a:r>
                      <a:endParaRPr lang="en-CA" dirty="0"/>
                    </a:p>
                  </a:txBody>
                  <a:tcPr/>
                </a:tc>
              </a:tr>
              <a:tr h="629920">
                <a:tc>
                  <a:txBody>
                    <a:bodyPr/>
                    <a:lstStyle/>
                    <a:p>
                      <a:r>
                        <a:rPr lang="en-CA" dirty="0" smtClean="0"/>
                        <a:t>@@IDENTITY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 of the last identity value inserted within the connection</a:t>
                      </a:r>
                      <a:endParaRPr lang="en-CA" dirty="0"/>
                    </a:p>
                  </a:txBody>
                  <a:tcPr/>
                </a:tc>
              </a:tr>
              <a:tr h="629920">
                <a:tc>
                  <a:txBody>
                    <a:bodyPr/>
                    <a:lstStyle/>
                    <a:p>
                      <a:r>
                        <a:rPr kumimoji="0" lang="en-US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@@SCOPE_IDENTITY</a:t>
                      </a:r>
                      <a:r>
                        <a:rPr lang="en-US" dirty="0" smtClean="0"/>
                        <a:t> 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 of the last IDENTITY generated by SQL Server limited to the current session and scope only ( discards IDENTITY generated by Triggers)</a:t>
                      </a:r>
                      <a:endParaRPr lang="en-CA" dirty="0"/>
                    </a:p>
                  </a:txBody>
                  <a:tcPr/>
                </a:tc>
              </a:tr>
              <a:tr h="523240">
                <a:tc>
                  <a:txBody>
                    <a:bodyPr/>
                    <a:lstStyle/>
                    <a:p>
                      <a:r>
                        <a:rPr kumimoji="0" lang="en-US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@@IDENT_CURRENT</a:t>
                      </a:r>
                      <a:endParaRPr kumimoji="0" lang="en-CA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The value of the last IDENTITY generated for a table.  It requires a table name as parameter.</a:t>
                      </a:r>
                      <a:endParaRPr lang="en-CA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@@ROWCOUNT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number of rows affected by the last statement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@@TRANCOUNT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number of open transactions within the connection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@@VERSION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version of SQL Server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762000"/>
            <a:ext cx="7714488" cy="2667000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DECLARE</a:t>
            </a:r>
            <a:r>
              <a:rPr lang="en-US" dirty="0" smtClean="0"/>
              <a:t> clause is used to  instantiate a </a:t>
            </a:r>
            <a:r>
              <a:rPr lang="en-US" dirty="0" smtClean="0"/>
              <a:t>variable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A variable can be defined using any data type except </a:t>
            </a:r>
            <a:r>
              <a:rPr lang="en-US" dirty="0" smtClean="0">
                <a:solidFill>
                  <a:srgbClr val="0070C0"/>
                </a:solidFill>
              </a:rPr>
              <a:t>TEXT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70C0"/>
                </a:solidFill>
              </a:rPr>
              <a:t>NTEXT</a:t>
            </a:r>
            <a:r>
              <a:rPr lang="en-US" dirty="0" smtClean="0"/>
              <a:t>, and </a:t>
            </a:r>
            <a:r>
              <a:rPr lang="en-US" dirty="0" smtClean="0">
                <a:solidFill>
                  <a:srgbClr val="0070C0"/>
                </a:solidFill>
              </a:rPr>
              <a:t>IMAGE</a:t>
            </a:r>
            <a:endParaRPr lang="en-CA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19200" y="3886200"/>
            <a:ext cx="7696200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DECLARE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intvariable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datevariable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DATE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spatialvar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GEOGRAPHY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DECLARE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tablevar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TABLE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(ID     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NOT NULL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Customer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VARCHAR(50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NOT NULL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)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304800"/>
            <a:ext cx="7790688" cy="1676400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SET</a:t>
            </a:r>
            <a:r>
              <a:rPr lang="en-US" dirty="0" smtClean="0"/>
              <a:t> or a </a:t>
            </a:r>
            <a:r>
              <a:rPr lang="en-US" dirty="0" smtClean="0">
                <a:solidFill>
                  <a:srgbClr val="0070C0"/>
                </a:solidFill>
              </a:rPr>
              <a:t>SELECT</a:t>
            </a:r>
            <a:r>
              <a:rPr lang="en-US" dirty="0" smtClean="0"/>
              <a:t> can be used to assign a value to a variable;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180730" y="1447800"/>
            <a:ext cx="7848600" cy="52629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DECLARE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intvariable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= 2,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datevariable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DATE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GETDATE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(),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maxorderdate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DATE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=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     (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OrderDate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   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Sales.SalesOrderHeader</a:t>
            </a:r>
            <a:r>
              <a:rPr lang="en-CA" sz="2400" dirty="0" smtClean="0"/>
              <a:t> </a:t>
            </a: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     ),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 @counter1   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 @counter2   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@counter1 = 1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@counter2 = -1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intvariable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,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datevariable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,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maxorderdate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, @counter1, @counter2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3000" y="1066800"/>
            <a:ext cx="6019800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DECLARE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= 1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+= 1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*= 2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/= 4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CA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0" y="1752600"/>
            <a:ext cx="2590800" cy="1447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New to SQL Server 2008</a:t>
            </a:r>
            <a:endParaRPr lang="en-CA" sz="2400" b="1" dirty="0"/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 flipV="1">
            <a:off x="3733800" y="2057400"/>
            <a:ext cx="2362200" cy="419100"/>
          </a:xfrm>
          <a:prstGeom prst="straightConnector1">
            <a:avLst/>
          </a:prstGeom>
          <a:ln w="50800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657600" y="2590800"/>
            <a:ext cx="2438400" cy="152400"/>
          </a:xfrm>
          <a:prstGeom prst="straightConnector1">
            <a:avLst/>
          </a:prstGeom>
          <a:ln w="50800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3657600" y="2590800"/>
            <a:ext cx="2438400" cy="838200"/>
          </a:xfrm>
          <a:prstGeom prst="straightConnector1">
            <a:avLst/>
          </a:prstGeom>
          <a:ln w="50800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28600"/>
            <a:ext cx="7498080" cy="1143000"/>
          </a:xfrm>
        </p:spPr>
        <p:txBody>
          <a:bodyPr/>
          <a:lstStyle/>
          <a:p>
            <a:r>
              <a:rPr lang="en-CA" dirty="0" smtClean="0"/>
              <a:t>Parameters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371600"/>
            <a:ext cx="7562088" cy="2590800"/>
          </a:xfrm>
        </p:spPr>
        <p:txBody>
          <a:bodyPr/>
          <a:lstStyle/>
          <a:p>
            <a:r>
              <a:rPr lang="en-US" dirty="0" smtClean="0"/>
              <a:t>There are two types of parameters: </a:t>
            </a:r>
          </a:p>
          <a:p>
            <a:pPr marL="82296" indent="0">
              <a:buNone/>
            </a:pPr>
            <a:r>
              <a:rPr lang="en-US" dirty="0"/>
              <a:t> </a:t>
            </a:r>
            <a:r>
              <a:rPr lang="en-US" dirty="0" smtClean="0"/>
              <a:t>    input and output. </a:t>
            </a:r>
          </a:p>
          <a:p>
            <a:r>
              <a:rPr lang="en-US" dirty="0" smtClean="0"/>
              <a:t>An output parameter is designated by using the keyword </a:t>
            </a:r>
            <a:r>
              <a:rPr lang="en-US" dirty="0" smtClean="0">
                <a:solidFill>
                  <a:srgbClr val="0070C0"/>
                </a:solidFill>
              </a:rPr>
              <a:t>OUTPUT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0070C0"/>
                </a:solidFill>
              </a:rPr>
              <a:t>OUT</a:t>
            </a:r>
            <a:endParaRPr lang="en-CA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19200" y="4038600"/>
            <a:ext cx="7696200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PROCEDURE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&lt;procedure name&gt;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@parm1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@parm2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VARCHAR(20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) = 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'Default value'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,   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orderid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OUTPUT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--Code block</a:t>
            </a:r>
            <a:endParaRPr lang="en-CA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8868" y="381000"/>
            <a:ext cx="8584131" cy="37856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AdventureWorks2012;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PROCEDURE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HumanResources.GetEmployees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L_Name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nvarchar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(50), </a:t>
            </a: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F_Name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nvarchar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(50) 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 </a:t>
            </a: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LastName,Title</a:t>
            </a:r>
            <a:endParaRPr lang="en-CA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HumanResources.EmployeeDepartmentHistory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AS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smtClean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EDH</a:t>
            </a:r>
            <a:r>
              <a:rPr lang="en-US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en-US" sz="20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b="1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endParaRPr lang="en-US" sz="20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EDH</a:t>
            </a:r>
            <a:r>
              <a:rPr lang="en-US" sz="20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b="1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BusinessEntityID</a:t>
            </a:r>
            <a:r>
              <a:rPr lang="en-US" sz="20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0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b="1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BusinessEntityID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= @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F_Name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AND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= @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L_Name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  <a:endParaRPr lang="en-CA" sz="20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8869" y="4495800"/>
            <a:ext cx="8584131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EXECUTE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HumanResources.GetEmployees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N'Ackerman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',</a:t>
            </a:r>
            <a:r>
              <a:rPr lang="en-CA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N'Pilar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';</a:t>
            </a:r>
          </a:p>
          <a:p>
            <a:r>
              <a:rPr lang="en-CA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Or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EXEC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HumanResources.GetEmployees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L_Name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N'Ackerman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', @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F_Name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N'Pilar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';</a:t>
            </a:r>
            <a:endParaRPr lang="en-CA" b="1" dirty="0" smtClean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CA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Or, if procedure is the first statement in a batch:</a:t>
            </a:r>
          </a:p>
          <a:p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HumanResources.GetEmployees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N'Ackerman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', </a:t>
            </a:r>
            <a:r>
              <a:rPr lang="en-CA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N'Pilar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';</a:t>
            </a:r>
            <a:endParaRPr lang="en-CA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1143000"/>
            <a:ext cx="8763000" cy="4893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AdventureWorks2012;</a:t>
            </a:r>
          </a:p>
          <a:p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</a:p>
          <a:p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PROCEDURE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HumanResources.GetEmployees2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nvarchar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(50) = </a:t>
            </a:r>
            <a:r>
              <a:rPr lang="en-CA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N'D%'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nvarchar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(50) = </a:t>
            </a:r>
            <a:r>
              <a:rPr lang="en-CA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N'%'</a:t>
            </a:r>
          </a:p>
          <a:p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LastName,Title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HumanResources.EmployeeDepartmentHistory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EDH 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Person.Person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EDH.BusinessEntityID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P.BusinessEntityID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LIKE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AND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LIKE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  <a:endParaRPr lang="en-CA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57600" y="228600"/>
            <a:ext cx="2590800" cy="609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Parameter initialization</a:t>
            </a:r>
            <a:endParaRPr lang="en-CA" dirty="0"/>
          </a:p>
        </p:txBody>
      </p:sp>
      <p:cxnSp>
        <p:nvCxnSpPr>
          <p:cNvPr id="5" name="Straight Arrow Connector 4"/>
          <p:cNvCxnSpPr>
            <a:stCxn id="2" idx="2"/>
          </p:cNvCxnSpPr>
          <p:nvPr/>
        </p:nvCxnSpPr>
        <p:spPr>
          <a:xfrm>
            <a:off x="4953000" y="838200"/>
            <a:ext cx="631054" cy="1505505"/>
          </a:xfrm>
          <a:prstGeom prst="straightConnector1">
            <a:avLst/>
          </a:prstGeom>
          <a:ln w="22225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2" idx="2"/>
          </p:cNvCxnSpPr>
          <p:nvPr/>
        </p:nvCxnSpPr>
        <p:spPr>
          <a:xfrm>
            <a:off x="4953000" y="838200"/>
            <a:ext cx="571500" cy="1905000"/>
          </a:xfrm>
          <a:prstGeom prst="straightConnector1">
            <a:avLst/>
          </a:prstGeom>
          <a:ln w="22225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1219200"/>
            <a:ext cx="8001000" cy="3831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Return all with </a:t>
            </a:r>
            <a:r>
              <a:rPr lang="en-US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beginning with D</a:t>
            </a:r>
            <a:endParaRPr lang="en-CA" b="1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EXECUTE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HumanResources.GetEmployees2;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Return all with </a:t>
            </a:r>
            <a:r>
              <a:rPr lang="en-US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beginning with </a:t>
            </a:r>
            <a:r>
              <a:rPr lang="en-US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Wi</a:t>
            </a:r>
            <a:endParaRPr lang="en-CA" b="1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EXECUTE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HumanResources.GetEmployees2 </a:t>
            </a:r>
            <a:r>
              <a:rPr lang="en-CA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N'Wi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%';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Return all with </a:t>
            </a:r>
            <a:r>
              <a:rPr lang="en-US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beginning with D</a:t>
            </a:r>
            <a:endParaRPr lang="en-CA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EXECUTE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HumanResources.GetEmployees2 @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N'%';</a:t>
            </a:r>
          </a:p>
          <a:p>
            <a:pPr>
              <a:lnSpc>
                <a:spcPct val="150000"/>
              </a:lnSpc>
            </a:pP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EXECUTE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HumanResources.GetEmployees2 </a:t>
            </a:r>
            <a:r>
              <a:rPr lang="en-CA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N'[CK]</a:t>
            </a:r>
            <a:r>
              <a:rPr lang="en-CA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ars</a:t>
            </a:r>
            <a:r>
              <a:rPr lang="en-CA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[OE]n'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EXECUTE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HumanResources.GetEmployees2 </a:t>
            </a:r>
            <a:r>
              <a:rPr lang="en-CA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N'Hesse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', </a:t>
            </a:r>
            <a:r>
              <a:rPr lang="en-CA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N'Stefen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';</a:t>
            </a:r>
          </a:p>
          <a:p>
            <a:pPr>
              <a:lnSpc>
                <a:spcPct val="150000"/>
              </a:lnSpc>
            </a:pP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EXECUTE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HumanResources.GetEmployees2 </a:t>
            </a:r>
            <a:r>
              <a:rPr lang="en-CA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N'H%'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N'S%'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CA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609600"/>
            <a:ext cx="8839200" cy="59093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AdventureWorks2012;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PROCEDURE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Production.uspGetList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ProductCat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varchar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(40)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,@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MaxPrice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money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,@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ComparePrice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money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OUTPUT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,@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ListPrice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money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OUT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endParaRPr lang="en-CA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p.[Name]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Product,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p.ListPrice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'List Price'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Production.Product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p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JOIN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Production.ProductSubcategory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s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p.ProductSubcategoryID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s.ProductSubcategoryID</a:t>
            </a:r>
            <a:endParaRPr lang="en-CA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s.[Name] </a:t>
            </a:r>
            <a:r>
              <a:rPr lang="en-CA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LIKE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ProductCat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AND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p.ListPrice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&lt;@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MaxPrice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CA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Populate the output variable @</a:t>
            </a:r>
            <a:r>
              <a:rPr lang="en-CA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ListPprice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.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ListPrice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= (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p.ListPrice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Production.Product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p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CA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JOIN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Production.ProductSubcategory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s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p.ProductSubcategoryID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s.ProductSubcategoryID</a:t>
            </a:r>
            <a:endParaRPr lang="en-CA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s.[Name]</a:t>
            </a:r>
            <a:r>
              <a:rPr lang="en-CA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LIKE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ProductCat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AND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p.ListPrice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&lt;@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MaxPrice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CA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Populate the output variable @</a:t>
            </a:r>
            <a:r>
              <a:rPr lang="en-CA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compareprice</a:t>
            </a:r>
            <a:r>
              <a:rPr lang="en-CA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ComparePrice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= @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MaxPrice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  <a:endParaRPr lang="en-CA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" y="1752600"/>
            <a:ext cx="8991600" cy="33239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DECLARE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ComparePrice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money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, @Cost </a:t>
            </a: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money </a:t>
            </a:r>
          </a:p>
          <a:p>
            <a:endParaRPr lang="en-US" sz="1600" b="1" dirty="0" smtClean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EXECUTE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Production.uspGetList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'%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Bikes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%', 700, 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ComparePrice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OUT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, @Cost </a:t>
            </a: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OUTPUT</a:t>
            </a:r>
          </a:p>
          <a:p>
            <a:endParaRPr lang="en-US" sz="1600" b="1" dirty="0" smtClean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@Cost &lt;= @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ComparePrice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BEGIN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PRINT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'These products can be </a:t>
            </a:r>
            <a:r>
              <a:rPr lang="en-US" sz="1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purchased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for less than $'  </a:t>
            </a:r>
          </a:p>
          <a:p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16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RTRIM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CAST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(@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ComparePrice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varchar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(20)))+'.'</a:t>
            </a:r>
          </a:p>
          <a:p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END</a:t>
            </a:r>
          </a:p>
          <a:p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PRINT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'The prices for all products in this category exceed $'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+ </a:t>
            </a:r>
            <a:r>
              <a:rPr lang="en-US" sz="16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RTRIM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CAST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(@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ComparePrice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varchar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(20)))+'.'</a:t>
            </a:r>
            <a:endParaRPr lang="en-CA" sz="16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Control Flow Constructs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RETURN</a:t>
            </a:r>
          </a:p>
          <a:p>
            <a:r>
              <a:rPr lang="en-US" dirty="0" smtClean="0"/>
              <a:t>IF. . .ELSE</a:t>
            </a:r>
          </a:p>
          <a:p>
            <a:r>
              <a:rPr lang="en-US" dirty="0" smtClean="0"/>
              <a:t>BEGIN. . .END</a:t>
            </a:r>
          </a:p>
          <a:p>
            <a:r>
              <a:rPr lang="en-US" dirty="0" smtClean="0"/>
              <a:t>WHILE</a:t>
            </a:r>
          </a:p>
          <a:p>
            <a:r>
              <a:rPr lang="en-US" dirty="0" smtClean="0"/>
              <a:t>BREAK/CONTINUE</a:t>
            </a:r>
          </a:p>
          <a:p>
            <a:r>
              <a:rPr lang="en-US" dirty="0" smtClean="0"/>
              <a:t>WAITFOR</a:t>
            </a:r>
          </a:p>
          <a:p>
            <a:r>
              <a:rPr lang="en-US" dirty="0" smtClean="0"/>
              <a:t>GOTO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228600"/>
            <a:ext cx="7498080" cy="1020762"/>
          </a:xfrm>
        </p:spPr>
        <p:txBody>
          <a:bodyPr/>
          <a:lstStyle/>
          <a:p>
            <a:r>
              <a:rPr lang="en-US" dirty="0" smtClean="0"/>
              <a:t>RETURN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371600"/>
            <a:ext cx="7498080" cy="18288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0000FF"/>
                </a:solidFill>
              </a:rPr>
              <a:t>INT</a:t>
            </a:r>
            <a:r>
              <a:rPr lang="en-US" dirty="0" smtClean="0"/>
              <a:t> return code can be passed back to an application to indicate the execution status of the </a:t>
            </a:r>
            <a:r>
              <a:rPr lang="en-US" dirty="0" smtClean="0"/>
              <a:t>procedure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143000" y="3276600"/>
            <a:ext cx="7772400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PROCEDURE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a_procedure_name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&gt;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@parm1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@parm2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VARCHAR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(20) =  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'Default value'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1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--Any code from this point on will -   </a:t>
            </a:r>
          </a:p>
          <a:p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--not be executed</a:t>
            </a:r>
            <a:endParaRPr lang="en-CA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IF. . .ELSE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295400" y="1676400"/>
            <a:ext cx="7391400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DECLARE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 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= 1 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= 1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PRINT 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'This is the code executed 1'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= 2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PRINT 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'This is the code executed 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2'</a:t>
            </a:r>
            <a:endParaRPr lang="en-US" sz="24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PRINT 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'This is the code executed 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3'</a:t>
            </a:r>
            <a:endParaRPr lang="en-US" sz="24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BEGIN. . .END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371600"/>
            <a:ext cx="7498080" cy="1905000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0000FF"/>
                </a:solidFill>
              </a:rPr>
              <a:t>BEGIN</a:t>
            </a:r>
            <a:r>
              <a:rPr lang="en-US" dirty="0" smtClean="0"/>
              <a:t>. . .</a:t>
            </a:r>
            <a:r>
              <a:rPr lang="en-US" dirty="0" smtClean="0">
                <a:solidFill>
                  <a:srgbClr val="0000FF"/>
                </a:solidFill>
              </a:rPr>
              <a:t>END</a:t>
            </a:r>
            <a:r>
              <a:rPr lang="en-US" dirty="0" smtClean="0"/>
              <a:t> statement allows you to delimit code blocks that should execute as a unit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371600" y="3124200"/>
            <a:ext cx="7391400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DECLARE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= 1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= 2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BEGIN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PRINT 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'This is the code executed.'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PRINT 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'This code is also executed.'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END</a:t>
            </a:r>
            <a:endParaRPr lang="en-CA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WHILE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524000" y="1524000"/>
            <a:ext cx="6705600" cy="4893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DECLARE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@var1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 @var2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VARCHAR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(30)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@var1 = 1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@var1 &lt;= 10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BEGIN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@var2 = 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'Iteration #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' + 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CAST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(@var1 AS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VARCHAR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(2))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@var2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@var1 += 1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END</a:t>
            </a:r>
            <a:endParaRPr lang="en-CA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BREAK and CONTINUE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447800"/>
            <a:ext cx="7714488" cy="4800600"/>
          </a:xfrm>
        </p:spPr>
        <p:txBody>
          <a:bodyPr/>
          <a:lstStyle/>
          <a:p>
            <a:r>
              <a:rPr lang="en-US" dirty="0" smtClean="0"/>
              <a:t>You can use the </a:t>
            </a:r>
            <a:r>
              <a:rPr lang="en-US" dirty="0" smtClean="0">
                <a:solidFill>
                  <a:srgbClr val="0000FF"/>
                </a:solidFill>
              </a:rPr>
              <a:t>BREAK</a:t>
            </a:r>
            <a:r>
              <a:rPr lang="en-US" dirty="0" smtClean="0"/>
              <a:t> statement to  terminate execution within a </a:t>
            </a:r>
            <a:r>
              <a:rPr lang="en-US" dirty="0" smtClean="0">
                <a:solidFill>
                  <a:srgbClr val="0000FF"/>
                </a:solidFill>
              </a:rPr>
              <a:t>WHILE</a:t>
            </a:r>
            <a:r>
              <a:rPr lang="en-US" dirty="0" smtClean="0"/>
              <a:t> </a:t>
            </a:r>
            <a:r>
              <a:rPr lang="en-US" dirty="0" smtClean="0"/>
              <a:t>loop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00FF"/>
                </a:solidFill>
              </a:rPr>
              <a:t>CONTINUE</a:t>
            </a:r>
            <a:r>
              <a:rPr lang="en-US" dirty="0" smtClean="0"/>
              <a:t> is used within a </a:t>
            </a:r>
            <a:r>
              <a:rPr lang="en-US" dirty="0" smtClean="0">
                <a:solidFill>
                  <a:srgbClr val="0000FF"/>
                </a:solidFill>
              </a:rPr>
              <a:t>WHILE</a:t>
            </a:r>
            <a:r>
              <a:rPr lang="en-US" dirty="0" smtClean="0"/>
              <a:t> loop to have the code continue to execute from the beginning of the loop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7498080" cy="944562"/>
          </a:xfrm>
        </p:spPr>
        <p:txBody>
          <a:bodyPr/>
          <a:lstStyle/>
          <a:p>
            <a:r>
              <a:rPr lang="en-CA" dirty="0" smtClean="0"/>
              <a:t>WAITFOR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14400"/>
            <a:ext cx="7924800" cy="990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WAITFOR is used to allow the code execution to pause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066800" y="1964353"/>
            <a:ext cx="7696200" cy="4893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DECLARE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@var1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,@var2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VARCHAR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(30)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@var1 = 1 </a:t>
            </a:r>
          </a:p>
          <a:p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--Pause for until 18:45:00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WAITFOR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TIME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'18:45:00'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@var1 &lt;= 10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BEGIN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--Pause for 2 seconds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WAITFOR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DELAY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'00:00:02'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@var2 = 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'Iteration #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' + CAST(@var1 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AS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VARCHAR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(2)) 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@var2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@var1 += 1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END</a:t>
            </a:r>
            <a:endParaRPr lang="en-CA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Left Arrow 4"/>
          <p:cNvSpPr/>
          <p:nvPr/>
        </p:nvSpPr>
        <p:spPr>
          <a:xfrm>
            <a:off x="5486400" y="3124200"/>
            <a:ext cx="19812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Left Arrow 5"/>
          <p:cNvSpPr/>
          <p:nvPr/>
        </p:nvSpPr>
        <p:spPr>
          <a:xfrm>
            <a:off x="6172200" y="4572000"/>
            <a:ext cx="19812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7498080" cy="1143000"/>
          </a:xfrm>
        </p:spPr>
        <p:txBody>
          <a:bodyPr/>
          <a:lstStyle/>
          <a:p>
            <a:r>
              <a:rPr lang="en-US" dirty="0" smtClean="0"/>
              <a:t>GOTO</a:t>
            </a:r>
            <a:endParaRPr lang="en-CA" dirty="0"/>
          </a:p>
        </p:txBody>
      </p:sp>
      <p:sp>
        <p:nvSpPr>
          <p:cNvPr id="5" name="Rectangle 4"/>
          <p:cNvSpPr/>
          <p:nvPr/>
        </p:nvSpPr>
        <p:spPr>
          <a:xfrm>
            <a:off x="1066800" y="1219200"/>
            <a:ext cx="7924800" cy="50167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DECLARE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@Counter 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@Counter = 1;</a:t>
            </a:r>
          </a:p>
          <a:p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@Counter &lt; 10</a:t>
            </a:r>
          </a:p>
          <a:p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BEGIN 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@Counter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@Counter = @Counter + 1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@Counter = 4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GOTO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Branch_One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--Jumps 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@Counter = 5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GOTO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Branch_Two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</a:t>
            </a: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never </a:t>
            </a: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exec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END</a:t>
            </a:r>
          </a:p>
          <a:p>
            <a:r>
              <a:rPr lang="en-US" sz="20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Branch_One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'Jumping To Branch One.'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GOTO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Branch_Three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--Jump</a:t>
            </a:r>
            <a:endParaRPr lang="en-US" sz="2000" b="1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Branch_Two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'Jumping To Branch Two.'</a:t>
            </a:r>
          </a:p>
          <a:p>
            <a:r>
              <a:rPr lang="en-US" sz="20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Branch_Three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'Jumping To Branch Three.'</a:t>
            </a:r>
            <a:endParaRPr lang="en-CA" sz="20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Error Messages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05400"/>
          </a:xfrm>
        </p:spPr>
        <p:txBody>
          <a:bodyPr/>
          <a:lstStyle/>
          <a:p>
            <a:r>
              <a:rPr lang="en-US" dirty="0" smtClean="0"/>
              <a:t>Error messages in SQL Server have three components</a:t>
            </a:r>
            <a:r>
              <a:rPr lang="en-US" dirty="0" smtClean="0"/>
              <a:t>:</a:t>
            </a:r>
            <a:br>
              <a:rPr lang="en-US" dirty="0" smtClean="0"/>
            </a:br>
            <a:endParaRPr lang="en-US" dirty="0" smtClean="0"/>
          </a:p>
          <a:p>
            <a:pPr marL="916686" lvl="1" indent="-514350">
              <a:buFont typeface="+mj-lt"/>
              <a:buAutoNum type="arabicParenR"/>
            </a:pPr>
            <a:r>
              <a:rPr lang="en-US" dirty="0" smtClean="0"/>
              <a:t>Error number</a:t>
            </a:r>
          </a:p>
          <a:p>
            <a:pPr marL="916686" lvl="1" indent="-514350">
              <a:buFont typeface="+mj-lt"/>
              <a:buAutoNum type="arabicParenR"/>
            </a:pPr>
            <a:r>
              <a:rPr lang="en-US" dirty="0" smtClean="0"/>
              <a:t>Severity level</a:t>
            </a:r>
          </a:p>
          <a:p>
            <a:pPr marL="916686" lvl="1" indent="-514350">
              <a:buFont typeface="+mj-lt"/>
              <a:buAutoNum type="arabicParenR"/>
            </a:pPr>
            <a:r>
              <a:rPr lang="en-US" dirty="0" smtClean="0"/>
              <a:t>Error message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1) Error Number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error number is an integer value. </a:t>
            </a:r>
          </a:p>
          <a:p>
            <a:r>
              <a:rPr lang="en-US" dirty="0" smtClean="0"/>
              <a:t>Error messages that ship with SQL Server are numbered from 1 to </a:t>
            </a:r>
            <a:r>
              <a:rPr lang="en-US" dirty="0" smtClean="0"/>
              <a:t>49999</a:t>
            </a:r>
            <a:endParaRPr lang="en-US" dirty="0" smtClean="0"/>
          </a:p>
          <a:p>
            <a:r>
              <a:rPr lang="en-US" dirty="0" smtClean="0"/>
              <a:t>The number 50000 is reserved to designate a message whose error number is not  specified</a:t>
            </a:r>
          </a:p>
          <a:p>
            <a:r>
              <a:rPr lang="en-US" dirty="0" smtClean="0"/>
              <a:t>You can create custom error messages, which must be numbered 50001 and higher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7498080" cy="1143000"/>
          </a:xfrm>
        </p:spPr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en-US" sz="4300" kern="1200" dirty="0" smtClean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2) Severity </a:t>
            </a:r>
            <a:r>
              <a:rPr lang="en-US" sz="4300" kern="12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level</a:t>
            </a:r>
            <a:endParaRPr lang="en-CA" sz="4300" kern="1200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19200"/>
            <a:ext cx="7790688" cy="5638800"/>
          </a:xfrm>
        </p:spPr>
        <p:txBody>
          <a:bodyPr>
            <a:normAutofit/>
          </a:bodyPr>
          <a:lstStyle/>
          <a:p>
            <a:r>
              <a:rPr lang="en-US" dirty="0" smtClean="0"/>
              <a:t>Severity levels are numbered from </a:t>
            </a:r>
            <a:r>
              <a:rPr lang="en-US" dirty="0" smtClean="0">
                <a:solidFill>
                  <a:srgbClr val="0070C0"/>
                </a:solidFill>
              </a:rPr>
              <a:t>0 to 25</a:t>
            </a:r>
          </a:p>
          <a:p>
            <a:r>
              <a:rPr lang="en-US" dirty="0" smtClean="0"/>
              <a:t>Errors with severity level of :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&gt;= 16 </a:t>
            </a:r>
            <a:r>
              <a:rPr lang="en-US" dirty="0" smtClean="0"/>
              <a:t>are logged to the SQL Server error log and the Windows Application Event Log.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19 to 25</a:t>
            </a:r>
            <a:r>
              <a:rPr lang="en-US" dirty="0" smtClean="0"/>
              <a:t> can be specified only by members of the </a:t>
            </a:r>
            <a:r>
              <a:rPr lang="en-US" dirty="0" err="1" smtClean="0">
                <a:solidFill>
                  <a:srgbClr val="0070C0"/>
                </a:solidFill>
              </a:rPr>
              <a:t>sysadmin</a:t>
            </a:r>
            <a:r>
              <a:rPr lang="en-US" dirty="0" smtClean="0"/>
              <a:t> fixed server role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20 to 25</a:t>
            </a:r>
            <a:r>
              <a:rPr lang="en-US" dirty="0" smtClean="0"/>
              <a:t> are considered fatal and cause the connection to be terminated and any open transactions to be rolled back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3) Error Message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05400"/>
          </a:xfrm>
        </p:spPr>
        <p:txBody>
          <a:bodyPr/>
          <a:lstStyle/>
          <a:p>
            <a:r>
              <a:rPr lang="en-US" dirty="0" smtClean="0"/>
              <a:t>The error message can be up to 255 Unicode characters long </a:t>
            </a:r>
          </a:p>
          <a:p>
            <a:r>
              <a:rPr lang="en-US" dirty="0" smtClean="0"/>
              <a:t>You can create your own custom error messages, which must be numbered </a:t>
            </a:r>
            <a:r>
              <a:rPr lang="en-US" dirty="0" smtClean="0">
                <a:solidFill>
                  <a:srgbClr val="0070C0"/>
                </a:solidFill>
              </a:rPr>
              <a:t>50001</a:t>
            </a:r>
            <a:r>
              <a:rPr lang="en-US" dirty="0" smtClean="0"/>
              <a:t> and higher</a:t>
            </a:r>
          </a:p>
          <a:p>
            <a:r>
              <a:rPr lang="en-US" dirty="0" smtClean="0"/>
              <a:t>Error messages can be </a:t>
            </a:r>
            <a:r>
              <a:rPr lang="en-US" dirty="0" smtClean="0"/>
              <a:t>localized, </a:t>
            </a:r>
            <a:r>
              <a:rPr lang="en-US" dirty="0" smtClean="0"/>
              <a:t>but you must create an English version of the message before creating a non-English </a:t>
            </a:r>
            <a:r>
              <a:rPr lang="en-US" dirty="0" smtClean="0"/>
              <a:t>version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533400"/>
            <a:ext cx="7562088" cy="1371600"/>
          </a:xfrm>
        </p:spPr>
        <p:txBody>
          <a:bodyPr/>
          <a:lstStyle/>
          <a:p>
            <a:r>
              <a:rPr lang="en-US" dirty="0" smtClean="0"/>
              <a:t>You create a custom error message by executing </a:t>
            </a:r>
            <a:r>
              <a:rPr lang="en-US" dirty="0" err="1" smtClean="0">
                <a:solidFill>
                  <a:srgbClr val="0070C0"/>
                </a:solidFill>
              </a:rPr>
              <a:t>sp_addmessage</a:t>
            </a:r>
            <a:r>
              <a:rPr lang="en-US" dirty="0" smtClean="0"/>
              <a:t> as follows:</a:t>
            </a:r>
            <a:endParaRPr lang="en-CA" dirty="0"/>
          </a:p>
        </p:txBody>
      </p:sp>
      <p:sp>
        <p:nvSpPr>
          <p:cNvPr id="5" name="Rectangle 4"/>
          <p:cNvSpPr/>
          <p:nvPr/>
        </p:nvSpPr>
        <p:spPr>
          <a:xfrm>
            <a:off x="1222513" y="2213908"/>
            <a:ext cx="7924800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sp_addmessage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[@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msgnum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=] 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msg_id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, [@severity=] severity , [@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msgtext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=] '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msg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'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  [ , [ 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lang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= ] 'language' ]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  [ , [ 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with_log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= ]{'TRUE'|'FALSE' } ]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  [ , [ @replace= ] 'replace' ] 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5257800"/>
            <a:ext cx="1981200" cy="838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Replace existing Message</a:t>
            </a:r>
            <a:endParaRPr lang="en-CA" b="1" dirty="0"/>
          </a:p>
        </p:txBody>
      </p:sp>
      <p:sp>
        <p:nvSpPr>
          <p:cNvPr id="7" name="Rectangle 6"/>
          <p:cNvSpPr/>
          <p:nvPr/>
        </p:nvSpPr>
        <p:spPr>
          <a:xfrm>
            <a:off x="5257800" y="5105400"/>
            <a:ext cx="3505200" cy="1143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Log into Windows Application Log and Database Engine Error Log</a:t>
            </a:r>
            <a:endParaRPr lang="en-CA" b="1" dirty="0"/>
          </a:p>
        </p:txBody>
      </p:sp>
      <p:cxnSp>
        <p:nvCxnSpPr>
          <p:cNvPr id="9" name="Straight Arrow Connector 8"/>
          <p:cNvCxnSpPr>
            <a:stCxn id="6" idx="0"/>
          </p:cNvCxnSpPr>
          <p:nvPr/>
        </p:nvCxnSpPr>
        <p:spPr>
          <a:xfrm flipV="1">
            <a:off x="2514600" y="4114800"/>
            <a:ext cx="3124200" cy="1143000"/>
          </a:xfrm>
          <a:prstGeom prst="straightConnector1">
            <a:avLst/>
          </a:prstGeom>
          <a:ln w="25400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7620000" y="3733800"/>
            <a:ext cx="1143000" cy="1371600"/>
          </a:xfrm>
          <a:prstGeom prst="straightConnector1">
            <a:avLst/>
          </a:prstGeom>
          <a:ln w="25400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3000" y="1219200"/>
            <a:ext cx="76962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EXEC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sp_addmessage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50001, 16, 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N'Some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Error Message …'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;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  <a:endParaRPr lang="en-CA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3000" y="3200400"/>
            <a:ext cx="7696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dirty="0" err="1" smtClean="0">
                <a:solidFill>
                  <a:srgbClr val="0070C0"/>
                </a:solidFill>
              </a:rPr>
              <a:t>sp_altermessage</a:t>
            </a:r>
            <a:r>
              <a:rPr lang="en-US" sz="3200" dirty="0" smtClean="0">
                <a:solidFill>
                  <a:srgbClr val="0070C0"/>
                </a:solidFill>
              </a:rPr>
              <a:t>  </a:t>
            </a:r>
            <a:r>
              <a:rPr lang="en-US" sz="3200" dirty="0" smtClean="0"/>
              <a:t>is used to modify custom error </a:t>
            </a:r>
            <a:r>
              <a:rPr lang="en-US" sz="3200" dirty="0" smtClean="0"/>
              <a:t>messages</a:t>
            </a:r>
          </a:p>
          <a:p>
            <a:endParaRPr lang="en-US" sz="3200" dirty="0" smtClean="0"/>
          </a:p>
          <a:p>
            <a:pPr>
              <a:buFont typeface="Arial" pitchFamily="34" charset="0"/>
              <a:buChar char="•"/>
            </a:pPr>
            <a:r>
              <a:rPr lang="en-US" sz="3200" dirty="0" err="1" smtClean="0">
                <a:solidFill>
                  <a:srgbClr val="0070C0"/>
                </a:solidFill>
              </a:rPr>
              <a:t>sp_dropmessage</a:t>
            </a:r>
            <a:r>
              <a:rPr lang="en-US" sz="3200" dirty="0" smtClean="0"/>
              <a:t>   is used to drop a custom error message</a:t>
            </a:r>
            <a:endParaRPr lang="en-CA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705088" cy="16002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To creates a custom message in both English and French that accepts two parameters with a message number of 50002 and a severity of 16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228600" y="2057400"/>
            <a:ext cx="8915400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EXEC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sp_addmessage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msgnum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= 50002,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@severity = 16, 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msgtext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= </a:t>
            </a:r>
          </a:p>
          <a:p>
            <a:r>
              <a:rPr lang="en-CA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N'The</a:t>
            </a:r>
            <a:r>
              <a:rPr lang="en-CA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product named %s already exists in %d.'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, 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lang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</a:t>
            </a:r>
            <a:r>
              <a:rPr lang="en-CA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us_english</a:t>
            </a:r>
            <a:r>
              <a:rPr lang="en-CA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;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EXEC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sp_addmessage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msgnum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= 50002,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  @severity = 16, 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msgtext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=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CA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N' %1! de </a:t>
            </a:r>
            <a:r>
              <a:rPr lang="en-CA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produit</a:t>
            </a:r>
            <a:r>
              <a:rPr lang="en-CA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existent déjà </a:t>
            </a:r>
            <a:r>
              <a:rPr lang="en-CA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dans</a:t>
            </a:r>
            <a:r>
              <a:rPr lang="en-CA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%2!'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, 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lang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'French'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; </a:t>
            </a:r>
          </a:p>
          <a:p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  <a:endParaRPr lang="en-CA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2057400" y="3581400"/>
            <a:ext cx="1981200" cy="1828800"/>
          </a:xfrm>
          <a:prstGeom prst="straightConnector1">
            <a:avLst/>
          </a:prstGeom>
          <a:ln w="22225">
            <a:solidFill>
              <a:srgbClr val="FFFF00"/>
            </a:solidFill>
            <a:headEnd type="arrow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7848600" y="3505200"/>
            <a:ext cx="228600" cy="1828800"/>
          </a:xfrm>
          <a:prstGeom prst="straightConnector1">
            <a:avLst/>
          </a:prstGeom>
          <a:ln w="22225">
            <a:solidFill>
              <a:srgbClr val="FFFF00"/>
            </a:solidFill>
            <a:headEnd type="arrow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52400"/>
            <a:ext cx="7790688" cy="2057400"/>
          </a:xfrm>
        </p:spPr>
        <p:txBody>
          <a:bodyPr/>
          <a:lstStyle/>
          <a:p>
            <a:r>
              <a:rPr lang="en-US" dirty="0" smtClean="0"/>
              <a:t>You send an error message by executing the </a:t>
            </a:r>
            <a:r>
              <a:rPr lang="en-US" dirty="0" smtClean="0">
                <a:solidFill>
                  <a:srgbClr val="0070C0"/>
                </a:solidFill>
              </a:rPr>
              <a:t>RAISERROR</a:t>
            </a:r>
            <a:r>
              <a:rPr lang="en-US" dirty="0" smtClean="0"/>
              <a:t> command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219200" y="1600200"/>
            <a:ext cx="7543800" cy="19389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RAISERROR ( { 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msg_id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| 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msg_str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| @</a:t>
            </a:r>
            <a:r>
              <a:rPr lang="en-CA" sz="2400" b="1" dirty="0" err="1" smtClean="0">
                <a:latin typeface="Courier New" pitchFamily="49" charset="0"/>
                <a:cs typeface="Courier New" pitchFamily="49" charset="0"/>
              </a:rPr>
              <a:t>local_variable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}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 { ,severity ,state }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 [ ,argument [ ,...n ] ] ) </a:t>
            </a:r>
          </a:p>
          <a:p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    [ WITH option [ ,...n ] ]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16830" y="5029200"/>
            <a:ext cx="792717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RAISERROR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(60000,1,1,15,</a:t>
            </a:r>
            <a:r>
              <a:rPr lang="en-CA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'param1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',</a:t>
            </a:r>
            <a:r>
              <a:rPr lang="en-CA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'param2</a:t>
            </a:r>
            <a:r>
              <a:rPr lang="en-CA" sz="2400" b="1" dirty="0" smtClean="0">
                <a:latin typeface="Courier New" pitchFamily="49" charset="0"/>
                <a:cs typeface="Courier New" pitchFamily="49" charset="0"/>
              </a:rPr>
              <a:t>') 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ight Brace 6"/>
          <p:cNvSpPr/>
          <p:nvPr/>
        </p:nvSpPr>
        <p:spPr>
          <a:xfrm rot="5400000">
            <a:off x="6438900" y="4152900"/>
            <a:ext cx="457200" cy="327660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5867400" y="6019800"/>
            <a:ext cx="1905000" cy="533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Parameters</a:t>
            </a:r>
            <a:endParaRPr lang="en-CA" b="1" dirty="0"/>
          </a:p>
        </p:txBody>
      </p:sp>
      <p:sp>
        <p:nvSpPr>
          <p:cNvPr id="9" name="Rectangle 8"/>
          <p:cNvSpPr/>
          <p:nvPr/>
        </p:nvSpPr>
        <p:spPr>
          <a:xfrm>
            <a:off x="7239000" y="1828800"/>
            <a:ext cx="14478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 to 255</a:t>
            </a:r>
            <a:endParaRPr lang="en-CA" dirty="0"/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>
            <a:off x="5181600" y="2057400"/>
            <a:ext cx="2057400" cy="3048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019800" y="3581400"/>
            <a:ext cx="2971800" cy="838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LOG  , NOWAIT , SETERROR</a:t>
            </a:r>
            <a:endParaRPr lang="en-CA" b="1" dirty="0"/>
          </a:p>
        </p:txBody>
      </p:sp>
      <p:cxnSp>
        <p:nvCxnSpPr>
          <p:cNvPr id="16" name="Straight Arrow Connector 15"/>
          <p:cNvCxnSpPr>
            <a:stCxn id="14" idx="1"/>
          </p:cNvCxnSpPr>
          <p:nvPr/>
        </p:nvCxnSpPr>
        <p:spPr>
          <a:xfrm flipH="1" flipV="1">
            <a:off x="3962400" y="3505200"/>
            <a:ext cx="2057400" cy="4953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Error Handling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47800"/>
            <a:ext cx="7790688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0070C0"/>
                </a:solidFill>
              </a:rPr>
              <a:t>TRY</a:t>
            </a:r>
            <a:r>
              <a:rPr lang="en-US" dirty="0" smtClean="0"/>
              <a:t>. . .</a:t>
            </a:r>
            <a:r>
              <a:rPr lang="en-US" dirty="0" smtClean="0">
                <a:solidFill>
                  <a:srgbClr val="0070C0"/>
                </a:solidFill>
              </a:rPr>
              <a:t>CATCH</a:t>
            </a:r>
            <a:r>
              <a:rPr lang="en-US" dirty="0" smtClean="0"/>
              <a:t> block  error is used for handling </a:t>
            </a:r>
            <a:r>
              <a:rPr lang="en-US" dirty="0" smtClean="0"/>
              <a:t>errors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0070C0"/>
                </a:solidFill>
              </a:rPr>
              <a:t>TRY</a:t>
            </a:r>
            <a:r>
              <a:rPr lang="en-US" dirty="0" smtClean="0"/>
              <a:t>. . .</a:t>
            </a:r>
            <a:r>
              <a:rPr lang="en-US" dirty="0" smtClean="0">
                <a:solidFill>
                  <a:srgbClr val="0070C0"/>
                </a:solidFill>
              </a:rPr>
              <a:t>CATCH</a:t>
            </a:r>
            <a:r>
              <a:rPr lang="en-US" dirty="0" smtClean="0"/>
              <a:t> block has two components :</a:t>
            </a:r>
          </a:p>
          <a:p>
            <a:pPr lvl="1"/>
            <a:r>
              <a:rPr lang="en-US" dirty="0" smtClean="0"/>
              <a:t>The </a:t>
            </a:r>
            <a:r>
              <a:rPr lang="en-US" dirty="0" smtClean="0">
                <a:solidFill>
                  <a:srgbClr val="0070C0"/>
                </a:solidFill>
              </a:rPr>
              <a:t>TRY</a:t>
            </a:r>
            <a:r>
              <a:rPr lang="en-US" dirty="0" smtClean="0"/>
              <a:t> block is used to wrap code in which you want to trap and handle errors. </a:t>
            </a:r>
          </a:p>
          <a:p>
            <a:pPr lvl="1"/>
            <a:r>
              <a:rPr lang="en-US" dirty="0" smtClean="0"/>
              <a:t>The </a:t>
            </a:r>
            <a:r>
              <a:rPr lang="en-US" dirty="0" smtClean="0">
                <a:solidFill>
                  <a:srgbClr val="0070C0"/>
                </a:solidFill>
              </a:rPr>
              <a:t>CATCH</a:t>
            </a:r>
            <a:r>
              <a:rPr lang="en-US" dirty="0" smtClean="0"/>
              <a:t> block is used to handle the </a:t>
            </a:r>
            <a:r>
              <a:rPr lang="en-US" dirty="0" smtClean="0"/>
              <a:t>error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TRY. . .CATCH is implemented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371600"/>
            <a:ext cx="7790688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An error with a severity &gt;10  and &lt; 20 within the </a:t>
            </a:r>
            <a:r>
              <a:rPr lang="en-US" dirty="0" smtClean="0">
                <a:solidFill>
                  <a:srgbClr val="0070C0"/>
                </a:solidFill>
              </a:rPr>
              <a:t>TRY</a:t>
            </a:r>
            <a:r>
              <a:rPr lang="en-US" dirty="0" smtClean="0"/>
              <a:t> block, passes control to the corresponding </a:t>
            </a:r>
            <a:r>
              <a:rPr lang="en-US" dirty="0" smtClean="0">
                <a:solidFill>
                  <a:srgbClr val="0070C0"/>
                </a:solidFill>
              </a:rPr>
              <a:t>CATCH</a:t>
            </a:r>
            <a:r>
              <a:rPr lang="en-US" dirty="0" smtClean="0"/>
              <a:t> </a:t>
            </a:r>
            <a:r>
              <a:rPr lang="en-US" dirty="0" smtClean="0"/>
              <a:t>block</a:t>
            </a:r>
            <a:endParaRPr lang="en-US" dirty="0" smtClean="0"/>
          </a:p>
          <a:p>
            <a:r>
              <a:rPr lang="en-US" dirty="0" smtClean="0"/>
              <a:t>Errors within </a:t>
            </a:r>
            <a:r>
              <a:rPr lang="en-US" dirty="0" smtClean="0">
                <a:solidFill>
                  <a:srgbClr val="0070C0"/>
                </a:solidFill>
              </a:rPr>
              <a:t>CATCH</a:t>
            </a:r>
            <a:r>
              <a:rPr lang="en-US" dirty="0" smtClean="0"/>
              <a:t> block cause the transaction to be aborted and the error is returned to the calling application unless the </a:t>
            </a:r>
            <a:r>
              <a:rPr lang="en-US" dirty="0" smtClean="0">
                <a:solidFill>
                  <a:srgbClr val="0070C0"/>
                </a:solidFill>
              </a:rPr>
              <a:t>CATCH</a:t>
            </a:r>
            <a:r>
              <a:rPr lang="en-US" dirty="0" smtClean="0"/>
              <a:t> block is nested within another </a:t>
            </a:r>
            <a:r>
              <a:rPr lang="en-US" dirty="0" smtClean="0">
                <a:solidFill>
                  <a:srgbClr val="0070C0"/>
                </a:solidFill>
              </a:rPr>
              <a:t>TRY</a:t>
            </a:r>
            <a:r>
              <a:rPr lang="en-US" dirty="0" smtClean="0"/>
              <a:t> </a:t>
            </a:r>
            <a:r>
              <a:rPr lang="en-US" dirty="0" smtClean="0"/>
              <a:t>block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0070C0"/>
                </a:solidFill>
              </a:rPr>
              <a:t>CATCH</a:t>
            </a:r>
            <a:r>
              <a:rPr lang="en-US" dirty="0" smtClean="0"/>
              <a:t> block must immediately follow the </a:t>
            </a:r>
            <a:r>
              <a:rPr lang="en-US" dirty="0" smtClean="0">
                <a:solidFill>
                  <a:srgbClr val="0070C0"/>
                </a:solidFill>
              </a:rPr>
              <a:t>TRY</a:t>
            </a:r>
            <a:r>
              <a:rPr lang="en-US" dirty="0" smtClean="0"/>
              <a:t> </a:t>
            </a:r>
            <a:r>
              <a:rPr lang="en-US" dirty="0" smtClean="0"/>
              <a:t>block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52400"/>
            <a:ext cx="7790688" cy="6553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If a transaction is in a committable state within the </a:t>
            </a:r>
            <a:r>
              <a:rPr lang="en-US" dirty="0" smtClean="0">
                <a:solidFill>
                  <a:srgbClr val="0070C0"/>
                </a:solidFill>
              </a:rPr>
              <a:t>CATCH</a:t>
            </a:r>
            <a:r>
              <a:rPr lang="en-US" dirty="0" smtClean="0"/>
              <a:t> block, you can commit </a:t>
            </a:r>
            <a:r>
              <a:rPr lang="en-US" dirty="0" smtClean="0"/>
              <a:t>it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0070C0"/>
                </a:solidFill>
              </a:rPr>
              <a:t>RAISERROR</a:t>
            </a:r>
            <a:r>
              <a:rPr lang="en-US" dirty="0" smtClean="0"/>
              <a:t> executed in the </a:t>
            </a:r>
            <a:r>
              <a:rPr lang="en-US" dirty="0" smtClean="0">
                <a:solidFill>
                  <a:srgbClr val="0070C0"/>
                </a:solidFill>
              </a:rPr>
              <a:t>TRY</a:t>
            </a:r>
            <a:r>
              <a:rPr lang="en-US" dirty="0" smtClean="0"/>
              <a:t> block immediately passes control to the </a:t>
            </a:r>
            <a:r>
              <a:rPr lang="en-US" dirty="0" smtClean="0">
                <a:solidFill>
                  <a:srgbClr val="0070C0"/>
                </a:solidFill>
              </a:rPr>
              <a:t>CATCH</a:t>
            </a:r>
            <a:r>
              <a:rPr lang="en-US" dirty="0" smtClean="0"/>
              <a:t> block without returning an error message to the </a:t>
            </a:r>
            <a:r>
              <a:rPr lang="en-US" dirty="0" smtClean="0"/>
              <a:t>application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0070C0"/>
                </a:solidFill>
              </a:rPr>
              <a:t>RAISERROR</a:t>
            </a:r>
            <a:r>
              <a:rPr lang="en-US" dirty="0" smtClean="0"/>
              <a:t> executed in the </a:t>
            </a:r>
            <a:r>
              <a:rPr lang="en-US" dirty="0" smtClean="0">
                <a:solidFill>
                  <a:srgbClr val="0070C0"/>
                </a:solidFill>
              </a:rPr>
              <a:t>CATCH</a:t>
            </a:r>
            <a:r>
              <a:rPr lang="en-US" dirty="0" smtClean="0"/>
              <a:t> block closes the transaction and returns control to the calling application with the specified error </a:t>
            </a:r>
            <a:r>
              <a:rPr lang="en-US" dirty="0" smtClean="0"/>
              <a:t>message</a:t>
            </a:r>
            <a:endParaRPr lang="en-US" dirty="0" smtClean="0"/>
          </a:p>
          <a:p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762000"/>
            <a:ext cx="7714488" cy="5486400"/>
          </a:xfrm>
        </p:spPr>
        <p:txBody>
          <a:bodyPr/>
          <a:lstStyle/>
          <a:p>
            <a:r>
              <a:rPr lang="en-US" dirty="0" smtClean="0"/>
              <a:t>If a </a:t>
            </a:r>
            <a:r>
              <a:rPr lang="en-US" dirty="0" smtClean="0">
                <a:solidFill>
                  <a:srgbClr val="0070C0"/>
                </a:solidFill>
              </a:rPr>
              <a:t>RAISERROR</a:t>
            </a:r>
            <a:r>
              <a:rPr lang="en-US" dirty="0" smtClean="0"/>
              <a:t> is not executed within the </a:t>
            </a:r>
            <a:r>
              <a:rPr lang="en-US" dirty="0" smtClean="0">
                <a:solidFill>
                  <a:srgbClr val="0070C0"/>
                </a:solidFill>
              </a:rPr>
              <a:t>CATCH</a:t>
            </a:r>
            <a:r>
              <a:rPr lang="en-US" dirty="0" smtClean="0"/>
              <a:t> block, the calling application never receives an error </a:t>
            </a:r>
            <a:r>
              <a:rPr lang="en-US" dirty="0" smtClean="0"/>
              <a:t>message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0070C0"/>
                </a:solidFill>
              </a:rPr>
              <a:t>TRY</a:t>
            </a:r>
            <a:r>
              <a:rPr lang="en-US" dirty="0" smtClean="0"/>
              <a:t>. . .</a:t>
            </a:r>
            <a:r>
              <a:rPr lang="en-US" dirty="0" smtClean="0">
                <a:solidFill>
                  <a:srgbClr val="0070C0"/>
                </a:solidFill>
              </a:rPr>
              <a:t>CATCH</a:t>
            </a:r>
            <a:r>
              <a:rPr lang="en-US" dirty="0" smtClean="0"/>
              <a:t> block does not trap errors that cause the connection to be terminated(&gt;=20)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381000"/>
            <a:ext cx="7790688" cy="6248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Functions that are accessible in  CATCH</a:t>
            </a:r>
            <a:r>
              <a:rPr lang="en-US" dirty="0" smtClean="0"/>
              <a:t>: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ERROR_NUMBER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ERROR_MESSAGE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ERROR_SEVERITY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ERROR_STATE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ERROR_PROCEDURE</a:t>
            </a:r>
            <a:r>
              <a:rPr lang="en-US" dirty="0" smtClean="0"/>
              <a:t>()   The function, trigger, or procedure name that was executing when the error occurred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ERROR_LINE</a:t>
            </a:r>
            <a:r>
              <a:rPr lang="en-US" dirty="0" smtClean="0"/>
              <a:t>()   The line of code within the function, trigger, or procedure that caused the error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9200" y="304800"/>
            <a:ext cx="7543800" cy="44012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BEGIN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TRY</a:t>
            </a: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Generate a divide-by-zero error.</a:t>
            </a: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1/0;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END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TRY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BEGIN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CATCH</a:t>
            </a: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CA" sz="20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ERROR_NUMBER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ErrorNumber</a:t>
            </a:r>
            <a:endParaRPr lang="en-CA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      ,</a:t>
            </a:r>
            <a:r>
              <a:rPr lang="en-CA" sz="20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ERROR_SEVERITY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ErrorSeverity</a:t>
            </a:r>
            <a:endParaRPr lang="en-CA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      ,</a:t>
            </a:r>
            <a:r>
              <a:rPr lang="en-CA" sz="20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ERROR_STATE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ErrorState</a:t>
            </a:r>
            <a:endParaRPr lang="en-CA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      ,</a:t>
            </a:r>
            <a:r>
              <a:rPr lang="en-CA" sz="20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ERROR_PROCEDURE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ErrorProcedure</a:t>
            </a:r>
            <a:endParaRPr lang="en-CA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      ,</a:t>
            </a:r>
            <a:r>
              <a:rPr lang="en-CA" sz="20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ERROR_LINE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ErrorLine</a:t>
            </a:r>
            <a:endParaRPr lang="en-CA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      ,</a:t>
            </a:r>
            <a:r>
              <a:rPr lang="en-CA" sz="20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ERROR_MESSAGE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ErrorMessage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END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</a:p>
        </p:txBody>
      </p:sp>
      <p:pic>
        <p:nvPicPr>
          <p:cNvPr id="6" name="Picture 5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7275" y="5638800"/>
            <a:ext cx="7705725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95400" y="304800"/>
            <a:ext cx="7620000" cy="5632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Create a stored procedure that will </a:t>
            </a:r>
          </a:p>
          <a:p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cause an error.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PROCEDURE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usp_ExampleProc</a:t>
            </a: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NonexistentTable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</a:p>
          <a:p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BEGIN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TRY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EXECUTE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usp_ExampleProc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END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TRY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BEGIN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CATCH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4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ERROR_NUMBER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() AS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ErrorNumber</a:t>
            </a: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  ,</a:t>
            </a:r>
            <a:r>
              <a:rPr lang="en-US" sz="24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ERROR_MESSAGE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() AS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ErrorMessage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END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0"/>
            <a:ext cx="7498080" cy="1143000"/>
          </a:xfrm>
        </p:spPr>
        <p:txBody>
          <a:bodyPr/>
          <a:lstStyle/>
          <a:p>
            <a:r>
              <a:rPr lang="en-CA" dirty="0" smtClean="0"/>
              <a:t>THROW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2514600"/>
            <a:ext cx="7714488" cy="2971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THROW</a:t>
            </a:r>
            <a:r>
              <a:rPr lang="en-US" dirty="0" smtClean="0"/>
              <a:t> does not use parentheses to delimit parameters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THROW</a:t>
            </a:r>
            <a:r>
              <a:rPr lang="en-US" dirty="0" smtClean="0"/>
              <a:t> can be used without parameters, but only in the </a:t>
            </a:r>
            <a:r>
              <a:rPr lang="en-US" dirty="0" smtClean="0">
                <a:solidFill>
                  <a:srgbClr val="0070C0"/>
                </a:solidFill>
              </a:rPr>
              <a:t>CATCH</a:t>
            </a:r>
            <a:r>
              <a:rPr lang="en-US" dirty="0" smtClean="0"/>
              <a:t> block</a:t>
            </a:r>
          </a:p>
          <a:p>
            <a:r>
              <a:rPr lang="en-US" dirty="0" smtClean="0"/>
              <a:t>The state parameter must be an integer that ranges from 0 to 255</a:t>
            </a:r>
          </a:p>
          <a:p>
            <a:r>
              <a:rPr lang="en-US" dirty="0" smtClean="0"/>
              <a:t>There is no severity parameter; the severity is always set to 16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447800" y="1066800"/>
            <a:ext cx="731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smtClean="0"/>
              <a:t>THROW [ { </a:t>
            </a:r>
            <a:r>
              <a:rPr lang="en-CA" dirty="0" err="1" smtClean="0"/>
              <a:t>error_number</a:t>
            </a:r>
            <a:r>
              <a:rPr lang="en-CA" dirty="0" smtClean="0"/>
              <a:t> | @</a:t>
            </a:r>
            <a:r>
              <a:rPr lang="en-CA" dirty="0" err="1" smtClean="0"/>
              <a:t>local_variable</a:t>
            </a:r>
            <a:r>
              <a:rPr lang="en-CA" dirty="0" smtClean="0"/>
              <a:t> }, </a:t>
            </a:r>
          </a:p>
          <a:p>
            <a:r>
              <a:rPr lang="en-CA" dirty="0" smtClean="0"/>
              <a:t>{ message | @</a:t>
            </a:r>
            <a:r>
              <a:rPr lang="en-CA" dirty="0" err="1" smtClean="0"/>
              <a:t>local_variable</a:t>
            </a:r>
            <a:r>
              <a:rPr lang="en-CA" dirty="0" smtClean="0"/>
              <a:t> }, </a:t>
            </a:r>
          </a:p>
          <a:p>
            <a:r>
              <a:rPr lang="en-CA" dirty="0" smtClean="0"/>
              <a:t>{ state | @</a:t>
            </a:r>
            <a:r>
              <a:rPr lang="en-CA" dirty="0" err="1" smtClean="0"/>
              <a:t>local_variable</a:t>
            </a:r>
            <a:r>
              <a:rPr lang="en-CA" dirty="0" smtClean="0"/>
              <a:t> } </a:t>
            </a:r>
          </a:p>
          <a:p>
            <a:r>
              <a:rPr lang="en-CA" dirty="0" smtClean="0"/>
              <a:t>] [ ; ]</a:t>
            </a:r>
            <a:endParaRPr lang="en-CA" dirty="0"/>
          </a:p>
        </p:txBody>
      </p:sp>
      <p:sp>
        <p:nvSpPr>
          <p:cNvPr id="5" name="Rectangle 4"/>
          <p:cNvSpPr/>
          <p:nvPr/>
        </p:nvSpPr>
        <p:spPr>
          <a:xfrm>
            <a:off x="1676400" y="5715000"/>
            <a:ext cx="67056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THROW 50000, 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'Error in stored procedure'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, 0;</a:t>
            </a:r>
            <a:endParaRPr lang="en-CA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2597</TotalTime>
  <Words>2275</Words>
  <Application>Microsoft Office PowerPoint</Application>
  <PresentationFormat>On-screen Show (4:3)</PresentationFormat>
  <Paragraphs>397</Paragraphs>
  <Slides>44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Solstice</vt:lpstr>
      <vt:lpstr>Lesson 10</vt:lpstr>
      <vt:lpstr>Stored Procedures</vt:lpstr>
      <vt:lpstr>Stored Procedures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Variables</vt:lpstr>
      <vt:lpstr>PowerPoint Presentation</vt:lpstr>
      <vt:lpstr>PowerPoint Presentation</vt:lpstr>
      <vt:lpstr>PowerPoint Presentation</vt:lpstr>
      <vt:lpstr>PowerPoint Presentation</vt:lpstr>
      <vt:lpstr>Parameters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Control Flow Constructs</vt:lpstr>
      <vt:lpstr>RETURN</vt:lpstr>
      <vt:lpstr>IF. . .ELSE</vt:lpstr>
      <vt:lpstr>BEGIN. . .END</vt:lpstr>
      <vt:lpstr>WHILE</vt:lpstr>
      <vt:lpstr>BREAK and CONTINUE </vt:lpstr>
      <vt:lpstr>WAITFOR</vt:lpstr>
      <vt:lpstr>GOTO</vt:lpstr>
      <vt:lpstr>Error Messages</vt:lpstr>
      <vt:lpstr>1) Error Number</vt:lpstr>
      <vt:lpstr>2) Severity level</vt:lpstr>
      <vt:lpstr>3) Error Message</vt:lpstr>
      <vt:lpstr>PowerPoint Presentation</vt:lpstr>
      <vt:lpstr>PowerPoint Presentation</vt:lpstr>
      <vt:lpstr>PowerPoint Presentation</vt:lpstr>
      <vt:lpstr>PowerPoint Presentation</vt:lpstr>
      <vt:lpstr>Error Handling</vt:lpstr>
      <vt:lpstr>TRY. . .CATCH is implemented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THROW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Habib</dc:creator>
  <cp:lastModifiedBy>Andrei</cp:lastModifiedBy>
  <cp:revision>170</cp:revision>
  <dcterms:created xsi:type="dcterms:W3CDTF">2006-08-16T00:00:00Z</dcterms:created>
  <dcterms:modified xsi:type="dcterms:W3CDTF">2017-06-09T00:16:37Z</dcterms:modified>
</cp:coreProperties>
</file>