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9"/>
  </p:notesMasterIdLst>
  <p:sldIdLst>
    <p:sldId id="256" r:id="rId2"/>
    <p:sldId id="321" r:id="rId3"/>
    <p:sldId id="320" r:id="rId4"/>
    <p:sldId id="300" r:id="rId5"/>
    <p:sldId id="336" r:id="rId6"/>
    <p:sldId id="315" r:id="rId7"/>
    <p:sldId id="337" r:id="rId8"/>
    <p:sldId id="316" r:id="rId9"/>
    <p:sldId id="317" r:id="rId10"/>
    <p:sldId id="318" r:id="rId11"/>
    <p:sldId id="331" r:id="rId12"/>
    <p:sldId id="332" r:id="rId13"/>
    <p:sldId id="333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269" r:id="rId23"/>
    <p:sldId id="270" r:id="rId24"/>
    <p:sldId id="271" r:id="rId25"/>
    <p:sldId id="272" r:id="rId26"/>
    <p:sldId id="335" r:id="rId27"/>
    <p:sldId id="304" r:id="rId28"/>
    <p:sldId id="305" r:id="rId29"/>
    <p:sldId id="311" r:id="rId30"/>
    <p:sldId id="309" r:id="rId31"/>
    <p:sldId id="310" r:id="rId32"/>
    <p:sldId id="293" r:id="rId33"/>
    <p:sldId id="294" r:id="rId34"/>
    <p:sldId id="297" r:id="rId35"/>
    <p:sldId id="312" r:id="rId36"/>
    <p:sldId id="313" r:id="rId37"/>
    <p:sldId id="314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F552B-4A8F-42B3-9BEC-0E085F64B32F}" type="datetimeFigureOut">
              <a:rPr lang="en-CA" smtClean="0"/>
              <a:pPr/>
              <a:t>2024-01-24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24946-7BBD-4209-8367-C611DB3CC52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356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B24946-7BBD-4209-8367-C611DB3CC52E}" type="slidenum">
              <a:rPr lang="en-CA" smtClean="0"/>
              <a:pPr/>
              <a:t>27</a:t>
            </a:fld>
            <a:endParaRPr lang="en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1/24/2024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Lesson 1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u="sng" dirty="0"/>
              <a:t>Introduction to MS SQL Server</a:t>
            </a:r>
            <a:endParaRPr lang="en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1600200"/>
            <a:ext cx="7772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Create Database Objects (25%)</a:t>
            </a:r>
            <a:endParaRPr lang="en-CA" sz="2400" dirty="0"/>
          </a:p>
          <a:p>
            <a:pPr marL="342900" lvl="0" indent="-342900">
              <a:buClr>
                <a:srgbClr val="00B0F0"/>
              </a:buClr>
              <a:buFont typeface="Gill Sans MT" pitchFamily="34" charset="0"/>
              <a:buChar char="•"/>
            </a:pPr>
            <a:r>
              <a:rPr lang="en-CA" sz="2400" dirty="0"/>
              <a:t>Create and alter tables using T-SQL syntax </a:t>
            </a:r>
          </a:p>
          <a:p>
            <a:pPr marL="342900" lvl="0" indent="-342900">
              <a:buClr>
                <a:srgbClr val="00B0F0"/>
              </a:buClr>
              <a:buFont typeface="Gill Sans MT" pitchFamily="34" charset="0"/>
              <a:buChar char="•"/>
            </a:pPr>
            <a:r>
              <a:rPr lang="en-CA" sz="2400" dirty="0"/>
              <a:t>Create and alter views</a:t>
            </a:r>
          </a:p>
          <a:p>
            <a:pPr marL="342900" lvl="0" indent="-342900">
              <a:buClr>
                <a:srgbClr val="00B0F0"/>
              </a:buClr>
              <a:buFont typeface="Gill Sans MT" pitchFamily="34" charset="0"/>
              <a:buChar char="•"/>
            </a:pPr>
            <a:r>
              <a:rPr lang="en-CA" sz="2400" dirty="0"/>
              <a:t>Create and modify constraints  on tables; </a:t>
            </a:r>
          </a:p>
          <a:p>
            <a:pPr marL="342900" lvl="0" indent="-342900">
              <a:buClr>
                <a:srgbClr val="00B0F0"/>
              </a:buClr>
              <a:buFont typeface="Gill Sans MT" pitchFamily="34" charset="0"/>
              <a:buChar char="•"/>
            </a:pPr>
            <a:r>
              <a:rPr lang="en-CA" sz="2400" dirty="0"/>
              <a:t>Create and alter DML triggers. </a:t>
            </a:r>
          </a:p>
          <a:p>
            <a:pPr marL="342900" lvl="0" indent="-342900">
              <a:buClr>
                <a:srgbClr val="00B0F0"/>
              </a:buClr>
            </a:pPr>
            <a:endParaRPr lang="en-CA" sz="2400"/>
          </a:p>
          <a:p>
            <a:pPr marL="342900" lvl="0" indent="-342900">
              <a:buClr>
                <a:srgbClr val="00B0F0"/>
              </a:buClr>
            </a:pPr>
            <a:endParaRPr lang="en-CA" sz="2400" dirty="0"/>
          </a:p>
          <a:p>
            <a:r>
              <a:rPr lang="en-CA" sz="2400" b="1" dirty="0"/>
              <a:t>Work with Data (35%)</a:t>
            </a:r>
            <a:endParaRPr lang="en-CA" sz="2400" dirty="0"/>
          </a:p>
          <a:p>
            <a:pPr marL="342900" lvl="0" indent="-342900">
              <a:buClr>
                <a:srgbClr val="00B0F0"/>
              </a:buClr>
              <a:buFont typeface="Arial" pitchFamily="34" charset="0"/>
              <a:buChar char="•"/>
            </a:pPr>
            <a:r>
              <a:rPr lang="en-CA" sz="2400" dirty="0"/>
              <a:t>Query data by using SELECT statements. </a:t>
            </a:r>
          </a:p>
          <a:p>
            <a:pPr marL="342900" lvl="0" indent="-342900">
              <a:buClr>
                <a:srgbClr val="00B0F0"/>
              </a:buClr>
              <a:buFont typeface="Arial" pitchFamily="34" charset="0"/>
              <a:buChar char="•"/>
            </a:pPr>
            <a:r>
              <a:rPr lang="en-CA" sz="2400" dirty="0"/>
              <a:t>Implement sub-queries. </a:t>
            </a:r>
          </a:p>
          <a:p>
            <a:pPr marL="342900" lvl="0" indent="-342900">
              <a:buClr>
                <a:srgbClr val="00B0F0"/>
              </a:buClr>
              <a:buFont typeface="Arial" pitchFamily="34" charset="0"/>
              <a:buChar char="•"/>
            </a:pPr>
            <a:r>
              <a:rPr lang="en-CA" sz="2400" dirty="0"/>
              <a:t>Implement data types. </a:t>
            </a:r>
          </a:p>
          <a:p>
            <a:pPr marL="342900" lvl="0" indent="-342900">
              <a:buClr>
                <a:srgbClr val="00B0F0"/>
              </a:buClr>
              <a:buFont typeface="Arial" pitchFamily="34" charset="0"/>
              <a:buChar char="•"/>
            </a:pPr>
            <a:r>
              <a:rPr lang="en-CA" sz="2400" dirty="0"/>
              <a:t>Implement aggregate queries.  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143000" y="304800"/>
            <a:ext cx="7924800" cy="868362"/>
          </a:xfrm>
          <a:prstGeom prst="rect">
            <a:avLst/>
          </a:prstGeom>
        </p:spPr>
        <p:txBody>
          <a:bodyPr/>
          <a:lstStyle/>
          <a:p>
            <a:pPr marL="457200" indent="-457200" algn="ctr"/>
            <a:r>
              <a:rPr lang="en-CA" sz="4000" b="1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Querying MS SQL 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43000" y="914400"/>
            <a:ext cx="7772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Modify Data (20%)</a:t>
            </a:r>
            <a:endParaRPr lang="en-CA" sz="2400" dirty="0"/>
          </a:p>
          <a:p>
            <a:pPr marL="342900" lvl="0" indent="-342900">
              <a:buClr>
                <a:srgbClr val="00B0F0"/>
              </a:buClr>
              <a:buFont typeface="Arial" pitchFamily="34" charset="0"/>
              <a:buChar char="•"/>
            </a:pPr>
            <a:r>
              <a:rPr lang="en-CA" sz="2000" dirty="0"/>
              <a:t>Create and alter Stored Procedures</a:t>
            </a:r>
          </a:p>
          <a:p>
            <a:pPr marL="342900" lvl="0" indent="-342900">
              <a:buClr>
                <a:srgbClr val="00B0F0"/>
              </a:buClr>
              <a:buFont typeface="Arial" pitchFamily="34" charset="0"/>
              <a:buChar char="•"/>
            </a:pPr>
            <a:r>
              <a:rPr lang="en-CA" sz="2000" dirty="0"/>
              <a:t>Modify data by using INSERT, UPDATE, and DELETE</a:t>
            </a:r>
          </a:p>
          <a:p>
            <a:pPr marL="342900" lvl="0" indent="-342900">
              <a:buClr>
                <a:srgbClr val="00B0F0"/>
              </a:buClr>
              <a:buFont typeface="Arial" pitchFamily="34" charset="0"/>
              <a:buChar char="•"/>
            </a:pPr>
            <a:r>
              <a:rPr lang="en-CA" sz="2000" dirty="0"/>
              <a:t>Combine datasets.(UNION ,MERGE )</a:t>
            </a:r>
          </a:p>
          <a:p>
            <a:pPr marL="342900" lvl="0" indent="-342900">
              <a:buClr>
                <a:srgbClr val="00B0F0"/>
              </a:buClr>
              <a:buFont typeface="Arial" pitchFamily="34" charset="0"/>
              <a:buChar char="•"/>
            </a:pPr>
            <a:r>
              <a:rPr lang="en-CA" sz="2000" dirty="0"/>
              <a:t>Work with functions. </a:t>
            </a:r>
          </a:p>
          <a:p>
            <a:pPr marL="342900" lvl="0" indent="-342900">
              <a:buClr>
                <a:srgbClr val="00B0F0"/>
              </a:buClr>
            </a:pPr>
            <a:endParaRPr lang="en-CA" sz="2400" b="1" dirty="0"/>
          </a:p>
          <a:p>
            <a:r>
              <a:rPr lang="en-CA" sz="2400" b="1" dirty="0"/>
              <a:t>Troubleshoot &amp; Optimize (20%)</a:t>
            </a:r>
            <a:endParaRPr lang="en-CA" sz="2400" dirty="0"/>
          </a:p>
          <a:p>
            <a:pPr lvl="0">
              <a:buClr>
                <a:srgbClr val="00B0F0"/>
              </a:buClr>
              <a:buFont typeface="Arial" pitchFamily="34" charset="0"/>
              <a:buChar char="•"/>
            </a:pPr>
            <a:r>
              <a:rPr lang="en-CA" sz="2400" dirty="0"/>
              <a:t>   </a:t>
            </a:r>
            <a:r>
              <a:rPr lang="en-CA" sz="2000" dirty="0"/>
              <a:t>Manage Transactions</a:t>
            </a:r>
          </a:p>
          <a:p>
            <a:pPr lvl="0">
              <a:buClr>
                <a:srgbClr val="00B0F0"/>
              </a:buClr>
              <a:buFont typeface="Arial" pitchFamily="34" charset="0"/>
              <a:buChar char="•"/>
            </a:pPr>
            <a:r>
              <a:rPr lang="en-CA" sz="2000" dirty="0"/>
              <a:t>    Mark a transaction; commit, and rollback;</a:t>
            </a:r>
          </a:p>
          <a:p>
            <a:pPr lvl="0">
              <a:buClr>
                <a:srgbClr val="00B0F0"/>
              </a:buClr>
              <a:buFont typeface="Arial" pitchFamily="34" charset="0"/>
              <a:buChar char="•"/>
            </a:pPr>
            <a:r>
              <a:rPr lang="en-CA" sz="2000" dirty="0"/>
              <a:t>    Implicit /explicit transactions;</a:t>
            </a:r>
          </a:p>
          <a:p>
            <a:pPr lvl="0">
              <a:buClr>
                <a:srgbClr val="00B0F0"/>
              </a:buClr>
              <a:buFont typeface="Arial" pitchFamily="34" charset="0"/>
              <a:buChar char="•"/>
            </a:pPr>
            <a:r>
              <a:rPr lang="en-CA" sz="2000" dirty="0"/>
              <a:t>    Isolation levels; scope and type of locks</a:t>
            </a:r>
          </a:p>
          <a:p>
            <a:pPr lvl="0">
              <a:buClr>
                <a:srgbClr val="00B0F0"/>
              </a:buClr>
              <a:buFont typeface="Arial" pitchFamily="34" charset="0"/>
              <a:buChar char="•"/>
            </a:pPr>
            <a:r>
              <a:rPr lang="en-CA" sz="2000" dirty="0"/>
              <a:t>    Use cursors; impact of scalar UDFs</a:t>
            </a:r>
          </a:p>
          <a:p>
            <a:pPr lvl="0">
              <a:buClr>
                <a:srgbClr val="00B0F0"/>
              </a:buClr>
              <a:buFont typeface="Arial" pitchFamily="34" charset="0"/>
              <a:buChar char="•"/>
            </a:pPr>
            <a:r>
              <a:rPr lang="en-CA" sz="2000" dirty="0"/>
              <a:t>    Combine multiple DML operations</a:t>
            </a:r>
          </a:p>
          <a:p>
            <a:pPr lvl="0">
              <a:buClr>
                <a:srgbClr val="00B0F0"/>
              </a:buClr>
              <a:buFont typeface="Arial" pitchFamily="34" charset="0"/>
              <a:buChar char="•"/>
            </a:pPr>
            <a:r>
              <a:rPr lang="en-CA" sz="2000" dirty="0"/>
              <a:t>    Implement error handling. Implement try/catch/throw;</a:t>
            </a:r>
          </a:p>
          <a:p>
            <a:pPr lvl="0">
              <a:buClr>
                <a:srgbClr val="00B0F0"/>
              </a:buClr>
              <a:buFont typeface="Arial" pitchFamily="34" charset="0"/>
              <a:buChar char="•"/>
            </a:pPr>
            <a:r>
              <a:rPr lang="en-CA" sz="2000" dirty="0"/>
              <a:t>    Optimize queries. understand statistics; read query plans; </a:t>
            </a:r>
          </a:p>
          <a:p>
            <a:pPr lvl="0">
              <a:buClr>
                <a:srgbClr val="00B0F0"/>
              </a:buClr>
              <a:buFont typeface="Arial" pitchFamily="34" charset="0"/>
              <a:buChar char="•"/>
            </a:pPr>
            <a:r>
              <a:rPr lang="en-CA" sz="2000" dirty="0"/>
              <a:t>    Plan guides; DMVs; hints; statistics IO; </a:t>
            </a:r>
          </a:p>
          <a:p>
            <a:endParaRPr lang="en-CA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524000" y="5410200"/>
            <a:ext cx="21336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>
                <a:solidFill>
                  <a:schemeClr val="tx1"/>
                </a:solidFill>
              </a:rPr>
              <a:t>Set Theory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4600" y="5410200"/>
            <a:ext cx="22098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>
                <a:solidFill>
                  <a:schemeClr val="tx1"/>
                </a:solidFill>
              </a:rPr>
              <a:t>Predicate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429000"/>
            <a:ext cx="2362200" cy="838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>
                <a:solidFill>
                  <a:schemeClr val="tx1"/>
                </a:solidFill>
              </a:rPr>
              <a:t>Relational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981200"/>
            <a:ext cx="2362200" cy="76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>
                <a:solidFill>
                  <a:schemeClr val="tx1"/>
                </a:solidFill>
              </a:rPr>
              <a:t>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503068"/>
            <a:ext cx="2362200" cy="685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T-SQL</a:t>
            </a:r>
            <a:endParaRPr lang="en-CA" sz="24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4" idx="0"/>
          </p:cNvCxnSpPr>
          <p:nvPr/>
        </p:nvCxnSpPr>
        <p:spPr>
          <a:xfrm flipV="1">
            <a:off x="2590800" y="4267200"/>
            <a:ext cx="1143000" cy="1143000"/>
          </a:xfrm>
          <a:prstGeom prst="straightConnector1">
            <a:avLst/>
          </a:prstGeom>
          <a:ln w="53975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0"/>
          </p:cNvCxnSpPr>
          <p:nvPr/>
        </p:nvCxnSpPr>
        <p:spPr>
          <a:xfrm flipH="1" flipV="1">
            <a:off x="6019800" y="4267200"/>
            <a:ext cx="1409700" cy="1143000"/>
          </a:xfrm>
          <a:prstGeom prst="straightConnector1">
            <a:avLst/>
          </a:prstGeom>
          <a:ln w="53975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0"/>
            <a:endCxn id="7" idx="2"/>
          </p:cNvCxnSpPr>
          <p:nvPr/>
        </p:nvCxnSpPr>
        <p:spPr>
          <a:xfrm flipV="1">
            <a:off x="4838700" y="2743200"/>
            <a:ext cx="0" cy="685800"/>
          </a:xfrm>
          <a:prstGeom prst="straightConnector1">
            <a:avLst/>
          </a:prstGeom>
          <a:ln w="53975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0"/>
            <a:endCxn id="8" idx="2"/>
          </p:cNvCxnSpPr>
          <p:nvPr/>
        </p:nvCxnSpPr>
        <p:spPr>
          <a:xfrm flipV="1">
            <a:off x="4838700" y="1188868"/>
            <a:ext cx="0" cy="792332"/>
          </a:xfrm>
          <a:prstGeom prst="straightConnector1">
            <a:avLst/>
          </a:prstGeom>
          <a:ln w="53975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3D1ED-546F-401E-AC67-B44596E5B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020762"/>
          </a:xfrm>
        </p:spPr>
        <p:txBody>
          <a:bodyPr/>
          <a:lstStyle/>
          <a:p>
            <a:pPr algn="ctr"/>
            <a:r>
              <a:rPr lang="en-US" dirty="0"/>
              <a:t>Relational Algebra vs SQL</a:t>
            </a:r>
          </a:p>
        </p:txBody>
      </p:sp>
      <p:pic>
        <p:nvPicPr>
          <p:cNvPr id="5" name="Content Placeholder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D72E56C0-A324-414B-95FF-514BC7A52F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100" y="1500517"/>
            <a:ext cx="7499350" cy="4695165"/>
          </a:xfrm>
        </p:spPr>
      </p:pic>
    </p:spTree>
    <p:extLst>
      <p:ext uri="{BB962C8B-B14F-4D97-AF65-F5344CB8AC3E}">
        <p14:creationId xmlns:p14="http://schemas.microsoft.com/office/powerpoint/2010/main" val="2452727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933BE3-A21E-E563-F964-E3A39FEBF888}"/>
              </a:ext>
            </a:extLst>
          </p:cNvPr>
          <p:cNvSpPr txBox="1"/>
          <p:nvPr/>
        </p:nvSpPr>
        <p:spPr>
          <a:xfrm>
            <a:off x="1219200" y="1371600"/>
            <a:ext cx="7848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Microsoft and Sybase released version 1.0 in 1989.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However, the partnership between these two ended in the early 1990s.</a:t>
            </a:r>
          </a:p>
          <a:p>
            <a:br>
              <a:rPr lang="en-US" dirty="0"/>
            </a:br>
            <a:r>
              <a:rPr lang="en-US" dirty="0"/>
              <a:t>Microsoft maintained ownership rights to the name SQL Server.</a:t>
            </a:r>
          </a:p>
          <a:p>
            <a:br>
              <a:rPr lang="en-US" dirty="0"/>
            </a:br>
            <a:r>
              <a:rPr lang="en-US" dirty="0"/>
              <a:t>Since the 1990s, subsequent versions of SQL Server have been released including </a:t>
            </a:r>
            <a:br>
              <a:rPr lang="en-US" dirty="0"/>
            </a:br>
            <a:endParaRPr lang="en-US" dirty="0"/>
          </a:p>
          <a:p>
            <a:r>
              <a:rPr lang="en-US" dirty="0"/>
              <a:t>SQL Server 2000, 2005, 2008, 2012, 2014, 2016, 2017, and 2019.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0772A3-56E4-16A4-0821-17B1E90E34E5}"/>
              </a:ext>
            </a:extLst>
          </p:cNvPr>
          <p:cNvSpPr txBox="1"/>
          <p:nvPr/>
        </p:nvSpPr>
        <p:spPr>
          <a:xfrm>
            <a:off x="1219200" y="381000"/>
            <a:ext cx="723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History of SQL Server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imeline&#10;&#10;Description automatically generated">
            <a:extLst>
              <a:ext uri="{FF2B5EF4-FFF2-40B4-BE49-F238E27FC236}">
                <a16:creationId xmlns:a16="http://schemas.microsoft.com/office/drawing/2014/main" id="{B4EB49A4-3177-4EA3-8060-57CB7F6F2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418208"/>
            <a:ext cx="7840186" cy="402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949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868362"/>
          </a:xfrm>
        </p:spPr>
        <p:txBody>
          <a:bodyPr/>
          <a:lstStyle/>
          <a:p>
            <a:r>
              <a:rPr lang="en-CA" dirty="0"/>
              <a:t>SQL Server Editions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Enterprise edition </a:t>
            </a:r>
          </a:p>
          <a:p>
            <a:r>
              <a:rPr lang="en-US" dirty="0"/>
              <a:t>Standard edition</a:t>
            </a:r>
          </a:p>
          <a:p>
            <a:r>
              <a:rPr lang="en-US" dirty="0"/>
              <a:t>Web Edition</a:t>
            </a:r>
          </a:p>
          <a:p>
            <a:r>
              <a:rPr lang="en-US" dirty="0"/>
              <a:t>Developer edition</a:t>
            </a:r>
          </a:p>
          <a:p>
            <a:r>
              <a:rPr lang="en-US" dirty="0"/>
              <a:t>Express edition</a:t>
            </a:r>
            <a:endParaRPr lang="en-C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52400"/>
            <a:ext cx="7498080" cy="838200"/>
          </a:xfrm>
        </p:spPr>
        <p:txBody>
          <a:bodyPr/>
          <a:lstStyle/>
          <a:p>
            <a:r>
              <a:rPr lang="en-CA" dirty="0"/>
              <a:t>Enterprise Edition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143000"/>
            <a:ext cx="7714488" cy="5486400"/>
          </a:xfrm>
        </p:spPr>
        <p:txBody>
          <a:bodyPr>
            <a:normAutofit/>
          </a:bodyPr>
          <a:lstStyle/>
          <a:p>
            <a:r>
              <a:rPr lang="en-US" sz="2000" dirty="0"/>
              <a:t>Maximum number of cores is subject to the OS being used</a:t>
            </a:r>
          </a:p>
          <a:p>
            <a:r>
              <a:rPr lang="en-US" sz="2000" dirty="0"/>
              <a:t>Advanced high availability can be achieved with </a:t>
            </a:r>
            <a:r>
              <a:rPr lang="en-US" sz="2000" dirty="0" err="1"/>
              <a:t>AlwaysOn</a:t>
            </a:r>
            <a:endParaRPr lang="en-US" sz="2000" dirty="0"/>
          </a:p>
          <a:p>
            <a:r>
              <a:rPr lang="en-US" sz="2000" dirty="0"/>
              <a:t>Support for the new </a:t>
            </a:r>
            <a:r>
              <a:rPr lang="en-US" sz="2000" dirty="0" err="1"/>
              <a:t>columnstore</a:t>
            </a:r>
            <a:r>
              <a:rPr lang="en-US" sz="2000" dirty="0"/>
              <a:t> indexing feature</a:t>
            </a:r>
          </a:p>
          <a:p>
            <a:r>
              <a:rPr lang="en-US" sz="2000" dirty="0"/>
              <a:t>Advanced auditing CDC</a:t>
            </a:r>
          </a:p>
          <a:p>
            <a:r>
              <a:rPr lang="en-US" sz="2000" dirty="0"/>
              <a:t>Transparent Data Encryption (TDE)</a:t>
            </a:r>
          </a:p>
          <a:p>
            <a:r>
              <a:rPr lang="en-US" sz="2000" dirty="0"/>
              <a:t>Compression and partitioning</a:t>
            </a:r>
          </a:p>
          <a:p>
            <a:r>
              <a:rPr lang="en-US" sz="2000" dirty="0"/>
              <a:t>Includes all of the BI edition’s features and capabilities:</a:t>
            </a:r>
          </a:p>
          <a:p>
            <a:r>
              <a:rPr lang="en-US" sz="2000" dirty="0"/>
              <a:t>Reporting</a:t>
            </a:r>
          </a:p>
          <a:p>
            <a:r>
              <a:rPr lang="en-US" sz="2000" dirty="0"/>
              <a:t>Analytics</a:t>
            </a:r>
          </a:p>
          <a:p>
            <a:r>
              <a:rPr lang="en-US" sz="2000" dirty="0"/>
              <a:t>Multidimensional BI semantic model</a:t>
            </a:r>
          </a:p>
          <a:p>
            <a:r>
              <a:rPr lang="en-US" sz="2000" dirty="0"/>
              <a:t>Data-quality services</a:t>
            </a:r>
          </a:p>
          <a:p>
            <a:r>
              <a:rPr lang="en-US" sz="2000" dirty="0"/>
              <a:t>Master data services</a:t>
            </a:r>
          </a:p>
          <a:p>
            <a:r>
              <a:rPr lang="en-US" sz="2000" dirty="0"/>
              <a:t>In-memory tabular BI semantic model</a:t>
            </a:r>
          </a:p>
          <a:p>
            <a:r>
              <a:rPr lang="en-US" sz="2000" dirty="0"/>
              <a:t>Self-service business intelligence</a:t>
            </a:r>
            <a:endParaRPr lang="en-CA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868362"/>
          </a:xfrm>
        </p:spPr>
        <p:txBody>
          <a:bodyPr/>
          <a:lstStyle/>
          <a:p>
            <a:r>
              <a:rPr lang="en-CA" dirty="0"/>
              <a:t>Standard Edition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48768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Spatial support</a:t>
            </a:r>
          </a:p>
          <a:p>
            <a:r>
              <a:rPr lang="en-US" dirty="0" err="1"/>
              <a:t>FileTable</a:t>
            </a:r>
            <a:endParaRPr lang="en-US" dirty="0"/>
          </a:p>
          <a:p>
            <a:r>
              <a:rPr lang="en-US" dirty="0"/>
              <a:t>Policy-based management</a:t>
            </a:r>
          </a:p>
          <a:p>
            <a:r>
              <a:rPr lang="en-US" dirty="0"/>
              <a:t>Corporate business intelligence</a:t>
            </a:r>
          </a:p>
          <a:p>
            <a:r>
              <a:rPr lang="en-US" dirty="0"/>
              <a:t>Reporting</a:t>
            </a:r>
          </a:p>
          <a:p>
            <a:r>
              <a:rPr lang="en-US" dirty="0"/>
              <a:t>Analytics</a:t>
            </a:r>
          </a:p>
          <a:p>
            <a:r>
              <a:rPr lang="en-US" dirty="0"/>
              <a:t>Multidimensional BI semantic model</a:t>
            </a:r>
          </a:p>
          <a:p>
            <a:r>
              <a:rPr lang="en-US" dirty="0"/>
              <a:t>Basic high availability can be achieved with </a:t>
            </a:r>
            <a:r>
              <a:rPr lang="en-US" dirty="0" err="1"/>
              <a:t>AlwaysOn</a:t>
            </a:r>
            <a:r>
              <a:rPr lang="en-US" dirty="0"/>
              <a:t> 2 Node Failover Clustering</a:t>
            </a:r>
          </a:p>
          <a:p>
            <a:r>
              <a:rPr lang="en-US" dirty="0"/>
              <a:t>Up to 24 cores, up to 128 GB of RAM, one virtual machine, and two failover clustering nodes</a:t>
            </a:r>
            <a:endParaRPr lang="en-CA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Developer Edition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2438400"/>
          </a:xfrm>
        </p:spPr>
        <p:txBody>
          <a:bodyPr/>
          <a:lstStyle/>
          <a:p>
            <a:r>
              <a:rPr lang="en-CA" dirty="0"/>
              <a:t>The Developer edition includes all of the features and functionality found in the Enterprise edition</a:t>
            </a:r>
          </a:p>
        </p:txBody>
      </p:sp>
    </p:spTree>
    <p:extLst>
      <p:ext uri="{BB962C8B-B14F-4D97-AF65-F5344CB8AC3E}">
        <p14:creationId xmlns:p14="http://schemas.microsoft.com/office/powerpoint/2010/main" val="1285061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Web Edition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Similar to Express edition</a:t>
            </a:r>
          </a:p>
          <a:p>
            <a:r>
              <a:rPr lang="en-CA" dirty="0"/>
              <a:t>Doesn’t have database size restrictions,</a:t>
            </a:r>
          </a:p>
          <a:p>
            <a:r>
              <a:rPr lang="en-CA" dirty="0"/>
              <a:t>Supports up to 4 CPU or 16 cores</a:t>
            </a:r>
          </a:p>
          <a:p>
            <a:r>
              <a:rPr lang="en-CA" dirty="0"/>
              <a:t>Supports up to 64 GB of memory</a:t>
            </a:r>
          </a:p>
        </p:txBody>
      </p:sp>
    </p:spTree>
    <p:extLst>
      <p:ext uri="{BB962C8B-B14F-4D97-AF65-F5344CB8AC3E}">
        <p14:creationId xmlns:p14="http://schemas.microsoft.com/office/powerpoint/2010/main" val="3956923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Express Edition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Limited to one processor or 4 cores</a:t>
            </a:r>
          </a:p>
          <a:p>
            <a:r>
              <a:rPr lang="en-CA" dirty="0"/>
              <a:t>1 GB of memory, </a:t>
            </a:r>
          </a:p>
          <a:p>
            <a:r>
              <a:rPr lang="en-CA" dirty="0"/>
              <a:t>Maximum database size of 10 GB. </a:t>
            </a:r>
          </a:p>
          <a:p>
            <a:r>
              <a:rPr lang="en-CA" dirty="0"/>
              <a:t>Express is integrated with Microsoft Visual Studio</a:t>
            </a:r>
          </a:p>
        </p:txBody>
      </p:sp>
    </p:spTree>
    <p:extLst>
      <p:ext uri="{BB962C8B-B14F-4D97-AF65-F5344CB8AC3E}">
        <p14:creationId xmlns:p14="http://schemas.microsoft.com/office/powerpoint/2010/main" val="1258733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SQL Server Instances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Each instance of SQL Server contains its own set of :</a:t>
            </a:r>
          </a:p>
          <a:p>
            <a:pPr lvl="1"/>
            <a:r>
              <a:rPr lang="en-US" dirty="0"/>
              <a:t>Databases</a:t>
            </a:r>
          </a:p>
          <a:p>
            <a:pPr lvl="1"/>
            <a:r>
              <a:rPr lang="en-US" dirty="0"/>
              <a:t>Security credentials</a:t>
            </a:r>
          </a:p>
          <a:p>
            <a:pPr lvl="1"/>
            <a:r>
              <a:rPr lang="en-US" dirty="0"/>
              <a:t>Configuration settings</a:t>
            </a:r>
          </a:p>
          <a:p>
            <a:pPr lvl="1"/>
            <a:r>
              <a:rPr lang="en-US" dirty="0"/>
              <a:t>Windows services</a:t>
            </a:r>
          </a:p>
          <a:p>
            <a:pPr lvl="1"/>
            <a:r>
              <a:rPr lang="en-US" dirty="0"/>
              <a:t>All other SQL Server objects.</a:t>
            </a:r>
          </a:p>
          <a:p>
            <a:r>
              <a:rPr lang="en-US" dirty="0"/>
              <a:t>Max 50 instances of SQL Server on a single machine, one default and the rest named instance</a:t>
            </a:r>
            <a:endParaRPr lang="en-CA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914400"/>
            <a:ext cx="7790688" cy="5334000"/>
          </a:xfrm>
        </p:spPr>
        <p:txBody>
          <a:bodyPr/>
          <a:lstStyle/>
          <a:p>
            <a:r>
              <a:rPr lang="en-US" dirty="0"/>
              <a:t>Default instance connection</a:t>
            </a:r>
          </a:p>
          <a:p>
            <a:pPr marL="649224" lvl="2" indent="0">
              <a:buNone/>
            </a:pPr>
            <a:r>
              <a:rPr lang="en-US" dirty="0"/>
              <a:t>Uses the  </a:t>
            </a:r>
            <a:r>
              <a:rPr lang="en-US" dirty="0">
                <a:solidFill>
                  <a:srgbClr val="0070C0"/>
                </a:solidFill>
              </a:rPr>
              <a:t>machine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name </a:t>
            </a:r>
            <a:r>
              <a:rPr lang="en-US" dirty="0"/>
              <a:t>to which the instance is installed.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Named  instance connection</a:t>
            </a:r>
          </a:p>
          <a:p>
            <a:pPr marL="649224" lvl="2" indent="0">
              <a:buNone/>
            </a:pPr>
            <a:r>
              <a:rPr lang="en-US" dirty="0"/>
              <a:t>Uses the combination of the </a:t>
            </a:r>
            <a:r>
              <a:rPr lang="en-US" dirty="0">
                <a:solidFill>
                  <a:srgbClr val="0070C0"/>
                </a:solidFill>
              </a:rPr>
              <a:t>machine name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instance name,</a:t>
            </a:r>
            <a:r>
              <a:rPr lang="en-US" dirty="0"/>
              <a:t> such as</a:t>
            </a:r>
            <a:endParaRPr lang="en-CA" dirty="0"/>
          </a:p>
        </p:txBody>
      </p:sp>
      <p:sp>
        <p:nvSpPr>
          <p:cNvPr id="6" name="Rounded Rectangle 5"/>
          <p:cNvSpPr/>
          <p:nvPr/>
        </p:nvSpPr>
        <p:spPr>
          <a:xfrm>
            <a:off x="2133600" y="4800600"/>
            <a:ext cx="5334000" cy="9144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&lt;</a:t>
            </a:r>
            <a:r>
              <a:rPr lang="en-US" sz="2800" dirty="0" err="1"/>
              <a:t>machinename</a:t>
            </a:r>
            <a:r>
              <a:rPr lang="en-US" sz="2800" dirty="0"/>
              <a:t>&gt;\&lt;</a:t>
            </a:r>
            <a:r>
              <a:rPr lang="en-US" sz="2800" dirty="0" err="1"/>
              <a:t>instancename</a:t>
            </a:r>
            <a:r>
              <a:rPr lang="en-US" sz="2800" dirty="0"/>
              <a:t>&gt;</a:t>
            </a:r>
            <a:endParaRPr lang="en-CA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304800"/>
            <a:ext cx="7620000" cy="6324600"/>
          </a:xfrm>
        </p:spPr>
        <p:txBody>
          <a:bodyPr>
            <a:normAutofit/>
          </a:bodyPr>
          <a:lstStyle/>
          <a:p>
            <a:r>
              <a:rPr lang="en-US" dirty="0"/>
              <a:t>Reasons for more than one instance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Quality Assurance testing or Development</a:t>
            </a:r>
            <a:br>
              <a:rPr lang="en-US" dirty="0"/>
            </a:br>
            <a:r>
              <a:rPr lang="en-US" dirty="0"/>
              <a:t> </a:t>
            </a:r>
          </a:p>
          <a:p>
            <a:pPr lvl="1"/>
            <a:r>
              <a:rPr lang="en-US" dirty="0"/>
              <a:t>Need multiple service pack or patch levels</a:t>
            </a:r>
            <a:br>
              <a:rPr lang="en-US" dirty="0"/>
            </a:br>
            <a:r>
              <a:rPr lang="en-US" dirty="0"/>
              <a:t> </a:t>
            </a:r>
          </a:p>
          <a:p>
            <a:pPr lvl="1"/>
            <a:r>
              <a:rPr lang="en-US" dirty="0"/>
              <a:t>Different groups of administrators are allowed to access only a subset of databases within an organization</a:t>
            </a:r>
            <a:br>
              <a:rPr lang="en-US" dirty="0"/>
            </a:br>
            <a:r>
              <a:rPr lang="en-US" dirty="0"/>
              <a:t> </a:t>
            </a:r>
          </a:p>
          <a:p>
            <a:pPr lvl="1"/>
            <a:r>
              <a:rPr lang="en-US" dirty="0"/>
              <a:t>Multiple sets of SQL Server configuration options required</a:t>
            </a:r>
            <a:endParaRPr lang="en-CA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8001000" cy="944562"/>
          </a:xfrm>
        </p:spPr>
        <p:txBody>
          <a:bodyPr>
            <a:normAutofit/>
          </a:bodyPr>
          <a:lstStyle/>
          <a:p>
            <a:pPr algn="ctr"/>
            <a:r>
              <a:rPr lang="en-CA" dirty="0"/>
              <a:t>SQL Server Configuration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676400"/>
            <a:ext cx="7498080" cy="4876800"/>
          </a:xfrm>
        </p:spPr>
        <p:txBody>
          <a:bodyPr>
            <a:normAutofit/>
          </a:bodyPr>
          <a:lstStyle/>
          <a:p>
            <a:r>
              <a:rPr lang="en-US" dirty="0"/>
              <a:t>SSCM is responsible for managing SQL Server services and protocols. </a:t>
            </a:r>
            <a:r>
              <a:rPr lang="en-US" dirty="0" err="1"/>
              <a:t>i.e</a:t>
            </a:r>
            <a:endParaRPr lang="en-US" dirty="0"/>
          </a:p>
          <a:p>
            <a:pPr lvl="1"/>
            <a:r>
              <a:rPr lang="en-US" dirty="0"/>
              <a:t>Starting, stopping, pausing, and restarting a service </a:t>
            </a:r>
          </a:p>
          <a:p>
            <a:pPr lvl="1"/>
            <a:r>
              <a:rPr lang="en-US" dirty="0"/>
              <a:t>Changing service accounts and service account passwords </a:t>
            </a:r>
          </a:p>
          <a:p>
            <a:pPr lvl="1"/>
            <a:r>
              <a:rPr lang="en-US" dirty="0"/>
              <a:t>Managing the start-up mode of a service </a:t>
            </a:r>
          </a:p>
          <a:p>
            <a:pPr lvl="1"/>
            <a:r>
              <a:rPr lang="en-US" dirty="0"/>
              <a:t>Configuring service start-up parameters</a:t>
            </a:r>
            <a:endParaRPr lang="en-CA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2400" y="4572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</a:rPr>
              <a:t>SQL Server Configuration Manager</a:t>
            </a:r>
            <a:endParaRPr lang="en-CA" sz="3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8BFA2-E6EF-BD09-9794-5F6008645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2E0924-EF82-CEBE-0D84-82DCB1861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23" y="1158628"/>
            <a:ext cx="7714353" cy="567824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868362"/>
          </a:xfrm>
        </p:spPr>
        <p:txBody>
          <a:bodyPr/>
          <a:lstStyle/>
          <a:p>
            <a:pPr algn="ctr"/>
            <a:r>
              <a:rPr lang="en-CA" dirty="0"/>
              <a:t>Authentication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524000"/>
            <a:ext cx="7638288" cy="4724400"/>
          </a:xfrm>
        </p:spPr>
        <p:txBody>
          <a:bodyPr/>
          <a:lstStyle/>
          <a:p>
            <a:pPr marL="0">
              <a:buNone/>
            </a:pPr>
            <a:r>
              <a:rPr lang="en-US" dirty="0"/>
              <a:t>Authentication mode for SQL Server can be set to either</a:t>
            </a:r>
            <a:br>
              <a:rPr lang="en-US" dirty="0"/>
            </a:br>
            <a:endParaRPr lang="en-US" dirty="0"/>
          </a:p>
          <a:p>
            <a:r>
              <a:rPr lang="en-US" dirty="0"/>
              <a:t>Windows Only (integrated security) </a:t>
            </a:r>
            <a:br>
              <a:rPr lang="en-US" dirty="0"/>
            </a:br>
            <a:endParaRPr lang="en-US" dirty="0"/>
          </a:p>
          <a:p>
            <a:r>
              <a:rPr lang="en-US" dirty="0"/>
              <a:t>Windows and SQL Server (mixed mode)</a:t>
            </a:r>
            <a:endParaRPr lang="en-CA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8486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SQL Server Management Studio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676400"/>
            <a:ext cx="7498080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SSMS is an integrated environment for </a:t>
            </a:r>
          </a:p>
          <a:p>
            <a:pPr lvl="1"/>
            <a:r>
              <a:rPr lang="en-US" dirty="0"/>
              <a:t>Accessing</a:t>
            </a:r>
          </a:p>
          <a:p>
            <a:pPr lvl="1"/>
            <a:r>
              <a:rPr lang="en-US" dirty="0"/>
              <a:t>Configuring,</a:t>
            </a:r>
          </a:p>
          <a:p>
            <a:pPr lvl="1"/>
            <a:r>
              <a:rPr lang="en-US" dirty="0"/>
              <a:t>Managing,</a:t>
            </a:r>
          </a:p>
          <a:p>
            <a:pPr lvl="1"/>
            <a:r>
              <a:rPr lang="en-US" dirty="0"/>
              <a:t>Administering</a:t>
            </a:r>
          </a:p>
          <a:p>
            <a:pPr lvl="1"/>
            <a:r>
              <a:rPr lang="en-US" dirty="0"/>
              <a:t>Developing </a:t>
            </a:r>
          </a:p>
          <a:p>
            <a:pPr>
              <a:buNone/>
            </a:pPr>
            <a:r>
              <a:rPr lang="en-US" dirty="0"/>
              <a:t>all components of SQL Server. </a:t>
            </a:r>
            <a:endParaRPr lang="en-CA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28600"/>
            <a:ext cx="868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Microsoft SQL Server Management 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30CC26-D78B-29A7-222B-DEAAFDE7D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76" y="875523"/>
            <a:ext cx="7890047" cy="596286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Transact-SQL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Transact-SQL (</a:t>
            </a:r>
            <a:r>
              <a:rPr lang="en-US" dirty="0">
                <a:solidFill>
                  <a:srgbClr val="0070C0"/>
                </a:solidFill>
              </a:rPr>
              <a:t>TSQL</a:t>
            </a:r>
            <a:r>
              <a:rPr lang="en-US" dirty="0"/>
              <a:t>) is the language used to create objects and access data in Microsoft SQL Server</a:t>
            </a:r>
            <a:br>
              <a:rPr lang="en-US" dirty="0"/>
            </a:br>
            <a:r>
              <a:rPr lang="en-US" dirty="0"/>
              <a:t> </a:t>
            </a:r>
          </a:p>
          <a:p>
            <a:r>
              <a:rPr lang="en-US" dirty="0"/>
              <a:t>TSQL  statement are divided into two distinct parts :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</a:t>
            </a:r>
            <a:r>
              <a:rPr lang="en-US" dirty="0"/>
              <a:t>ata </a:t>
            </a:r>
            <a:r>
              <a:rPr lang="en-US" dirty="0">
                <a:solidFill>
                  <a:srgbClr val="0070C0"/>
                </a:solidFill>
              </a:rPr>
              <a:t>M</a:t>
            </a:r>
            <a:r>
              <a:rPr lang="en-US" dirty="0"/>
              <a:t>anipulation </a:t>
            </a:r>
            <a:r>
              <a:rPr lang="en-US" dirty="0">
                <a:solidFill>
                  <a:srgbClr val="0070C0"/>
                </a:solidFill>
              </a:rPr>
              <a:t>L</a:t>
            </a:r>
            <a:r>
              <a:rPr lang="en-US" dirty="0"/>
              <a:t>anguage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</a:t>
            </a:r>
            <a:r>
              <a:rPr lang="en-US" dirty="0"/>
              <a:t>ata </a:t>
            </a:r>
            <a:r>
              <a:rPr lang="en-US" dirty="0">
                <a:solidFill>
                  <a:srgbClr val="0070C0"/>
                </a:solidFill>
              </a:rPr>
              <a:t>D</a:t>
            </a:r>
            <a:r>
              <a:rPr lang="en-US" dirty="0"/>
              <a:t>efinition </a:t>
            </a:r>
            <a:r>
              <a:rPr lang="en-US" dirty="0">
                <a:solidFill>
                  <a:srgbClr val="0070C0"/>
                </a:solidFill>
              </a:rPr>
              <a:t>L</a:t>
            </a:r>
            <a:r>
              <a:rPr lang="en-US" dirty="0"/>
              <a:t>anguage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609600"/>
            <a:ext cx="7790688" cy="3048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Manipulation Language (</a:t>
            </a:r>
            <a:r>
              <a:rPr lang="en-US" dirty="0">
                <a:solidFill>
                  <a:srgbClr val="0070C0"/>
                </a:solidFill>
              </a:rPr>
              <a:t>DML</a:t>
            </a:r>
            <a:r>
              <a:rPr lang="en-US" dirty="0"/>
              <a:t>) is part of the TSQL language that allows insert, modify, and delete data in tables</a:t>
            </a:r>
            <a:br>
              <a:rPr lang="en-US" dirty="0"/>
            </a:br>
            <a:r>
              <a:rPr lang="en-US" dirty="0"/>
              <a:t> </a:t>
            </a:r>
          </a:p>
          <a:p>
            <a:r>
              <a:rPr lang="en-US" dirty="0"/>
              <a:t>The core DML statements are </a:t>
            </a:r>
            <a:r>
              <a:rPr lang="en-US" dirty="0">
                <a:solidFill>
                  <a:srgbClr val="0070C0"/>
                </a:solidFill>
              </a:rPr>
              <a:t>INSERT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UPDATE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DELETE</a:t>
            </a:r>
            <a:r>
              <a:rPr lang="en-US" dirty="0"/>
              <a:t>, and </a:t>
            </a:r>
            <a:r>
              <a:rPr lang="en-US" dirty="0">
                <a:solidFill>
                  <a:srgbClr val="0070C0"/>
                </a:solidFill>
              </a:rPr>
              <a:t>MERGE</a:t>
            </a:r>
            <a:r>
              <a:rPr lang="en-US" dirty="0"/>
              <a:t>.</a:t>
            </a:r>
            <a:endParaRPr lang="en-CA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20897" y="4191000"/>
            <a:ext cx="5486400" cy="1846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INSERT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INTO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Produce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VALUES</a:t>
            </a:r>
          </a:p>
          <a:p>
            <a:pPr>
              <a:buNone/>
            </a:pPr>
            <a:r>
              <a:rPr lang="en-CA" sz="2400" b="1" dirty="0">
                <a:latin typeface="Courier New" pitchFamily="49" charset="0"/>
                <a:cs typeface="Courier New" pitchFamily="49" charset="0"/>
              </a:rPr>
              <a:t>(1,</a:t>
            </a:r>
            <a:r>
              <a:rPr lang="en-CA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'Tomato'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CA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'Vegetable'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),</a:t>
            </a:r>
          </a:p>
          <a:p>
            <a:pPr>
              <a:buNone/>
            </a:pPr>
            <a:r>
              <a:rPr lang="en-CA" sz="2400" b="1" dirty="0">
                <a:latin typeface="Courier New" pitchFamily="49" charset="0"/>
                <a:cs typeface="Courier New" pitchFamily="49" charset="0"/>
              </a:rPr>
              <a:t>(2,</a:t>
            </a:r>
            <a:r>
              <a:rPr lang="en-CA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'Pear'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,  </a:t>
            </a:r>
            <a:r>
              <a:rPr lang="en-CA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'Fruit'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),</a:t>
            </a:r>
          </a:p>
          <a:p>
            <a:pPr>
              <a:buNone/>
            </a:pPr>
            <a:r>
              <a:rPr lang="en-CA" sz="2400" b="1" dirty="0">
                <a:latin typeface="Courier New" pitchFamily="49" charset="0"/>
                <a:cs typeface="Courier New" pitchFamily="49" charset="0"/>
              </a:rPr>
              <a:t>(3,</a:t>
            </a:r>
            <a:r>
              <a:rPr lang="en-CA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'Apple'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'Fruit'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en-CA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381000"/>
            <a:ext cx="7714488" cy="4038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Definition Language (</a:t>
            </a:r>
            <a:r>
              <a:rPr lang="en-US" dirty="0">
                <a:solidFill>
                  <a:srgbClr val="0070C0"/>
                </a:solidFill>
              </a:rPr>
              <a:t>DDL</a:t>
            </a:r>
            <a:r>
              <a:rPr lang="en-US" dirty="0"/>
              <a:t>) is a part of TSQL that deals with creating database objects</a:t>
            </a:r>
            <a:br>
              <a:rPr lang="en-US" dirty="0"/>
            </a:br>
            <a:endParaRPr lang="en-US" dirty="0"/>
          </a:p>
          <a:p>
            <a:r>
              <a:rPr lang="en-US" dirty="0"/>
              <a:t>DDL statements are used to CREATE, ALTER, and DROP a SQL Server database object, such as a table, view, or stored procedure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133600" y="4724400"/>
            <a:ext cx="5486400" cy="1846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TABLE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Produce</a:t>
            </a:r>
          </a:p>
          <a:p>
            <a:pPr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ProductID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PRIMARY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KEY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ProductName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varchar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(50),</a:t>
            </a:r>
          </a:p>
          <a:p>
            <a:pPr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ProductType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varchar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(20))</a:t>
            </a:r>
          </a:p>
          <a:p>
            <a:endParaRPr lang="en-CA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838200"/>
            <a:ext cx="7638288" cy="5791200"/>
          </a:xfrm>
        </p:spPr>
        <p:txBody>
          <a:bodyPr/>
          <a:lstStyle/>
          <a:p>
            <a:r>
              <a:rPr lang="en-US" dirty="0"/>
              <a:t>The SQL Server Management Studio (</a:t>
            </a:r>
            <a:r>
              <a:rPr lang="en-US" dirty="0">
                <a:solidFill>
                  <a:srgbClr val="0070C0"/>
                </a:solidFill>
              </a:rPr>
              <a:t>SSMS</a:t>
            </a:r>
            <a:r>
              <a:rPr lang="en-US" dirty="0"/>
              <a:t>) user interface allows you to create an underlying DDL statement using the appropriate GUI component</a:t>
            </a:r>
            <a:br>
              <a:rPr lang="en-US" dirty="0"/>
            </a:br>
            <a:r>
              <a:rPr lang="en-US" dirty="0"/>
              <a:t> </a:t>
            </a:r>
          </a:p>
          <a:p>
            <a:r>
              <a:rPr lang="en-US" dirty="0">
                <a:solidFill>
                  <a:srgbClr val="FF0000"/>
                </a:solidFill>
              </a:rPr>
              <a:t>Not all functionality is available within the user interface!!!</a:t>
            </a:r>
          </a:p>
          <a:p>
            <a:endParaRPr lang="en-CA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630" y="2133600"/>
            <a:ext cx="2978370" cy="1461479"/>
          </a:xfrm>
          <a:prstGeom prst="rect">
            <a:avLst/>
          </a:prstGeom>
        </p:spPr>
      </p:pic>
      <p:pic>
        <p:nvPicPr>
          <p:cNvPr id="23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133600"/>
            <a:ext cx="2971800" cy="1496469"/>
          </a:xfrm>
          <a:prstGeom prst="rect">
            <a:avLst/>
          </a:prstGeom>
        </p:spPr>
      </p:pic>
      <p:pic>
        <p:nvPicPr>
          <p:cNvPr id="24" name="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716" y="4151395"/>
            <a:ext cx="2945884" cy="1560905"/>
          </a:xfrm>
          <a:prstGeom prst="rect">
            <a:avLst/>
          </a:prstGeom>
        </p:spPr>
      </p:pic>
      <p:pic>
        <p:nvPicPr>
          <p:cNvPr id="25" name="tab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4151395"/>
            <a:ext cx="3050649" cy="160020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1356200" y="381000"/>
            <a:ext cx="727219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dirty="0"/>
              <a:t>Most relational databases are </a:t>
            </a:r>
            <a:r>
              <a:rPr lang="en-GB" sz="2800" i="1" dirty="0"/>
              <a:t>normalized</a:t>
            </a:r>
            <a:r>
              <a:rPr lang="en-GB" sz="2800" dirty="0"/>
              <a:t>, with relationships defined between tables through </a:t>
            </a:r>
            <a:r>
              <a:rPr lang="en-GB" sz="2800" i="1" dirty="0"/>
              <a:t>primary</a:t>
            </a:r>
            <a:r>
              <a:rPr lang="en-GB" sz="2800" dirty="0"/>
              <a:t> and </a:t>
            </a:r>
            <a:r>
              <a:rPr lang="en-GB" sz="2800" i="1" dirty="0"/>
              <a:t>foreign</a:t>
            </a:r>
            <a:r>
              <a:rPr lang="en-GB" sz="2800" dirty="0"/>
              <a:t> keys</a:t>
            </a:r>
          </a:p>
        </p:txBody>
      </p:sp>
    </p:spTree>
    <p:extLst>
      <p:ext uri="{BB962C8B-B14F-4D97-AF65-F5344CB8AC3E}">
        <p14:creationId xmlns:p14="http://schemas.microsoft.com/office/powerpoint/2010/main" val="993965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Working with </a:t>
            </a:r>
            <a:r>
              <a:rPr lang="en-CA" dirty="0">
                <a:solidFill>
                  <a:srgbClr val="0070C0"/>
                </a:solidFill>
              </a:rPr>
              <a:t>NULL</a:t>
            </a:r>
            <a:r>
              <a:rPr lang="en-CA" dirty="0"/>
              <a:t>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 </a:t>
            </a:r>
            <a:r>
              <a:rPr lang="en-CA" dirty="0">
                <a:solidFill>
                  <a:srgbClr val="0070C0"/>
                </a:solidFill>
              </a:rPr>
              <a:t>NULL</a:t>
            </a:r>
            <a:r>
              <a:rPr lang="en-CA" dirty="0"/>
              <a:t> (value!) is the absence of data in a column. </a:t>
            </a:r>
          </a:p>
          <a:p>
            <a:r>
              <a:rPr lang="en-CA" dirty="0"/>
              <a:t>When the </a:t>
            </a:r>
            <a:r>
              <a:rPr lang="en-CA" dirty="0">
                <a:solidFill>
                  <a:srgbClr val="0070C0"/>
                </a:solidFill>
              </a:rPr>
              <a:t>ANSI_NULLS</a:t>
            </a:r>
            <a:r>
              <a:rPr lang="en-CA" dirty="0"/>
              <a:t> setting is set to </a:t>
            </a:r>
            <a:r>
              <a:rPr lang="en-CA" dirty="0">
                <a:solidFill>
                  <a:srgbClr val="0070C0"/>
                </a:solidFill>
              </a:rPr>
              <a:t>ON</a:t>
            </a:r>
            <a:r>
              <a:rPr lang="en-CA" dirty="0"/>
              <a:t>, the default configuration, you cannot </a:t>
            </a:r>
            <a:r>
              <a:rPr lang="en-CA" u="sng" dirty="0"/>
              <a:t>equate</a:t>
            </a:r>
            <a:r>
              <a:rPr lang="en-CA" dirty="0"/>
              <a:t> values to </a:t>
            </a:r>
            <a:r>
              <a:rPr lang="en-CA" dirty="0">
                <a:solidFill>
                  <a:srgbClr val="0070C0"/>
                </a:solidFill>
              </a:rPr>
              <a:t>NULL</a:t>
            </a:r>
            <a:r>
              <a:rPr lang="en-CA" dirty="0"/>
              <a:t>. </a:t>
            </a:r>
          </a:p>
          <a:p>
            <a:r>
              <a:rPr lang="en-CA" dirty="0"/>
              <a:t>If you try, the server returns “unknown”. </a:t>
            </a:r>
          </a:p>
          <a:p>
            <a:endParaRPr lang="en-CA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7112" y="304800"/>
            <a:ext cx="7638288" cy="2133600"/>
          </a:xfrm>
        </p:spPr>
        <p:txBody>
          <a:bodyPr>
            <a:normAutofit/>
          </a:bodyPr>
          <a:lstStyle/>
          <a:p>
            <a:pPr>
              <a:buNone/>
            </a:pPr>
            <a:endParaRPr lang="en-CA" dirty="0"/>
          </a:p>
          <a:p>
            <a:endParaRPr lang="en-CA" dirty="0"/>
          </a:p>
        </p:txBody>
      </p:sp>
      <p:sp>
        <p:nvSpPr>
          <p:cNvPr id="5" name="TextBox 4"/>
          <p:cNvSpPr txBox="1"/>
          <p:nvPr/>
        </p:nvSpPr>
        <p:spPr>
          <a:xfrm>
            <a:off x="1363462" y="437567"/>
            <a:ext cx="5867400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 ANSI_NULLS OFF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CA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DISTINCT</a:t>
            </a:r>
            <a:r>
              <a:rPr lang="en-CA" sz="2800" b="1" dirty="0">
                <a:latin typeface="Courier New" pitchFamily="49" charset="0"/>
                <a:cs typeface="Courier New" pitchFamily="49" charset="0"/>
              </a:rPr>
              <a:t> region  </a:t>
            </a:r>
          </a:p>
          <a:p>
            <a:r>
              <a:rPr lang="en-CA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800" b="1" dirty="0" err="1">
                <a:latin typeface="Courier New" pitchFamily="49" charset="0"/>
                <a:cs typeface="Courier New" pitchFamily="49" charset="0"/>
              </a:rPr>
              <a:t>Production.Suppliers</a:t>
            </a:r>
            <a:endParaRPr lang="en-CA" sz="28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sz="2800" b="1" dirty="0">
                <a:latin typeface="Courier New" pitchFamily="49" charset="0"/>
                <a:cs typeface="Courier New" pitchFamily="49" charset="0"/>
              </a:rPr>
              <a:t> region &lt;&gt; </a:t>
            </a:r>
            <a:r>
              <a:rPr lang="en-CA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en-CA" sz="28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CA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8998" y="2514600"/>
            <a:ext cx="5867400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CA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DISTINCT</a:t>
            </a:r>
            <a:r>
              <a:rPr lang="en-CA" sz="2800" b="1" dirty="0">
                <a:latin typeface="Courier New" pitchFamily="49" charset="0"/>
                <a:cs typeface="Courier New" pitchFamily="49" charset="0"/>
              </a:rPr>
              <a:t> region  </a:t>
            </a:r>
          </a:p>
          <a:p>
            <a:r>
              <a:rPr lang="en-CA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800" b="1" dirty="0" err="1">
                <a:latin typeface="Courier New" pitchFamily="49" charset="0"/>
                <a:cs typeface="Courier New" pitchFamily="49" charset="0"/>
              </a:rPr>
              <a:t>Production.Suppliers</a:t>
            </a:r>
            <a:endParaRPr lang="en-CA" sz="28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sz="2800" b="1" dirty="0">
                <a:latin typeface="Courier New" pitchFamily="49" charset="0"/>
                <a:cs typeface="Courier New" pitchFamily="49" charset="0"/>
              </a:rPr>
              <a:t> region </a:t>
            </a:r>
            <a:r>
              <a:rPr lang="en-CA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IS NOT NULL</a:t>
            </a:r>
            <a:r>
              <a:rPr lang="en-CA" sz="28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CA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4267200"/>
            <a:ext cx="5867400" cy="18158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 ANSI_NULLS ON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CA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DISTINCT</a:t>
            </a:r>
            <a:r>
              <a:rPr lang="en-CA" sz="2800" b="1" dirty="0">
                <a:latin typeface="Courier New" pitchFamily="49" charset="0"/>
                <a:cs typeface="Courier New" pitchFamily="49" charset="0"/>
              </a:rPr>
              <a:t> region  </a:t>
            </a:r>
          </a:p>
          <a:p>
            <a:r>
              <a:rPr lang="en-CA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800" b="1" dirty="0" err="1">
                <a:latin typeface="Courier New" pitchFamily="49" charset="0"/>
                <a:cs typeface="Courier New" pitchFamily="49" charset="0"/>
              </a:rPr>
              <a:t>Production.Suppliers</a:t>
            </a:r>
            <a:endParaRPr lang="en-CA" sz="28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sz="2800" b="1" dirty="0">
                <a:latin typeface="Courier New" pitchFamily="49" charset="0"/>
                <a:cs typeface="Courier New" pitchFamily="49" charset="0"/>
              </a:rPr>
              <a:t> region &lt;&gt; </a:t>
            </a:r>
            <a:r>
              <a:rPr lang="en-CA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en-CA" sz="28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CA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Left Arrow 7"/>
          <p:cNvSpPr/>
          <p:nvPr/>
        </p:nvSpPr>
        <p:spPr>
          <a:xfrm>
            <a:off x="7467600" y="4800600"/>
            <a:ext cx="1447800" cy="83820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Unknown</a:t>
            </a:r>
            <a:endParaRPr lang="en-CA" b="1" dirty="0"/>
          </a:p>
        </p:txBody>
      </p:sp>
      <p:sp>
        <p:nvSpPr>
          <p:cNvPr id="10" name="Right Brace 9"/>
          <p:cNvSpPr/>
          <p:nvPr/>
        </p:nvSpPr>
        <p:spPr>
          <a:xfrm>
            <a:off x="7391400" y="1143000"/>
            <a:ext cx="304800" cy="2133600"/>
          </a:xfrm>
          <a:prstGeom prst="rightBrace">
            <a:avLst/>
          </a:prstGeom>
          <a:noFill/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ounded Rectangle 10"/>
          <p:cNvSpPr/>
          <p:nvPr/>
        </p:nvSpPr>
        <p:spPr>
          <a:xfrm>
            <a:off x="7696200" y="1905000"/>
            <a:ext cx="1143000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Same Result</a:t>
            </a:r>
            <a:endParaRPr lang="en-CA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Logical Query processing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1676400"/>
          </a:xfrm>
        </p:spPr>
        <p:txBody>
          <a:bodyPr/>
          <a:lstStyle/>
          <a:p>
            <a:r>
              <a:rPr lang="en-US" dirty="0"/>
              <a:t> The logical query processing order is different from the order you write queries.</a:t>
            </a:r>
            <a:endParaRPr lang="en-CA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3733800"/>
            <a:ext cx="7543800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Country,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HireDate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HR.Employees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HireDate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&gt;=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'20030101'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GROUP BY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Country,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HireDate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HAVING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COUNT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(*) &gt; 1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ORDER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i="1" dirty="0">
                <a:latin typeface="Courier New" pitchFamily="49" charset="0"/>
                <a:cs typeface="Courier New" pitchFamily="49" charset="0"/>
              </a:rPr>
              <a:t>country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714488" cy="1020762"/>
          </a:xfrm>
        </p:spPr>
        <p:txBody>
          <a:bodyPr>
            <a:normAutofit/>
          </a:bodyPr>
          <a:lstStyle/>
          <a:p>
            <a:pPr algn="ctr"/>
            <a:r>
              <a:rPr lang="en-CA" sz="3200" dirty="0"/>
              <a:t>Query Execution Order (</a:t>
            </a:r>
            <a:r>
              <a:rPr lang="en-CA" sz="2400" dirty="0"/>
              <a:t>Without</a:t>
            </a:r>
            <a:r>
              <a:rPr lang="en-CA" sz="3200" dirty="0"/>
              <a:t> </a:t>
            </a:r>
            <a:r>
              <a:rPr lang="en-CA" sz="2400" dirty="0"/>
              <a:t>UNION)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6471802"/>
              </p:ext>
            </p:extLst>
          </p:nvPr>
        </p:nvGraphicFramePr>
        <p:xfrm>
          <a:off x="1219200" y="1447800"/>
          <a:ext cx="7715250" cy="468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5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Clause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FROM, JOIN, APPLY, and ON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join is executed and the first query filter (the ON clause) is applied.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second query filter is applied.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GROUP BY and aggregate  functions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Grouping and aggregation calculations are performed.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HAVING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third query filter (filtering of the results of aggregate functions) is applied.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Columns that should be returned by the query are selected.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ORDER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Results are sorted.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fourth query filter is applied;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FOR 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tabular result returned by the SELECT statement is converted to XML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714488" cy="1020762"/>
          </a:xfrm>
        </p:spPr>
        <p:txBody>
          <a:bodyPr>
            <a:normAutofit/>
          </a:bodyPr>
          <a:lstStyle/>
          <a:p>
            <a:pPr algn="ctr"/>
            <a:r>
              <a:rPr lang="en-CA" sz="3200" dirty="0"/>
              <a:t>Query Execution Order (</a:t>
            </a:r>
            <a:r>
              <a:rPr lang="en-CA" sz="2400" dirty="0"/>
              <a:t>With</a:t>
            </a:r>
            <a:r>
              <a:rPr lang="en-CA" sz="3200" dirty="0"/>
              <a:t> </a:t>
            </a:r>
            <a:r>
              <a:rPr lang="en-CA" sz="2400" dirty="0"/>
              <a:t>UNION)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295400" y="1447800"/>
          <a:ext cx="7639050" cy="40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Clause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FROM, JOIN, APPLY, and ON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join is executed and the first query filter (the ON clause) is applied.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second query filter is applied.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GROUP BY and aggregate  functions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Grouping and aggregation calculations are performed.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fourth query filter is applied;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UNION &amp;</a:t>
                      </a:r>
                      <a:r>
                        <a:rPr lang="en-CA" baseline="0" dirty="0"/>
                        <a:t>  </a:t>
                      </a:r>
                      <a:r>
                        <a:rPr lang="en-CA" dirty="0"/>
                        <a:t>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Columns that should be returned by the query are selected.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ORDER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Results are sorted.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 FOR 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tabular result returned by the SELECT statement is converted to XML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95400" y="2667000"/>
            <a:ext cx="7543800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Country, </a:t>
            </a:r>
            <a:r>
              <a:rPr lang="en-US" sz="24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YEAR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HireDate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YearHired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4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COUNT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(*)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NumEmployees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HR.Employees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HireDate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&gt;=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'20030101'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GROUP BY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Country, </a:t>
            </a:r>
            <a:r>
              <a:rPr lang="en-US" sz="24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YEAR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HireDate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HAVING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COUNT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(*) &gt; 1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ORDER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Country,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YearHired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DESC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5400" y="457200"/>
            <a:ext cx="7543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 query to retrieve all employees that were hired in or after the year 2003.</a:t>
            </a:r>
            <a:endParaRPr lang="en-CA" sz="28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ntitled-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" y="914400"/>
            <a:ext cx="8915401" cy="1981200"/>
          </a:xfr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76200" y="304800"/>
            <a:ext cx="8839200" cy="1295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lang="en-US" sz="3200" dirty="0"/>
              <a:t>SQL Server first evaluates the from clause</a:t>
            </a:r>
            <a:endParaRPr kumimoji="0" lang="en-US" sz="3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endParaRPr kumimoji="0" lang="en-CA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2400" y="3200400"/>
            <a:ext cx="8763000" cy="838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lang="en-US" sz="3200" dirty="0"/>
              <a:t>Then the WHERE clause is evaluated</a:t>
            </a:r>
            <a:endParaRPr kumimoji="0" lang="en-US" sz="3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endParaRPr kumimoji="0" lang="en-CA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 descr="Untitled-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2400" y="3886200"/>
            <a:ext cx="8534400" cy="2336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685800"/>
            <a:ext cx="7726680" cy="1371600"/>
          </a:xfrm>
        </p:spPr>
        <p:txBody>
          <a:bodyPr/>
          <a:lstStyle/>
          <a:p>
            <a:r>
              <a:rPr lang="en-US" dirty="0"/>
              <a:t>This is why you can not refer to a column alias in WHERE clause</a:t>
            </a:r>
            <a:endParaRPr lang="en-CA" dirty="0"/>
          </a:p>
        </p:txBody>
      </p:sp>
      <p:sp>
        <p:nvSpPr>
          <p:cNvPr id="5" name="TextBox 4"/>
          <p:cNvSpPr txBox="1"/>
          <p:nvPr/>
        </p:nvSpPr>
        <p:spPr>
          <a:xfrm>
            <a:off x="1447800" y="2438400"/>
            <a:ext cx="7315200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Country, </a:t>
            </a:r>
          </a:p>
          <a:p>
            <a:r>
              <a:rPr lang="en-US" sz="24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       YEAR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HireDate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YearHired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HR.Employees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YearHired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&gt;= 2003;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Up Arrow 5"/>
          <p:cNvSpPr/>
          <p:nvPr/>
        </p:nvSpPr>
        <p:spPr>
          <a:xfrm>
            <a:off x="2971800" y="4114800"/>
            <a:ext cx="609600" cy="685800"/>
          </a:xfrm>
          <a:prstGeom prst="upArrow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ounded Rectangle 6"/>
          <p:cNvSpPr/>
          <p:nvPr/>
        </p:nvSpPr>
        <p:spPr>
          <a:xfrm>
            <a:off x="2438400" y="4800600"/>
            <a:ext cx="1828800" cy="609600"/>
          </a:xfrm>
          <a:prstGeom prst="round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Invalid</a:t>
            </a:r>
            <a:endParaRPr lang="en-CA" sz="2000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304800"/>
            <a:ext cx="7714488" cy="1066800"/>
          </a:xfrm>
        </p:spPr>
        <p:txBody>
          <a:bodyPr/>
          <a:lstStyle/>
          <a:p>
            <a:r>
              <a:rPr lang="en-US" dirty="0"/>
              <a:t>Then the GROUP BY Clause is evaluated 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600200" y="3505200"/>
            <a:ext cx="6324600" cy="266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b="1" dirty="0"/>
              <a:t>Group    </a:t>
            </a:r>
            <a:r>
              <a:rPr lang="en-CA" b="1" dirty="0" err="1"/>
              <a:t>Group</a:t>
            </a:r>
            <a:r>
              <a:rPr lang="en-CA" b="1" dirty="0"/>
              <a:t>             	Detail 	</a:t>
            </a:r>
            <a:r>
              <a:rPr lang="en-CA" b="1" dirty="0" err="1"/>
              <a:t>Detail</a:t>
            </a:r>
            <a:r>
              <a:rPr lang="en-CA" b="1" dirty="0"/>
              <a:t>  	</a:t>
            </a:r>
            <a:r>
              <a:rPr lang="en-CA" b="1" dirty="0" err="1"/>
              <a:t>Detail</a:t>
            </a:r>
            <a:r>
              <a:rPr lang="en-CA" b="1" dirty="0"/>
              <a:t> </a:t>
            </a:r>
          </a:p>
          <a:p>
            <a:r>
              <a:rPr lang="en-CA" b="1" dirty="0"/>
              <a:t>Country  YEAR(</a:t>
            </a:r>
            <a:r>
              <a:rPr lang="en-CA" b="1" dirty="0" err="1"/>
              <a:t>hiredate</a:t>
            </a:r>
            <a:r>
              <a:rPr lang="en-CA" b="1" dirty="0"/>
              <a:t>) </a:t>
            </a:r>
            <a:r>
              <a:rPr lang="en-CA" b="1" dirty="0" err="1"/>
              <a:t>empid</a:t>
            </a:r>
            <a:r>
              <a:rPr lang="en-CA" b="1" dirty="0"/>
              <a:t>  	country 	</a:t>
            </a:r>
            <a:r>
              <a:rPr lang="en-CA" b="1" dirty="0" err="1"/>
              <a:t>hiredate</a:t>
            </a:r>
            <a:r>
              <a:rPr lang="en-CA" b="1" dirty="0"/>
              <a:t> </a:t>
            </a:r>
          </a:p>
          <a:p>
            <a:r>
              <a:rPr lang="en-CA" b="1" dirty="0"/>
              <a:t>-------- 	-------------- 	------ 	------- 	--------------- </a:t>
            </a:r>
          </a:p>
          <a:p>
            <a:r>
              <a:rPr lang="en-CA" b="1" dirty="0"/>
              <a:t>UK       	2003            	5      	UK      	2003-10-17 </a:t>
            </a:r>
          </a:p>
          <a:p>
            <a:r>
              <a:rPr lang="en-CA" b="1" dirty="0"/>
              <a:t>                      	  	6      	UK      	2003-10-17 </a:t>
            </a:r>
          </a:p>
          <a:p>
            <a:r>
              <a:rPr lang="en-CA" b="1" dirty="0"/>
              <a:t>UK       	2004            	7      	UK      	2004-01-02 </a:t>
            </a:r>
          </a:p>
          <a:p>
            <a:r>
              <a:rPr lang="en-CA" b="1" dirty="0"/>
              <a:t>                        	  	9      	UK      	2004-11-15 </a:t>
            </a:r>
          </a:p>
          <a:p>
            <a:r>
              <a:rPr lang="en-CA" b="1" dirty="0"/>
              <a:t>USA      2003           	4      	USA     	2003-05-03 </a:t>
            </a:r>
          </a:p>
          <a:p>
            <a:r>
              <a:rPr lang="en-CA" b="1" dirty="0"/>
              <a:t>USA      2004           	8      	USA     	2004-03-05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558032"/>
            <a:ext cx="6324600" cy="16312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Country, </a:t>
            </a:r>
            <a:r>
              <a:rPr lang="en-US" sz="20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YEAR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HireDate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YearHired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COUNT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(*)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NumEmployees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HR.Employees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HireDate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&gt;=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'20030101'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GROUP BY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Country, </a:t>
            </a:r>
            <a:r>
              <a:rPr lang="en-US" sz="20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YEAR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HireDate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2144" y="304800"/>
            <a:ext cx="7848600" cy="609600"/>
          </a:xfrm>
        </p:spPr>
        <p:txBody>
          <a:bodyPr>
            <a:normAutofit/>
          </a:bodyPr>
          <a:lstStyle/>
          <a:p>
            <a:r>
              <a:rPr lang="en-US" sz="2800" dirty="0"/>
              <a:t>Filter Rows Based on the  HAVING Clause</a:t>
            </a:r>
            <a:endParaRPr lang="en-CA" sz="2800" dirty="0"/>
          </a:p>
        </p:txBody>
      </p:sp>
      <p:sp>
        <p:nvSpPr>
          <p:cNvPr id="4" name="Rectangle 3"/>
          <p:cNvSpPr/>
          <p:nvPr/>
        </p:nvSpPr>
        <p:spPr>
          <a:xfrm>
            <a:off x="1495044" y="1143000"/>
            <a:ext cx="7162800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b="1" dirty="0"/>
              <a:t>group    	</a:t>
            </a:r>
            <a:r>
              <a:rPr lang="en-CA" b="1" dirty="0" err="1"/>
              <a:t>group</a:t>
            </a:r>
            <a:r>
              <a:rPr lang="en-CA" b="1" dirty="0"/>
              <a:t>             	detail 	</a:t>
            </a:r>
            <a:r>
              <a:rPr lang="en-CA" b="1" dirty="0" err="1"/>
              <a:t>detail</a:t>
            </a:r>
            <a:r>
              <a:rPr lang="en-CA" b="1" dirty="0"/>
              <a:t>  	</a:t>
            </a:r>
            <a:r>
              <a:rPr lang="en-CA" b="1" dirty="0" err="1"/>
              <a:t>detail</a:t>
            </a:r>
            <a:r>
              <a:rPr lang="en-CA" b="1" dirty="0"/>
              <a:t> </a:t>
            </a:r>
          </a:p>
          <a:p>
            <a:r>
              <a:rPr lang="en-CA" b="1" dirty="0"/>
              <a:t>country  YEAR(</a:t>
            </a:r>
            <a:r>
              <a:rPr lang="en-CA" b="1" dirty="0" err="1"/>
              <a:t>hiredate</a:t>
            </a:r>
            <a:r>
              <a:rPr lang="en-CA" b="1" dirty="0"/>
              <a:t>) 	</a:t>
            </a:r>
            <a:r>
              <a:rPr lang="en-CA" b="1" dirty="0" err="1"/>
              <a:t>empid</a:t>
            </a:r>
            <a:r>
              <a:rPr lang="en-CA" b="1" dirty="0"/>
              <a:t>  	country 	</a:t>
            </a:r>
            <a:r>
              <a:rPr lang="en-CA" b="1" dirty="0" err="1"/>
              <a:t>hiredate</a:t>
            </a:r>
            <a:r>
              <a:rPr lang="en-CA" b="1" dirty="0"/>
              <a:t> </a:t>
            </a:r>
          </a:p>
          <a:p>
            <a:r>
              <a:rPr lang="en-CA" b="1" dirty="0"/>
              <a:t>-------- 	-------------- 	------ 	------- 	--------------- </a:t>
            </a:r>
          </a:p>
          <a:p>
            <a:r>
              <a:rPr lang="en-CA" b="1" dirty="0"/>
              <a:t>UK       	2003            	5      	UK      	2003-10-17 </a:t>
            </a:r>
          </a:p>
          <a:p>
            <a:r>
              <a:rPr lang="en-CA" b="1" dirty="0"/>
              <a:t>                      	  	6      	UK      	2003-10-17 </a:t>
            </a:r>
          </a:p>
          <a:p>
            <a:r>
              <a:rPr lang="en-CA" b="1" dirty="0"/>
              <a:t>UK       	2004            	7      	UK      	2004-01-02 </a:t>
            </a:r>
          </a:p>
          <a:p>
            <a:r>
              <a:rPr lang="en-CA" b="1" dirty="0"/>
              <a:t>                        	  	9      	UK      	2004-11-15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43000" y="3437138"/>
            <a:ext cx="7714488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Then SELECT Clause is evaluated</a:t>
            </a:r>
          </a:p>
        </p:txBody>
      </p:sp>
      <p:pic>
        <p:nvPicPr>
          <p:cNvPr id="7" name="Picture 6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95044" y="4046738"/>
            <a:ext cx="4844808" cy="228600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71600" y="381000"/>
            <a:ext cx="7498080" cy="762000"/>
          </a:xfrm>
        </p:spPr>
        <p:txBody>
          <a:bodyPr/>
          <a:lstStyle/>
          <a:p>
            <a:r>
              <a:rPr lang="en-CA" dirty="0"/>
              <a:t>Finally handle presentation Ordering</a:t>
            </a:r>
          </a:p>
        </p:txBody>
      </p:sp>
      <p:pic>
        <p:nvPicPr>
          <p:cNvPr id="6" name="Picture 5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1619" y="4419600"/>
            <a:ext cx="5373077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0960" y="1066800"/>
            <a:ext cx="7700639" cy="3046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Country,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YEAR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HireDate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YearHired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COUNT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(*)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NumEmployees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HR.Employees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HireDate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&gt;=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'20030101'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GROUP BY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Country, </a:t>
            </a:r>
            <a:r>
              <a:rPr lang="en-US" sz="24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YEAR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HireDate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HAVING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COUNT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(*) &gt; 1 </a:t>
            </a:r>
          </a:p>
          <a:p>
            <a:pPr>
              <a:buNone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ORDER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Country,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YearHired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DESC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2090</TotalTime>
  <Words>1623</Words>
  <Application>Microsoft Office PowerPoint</Application>
  <PresentationFormat>On-screen Show (4:3)</PresentationFormat>
  <Paragraphs>250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Courier New</vt:lpstr>
      <vt:lpstr>Gill Sans MT</vt:lpstr>
      <vt:lpstr>Verdana</vt:lpstr>
      <vt:lpstr>Wingdings 2</vt:lpstr>
      <vt:lpstr>Solstice</vt:lpstr>
      <vt:lpstr>Lesson 1</vt:lpstr>
      <vt:lpstr>PowerPoint Presentation</vt:lpstr>
      <vt:lpstr>PowerPoint Presentation</vt:lpstr>
      <vt:lpstr>PowerPoint Presentation</vt:lpstr>
      <vt:lpstr>Relational Algebra vs SQL</vt:lpstr>
      <vt:lpstr>PowerPoint Presentation</vt:lpstr>
      <vt:lpstr>PowerPoint Presentation</vt:lpstr>
      <vt:lpstr>SQL Server Editions</vt:lpstr>
      <vt:lpstr>Enterprise Edition</vt:lpstr>
      <vt:lpstr>Standard Edition</vt:lpstr>
      <vt:lpstr>Developer Edition</vt:lpstr>
      <vt:lpstr>Web Edition</vt:lpstr>
      <vt:lpstr>Express Edition</vt:lpstr>
      <vt:lpstr>SQL Server Instances</vt:lpstr>
      <vt:lpstr>PowerPoint Presentation</vt:lpstr>
      <vt:lpstr>PowerPoint Presentation</vt:lpstr>
      <vt:lpstr>SQL Server Configuration Manager</vt:lpstr>
      <vt:lpstr>PowerPoint Presentation</vt:lpstr>
      <vt:lpstr>Authentication Modes</vt:lpstr>
      <vt:lpstr>SQL Server Management Studio</vt:lpstr>
      <vt:lpstr>PowerPoint Presentation</vt:lpstr>
      <vt:lpstr>Transact-SQL</vt:lpstr>
      <vt:lpstr>PowerPoint Presentation</vt:lpstr>
      <vt:lpstr>PowerPoint Presentation</vt:lpstr>
      <vt:lpstr>PowerPoint Presentation</vt:lpstr>
      <vt:lpstr>PowerPoint Presentation</vt:lpstr>
      <vt:lpstr>Working with NULL values</vt:lpstr>
      <vt:lpstr>PowerPoint Presentation</vt:lpstr>
      <vt:lpstr>Logical Query processing order</vt:lpstr>
      <vt:lpstr>Query Execution Order (Without UNION)</vt:lpstr>
      <vt:lpstr>Query Execution Order (With UNION)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Habib</dc:creator>
  <cp:lastModifiedBy>Andrei Tselichtchev</cp:lastModifiedBy>
  <cp:revision>187</cp:revision>
  <dcterms:created xsi:type="dcterms:W3CDTF">2006-08-16T00:00:00Z</dcterms:created>
  <dcterms:modified xsi:type="dcterms:W3CDTF">2024-01-24T22:45:57Z</dcterms:modified>
</cp:coreProperties>
</file>