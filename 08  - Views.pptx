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62" r:id="rId9"/>
    <p:sldId id="283" r:id="rId10"/>
    <p:sldId id="282" r:id="rId11"/>
    <p:sldId id="263" r:id="rId12"/>
    <p:sldId id="264" r:id="rId13"/>
    <p:sldId id="28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0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Lesson 08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1832082"/>
            <a:ext cx="7406640" cy="1752600"/>
          </a:xfrm>
        </p:spPr>
        <p:txBody>
          <a:bodyPr/>
          <a:lstStyle/>
          <a:p>
            <a:r>
              <a:rPr lang="en-US" b="1" u="sng" dirty="0"/>
              <a:t>Views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Views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19200"/>
            <a:ext cx="7714488" cy="40386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View</a:t>
            </a:r>
            <a:r>
              <a:rPr lang="en-US" dirty="0"/>
              <a:t> is a database object that represents a saved </a:t>
            </a:r>
            <a:r>
              <a:rPr lang="en-US" b="1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</a:t>
            </a:r>
          </a:p>
          <a:p>
            <a:r>
              <a:rPr lang="en-US" dirty="0"/>
              <a:t>It is </a:t>
            </a:r>
            <a:r>
              <a:rPr lang="en-CA" dirty="0"/>
              <a:t>a </a:t>
            </a:r>
            <a:r>
              <a:rPr lang="en-CA" b="1" dirty="0"/>
              <a:t>stored</a:t>
            </a:r>
            <a:r>
              <a:rPr lang="en-CA" dirty="0"/>
              <a:t> query</a:t>
            </a:r>
          </a:p>
          <a:p>
            <a:r>
              <a:rPr lang="en-US" dirty="0"/>
              <a:t>The data accessible through a view is not </a:t>
            </a:r>
            <a:r>
              <a:rPr lang="en-US" b="1" dirty="0"/>
              <a:t>stored</a:t>
            </a:r>
            <a:r>
              <a:rPr lang="en-US" dirty="0"/>
              <a:t> in the database as a distinct object. </a:t>
            </a:r>
          </a:p>
          <a:p>
            <a:r>
              <a:rPr lang="en-US" dirty="0"/>
              <a:t>What is stored in the database is a </a:t>
            </a:r>
            <a:r>
              <a:rPr lang="en-US" b="1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statement. 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Views</a:t>
            </a:r>
            <a:r>
              <a:rPr lang="en-US" dirty="0"/>
              <a:t> are used to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7714488" cy="5410200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Restrict a user to specific rows in a table </a:t>
            </a:r>
          </a:p>
          <a:p>
            <a:pPr lvl="1"/>
            <a:r>
              <a:rPr lang="en-US" sz="2600" dirty="0" err="1"/>
              <a:t>Eg</a:t>
            </a:r>
            <a:r>
              <a:rPr lang="en-US" sz="2600" dirty="0"/>
              <a:t>. </a:t>
            </a:r>
            <a:r>
              <a:rPr lang="en-US" sz="2600" b="1" dirty="0"/>
              <a:t>allow</a:t>
            </a:r>
            <a:r>
              <a:rPr lang="en-US" sz="2600" dirty="0"/>
              <a:t> an employee to see only his/her record</a:t>
            </a:r>
          </a:p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Restrict a user to specific columns</a:t>
            </a:r>
          </a:p>
          <a:p>
            <a:pPr lvl="1"/>
            <a:r>
              <a:rPr lang="en-US" sz="2600" dirty="0" err="1"/>
              <a:t>Eg</a:t>
            </a:r>
            <a:r>
              <a:rPr lang="en-US" sz="2600" dirty="0"/>
              <a:t>. allow employees to see only the name, office, work phone, and department columns in an employee table</a:t>
            </a:r>
          </a:p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Join columns from multiple tables so that they look like a single table</a:t>
            </a:r>
          </a:p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</a:rPr>
              <a:t>Aggregate information instead of supplying details</a:t>
            </a:r>
          </a:p>
          <a:p>
            <a:pPr lvl="1"/>
            <a:r>
              <a:rPr lang="en-US" sz="2600" dirty="0" err="1"/>
              <a:t>Eg</a:t>
            </a:r>
            <a:r>
              <a:rPr lang="en-US" sz="2600" dirty="0"/>
              <a:t>. present the sum of a column, or the maximum or minimum value from a column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990600"/>
            <a:ext cx="7924800" cy="48936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VIEW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[&lt; 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owner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&gt; . ] </a:t>
            </a:r>
            <a:r>
              <a:rPr lang="en-US" sz="2400" b="1" i="1" dirty="0" err="1">
                <a:latin typeface="Courier New" pitchFamily="49" charset="0"/>
                <a:cs typeface="Courier New" pitchFamily="49" charset="0"/>
              </a:rPr>
              <a:t>view_name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[ ( 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column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[ ,...</a:t>
            </a:r>
            <a:r>
              <a:rPr lang="en-US" sz="2400" b="1" i="1" dirty="0">
                <a:latin typeface="Courier New" pitchFamily="49" charset="0"/>
                <a:cs typeface="Courier New" pitchFamily="49" charset="0"/>
              </a:rPr>
              <a:t>n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] ) ]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sz="2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view_attribute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&gt; [ ,...n ] ]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i="1" dirty="0" err="1">
                <a:latin typeface="Courier New" pitchFamily="49" charset="0"/>
                <a:cs typeface="Courier New" pitchFamily="49" charset="0"/>
              </a:rPr>
              <a:t>select_statement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CHECK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]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&lt; </a:t>
            </a:r>
            <a:r>
              <a:rPr lang="en-US" sz="2400" b="1" dirty="0" err="1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view_attribute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&gt; ::= </a:t>
            </a:r>
            <a:br>
              <a:rPr lang="en-US" sz="2400" b="1" dirty="0">
                <a:latin typeface="Courier New" pitchFamily="49" charset="0"/>
                <a:cs typeface="Courier New" pitchFamily="49" charset="0"/>
              </a:rPr>
            </a:b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 ENCRYPTION | SCHEMABINDING | VIEW_METADATA } </a:t>
            </a:r>
          </a:p>
          <a:p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457200"/>
            <a:ext cx="7498080" cy="6172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Column</a:t>
            </a:r>
            <a:r>
              <a:rPr lang="en-US" dirty="0"/>
              <a:t>: Naming a column is necessary only when a column:</a:t>
            </a:r>
          </a:p>
          <a:p>
            <a:pPr lvl="1"/>
            <a:r>
              <a:rPr lang="en-US" dirty="0"/>
              <a:t>Is derived from an arithmetic expression, a function, or a constant, </a:t>
            </a:r>
          </a:p>
          <a:p>
            <a:pPr lvl="1"/>
            <a:r>
              <a:rPr lang="en-US" dirty="0"/>
              <a:t>When two or more columns may otherwise have the same name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WITH CHECK OPTION</a:t>
            </a:r>
            <a:r>
              <a:rPr lang="en-US" dirty="0"/>
              <a:t>: Forces all data modification statements executed against the view to adhere to the criteria set within </a:t>
            </a:r>
            <a:r>
              <a:rPr lang="en-US" b="1" i="1" dirty="0" err="1">
                <a:solidFill>
                  <a:srgbClr val="0070C0"/>
                </a:solidFill>
              </a:rPr>
              <a:t>select_statement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dirty="0"/>
          </a:p>
          <a:p>
            <a:endParaRPr lang="en-C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19200" y="381000"/>
            <a:ext cx="7391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AdventureWorks2012_test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VIEW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titles_view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title,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FirstName,LastName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Person.Person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Title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Is Not NULL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 </a:t>
            </a: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consuming the view</a:t>
            </a: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titles_view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6" name="Picture 5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52766" y="4648200"/>
            <a:ext cx="3091234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304800"/>
            <a:ext cx="75438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AdventureWorks2012_test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VIEW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titles_view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ttl,FN,LN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title,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FirstName,LastName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LName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Person.Person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Title is not NULL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 </a:t>
            </a: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works ok</a:t>
            </a:r>
            <a:endParaRPr lang="en-CA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LN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titles_view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the following line produces error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title,LName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titles_view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90800" y="5791200"/>
            <a:ext cx="1981200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381000"/>
            <a:ext cx="7498080" cy="4800600"/>
          </a:xfrm>
        </p:spPr>
        <p:txBody>
          <a:bodyPr/>
          <a:lstStyle/>
          <a:p>
            <a:r>
              <a:rPr lang="en-US" dirty="0"/>
              <a:t>This example shows a view that allows data modifications to apply only to Persons with the title of  ‘</a:t>
            </a:r>
            <a:r>
              <a:rPr lang="en-US" dirty="0">
                <a:solidFill>
                  <a:srgbClr val="FF0000"/>
                </a:solidFill>
              </a:rPr>
              <a:t>Mr</a:t>
            </a:r>
            <a:r>
              <a:rPr lang="en-US" dirty="0"/>
              <a:t>.’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219200" y="2209800"/>
            <a:ext cx="7010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AdventureWorks2012_test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VIEW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Mr_only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title,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FirstName,LastName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Person.Person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Title= </a:t>
            </a:r>
            <a:r>
              <a:rPr lang="en-CA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'Mr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.'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CHECK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OPTION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 </a:t>
            </a: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>
            <a:off x="4724400" y="4876800"/>
            <a:ext cx="1143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381000"/>
            <a:ext cx="79248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--Use built-in functions within a view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AdventureWorks2012_test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VIEW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aCus_view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([Customer Id],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[Customer Name], [Max Order], [Min Order])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P.FirstName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>
                <a:solidFill>
                  <a:srgbClr val="FF3399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TotalDue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CA" sz="2000" b="1" dirty="0">
                <a:solidFill>
                  <a:srgbClr val="FF3399"/>
                </a:solidFill>
                <a:latin typeface="Courier New" pitchFamily="49" charset="0"/>
                <a:cs typeface="Courier New" pitchFamily="49" charset="0"/>
              </a:rPr>
              <a:t>MIN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TotalDue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Sales.SalesOrderHeader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 Join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Person.Person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P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P.BusinessEntityID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Group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P.FirstName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 </a:t>
            </a:r>
          </a:p>
          <a:p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consuming the view</a:t>
            </a:r>
          </a:p>
          <a:p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aCus_view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04800"/>
            <a:ext cx="7790688" cy="6324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a view does not have </a:t>
            </a:r>
            <a:r>
              <a:rPr lang="en-US" dirty="0">
                <a:solidFill>
                  <a:srgbClr val="0070C0"/>
                </a:solidFill>
              </a:rPr>
              <a:t>INSTEAD OF </a:t>
            </a:r>
            <a:r>
              <a:rPr lang="en-US" dirty="0"/>
              <a:t>triggers, or if it is not a </a:t>
            </a:r>
            <a:r>
              <a:rPr lang="en-US" dirty="0">
                <a:solidFill>
                  <a:srgbClr val="0070C0"/>
                </a:solidFill>
              </a:rPr>
              <a:t>partitioned view</a:t>
            </a:r>
            <a:r>
              <a:rPr lang="en-US" dirty="0"/>
              <a:t> then it is updatable only if: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The data modification must reference exactly one table</a:t>
            </a:r>
          </a:p>
          <a:p>
            <a:pPr lvl="1"/>
            <a:r>
              <a:rPr lang="en-US" dirty="0"/>
              <a:t>Columns in the view must reference columns in a table directly</a:t>
            </a:r>
          </a:p>
          <a:p>
            <a:pPr lvl="1"/>
            <a:r>
              <a:rPr lang="en-US" dirty="0"/>
              <a:t>The column cannot be derived from an aggregate</a:t>
            </a:r>
          </a:p>
          <a:p>
            <a:pPr lvl="1"/>
            <a:r>
              <a:rPr lang="en-US" dirty="0"/>
              <a:t>The column cannot be computed as the result of a </a:t>
            </a:r>
            <a:r>
              <a:rPr lang="en-US" dirty="0">
                <a:solidFill>
                  <a:srgbClr val="0070C0"/>
                </a:solidFill>
              </a:rPr>
              <a:t>UNION/UNION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ALL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CROSS JOIN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EXCEPT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or NTERSECT</a:t>
            </a:r>
            <a:endParaRPr lang="en-US" dirty="0"/>
          </a:p>
          <a:p>
            <a:pPr lvl="1"/>
            <a:r>
              <a:rPr lang="en-US" dirty="0"/>
              <a:t>The column being modified cannot be affected by the </a:t>
            </a:r>
            <a:r>
              <a:rPr lang="en-US" dirty="0">
                <a:solidFill>
                  <a:srgbClr val="0070C0"/>
                </a:solidFill>
              </a:rPr>
              <a:t>DISTINCT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GROUP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BY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or HAVING</a:t>
            </a:r>
            <a:r>
              <a:rPr lang="en-US" dirty="0"/>
              <a:t> clause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TOP</a:t>
            </a:r>
            <a:r>
              <a:rPr lang="en-US" dirty="0"/>
              <a:t> operator is not used</a:t>
            </a:r>
            <a:endParaRPr lang="en-C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04800"/>
            <a:ext cx="7866888" cy="5943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UPDATE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INSERT</a:t>
            </a:r>
            <a:r>
              <a:rPr lang="en-US" dirty="0"/>
              <a:t> statements can reference a view only if the view is updatable and the </a:t>
            </a:r>
            <a:r>
              <a:rPr lang="en-US" dirty="0">
                <a:solidFill>
                  <a:srgbClr val="0070C0"/>
                </a:solidFill>
              </a:rPr>
              <a:t>UPDATE</a:t>
            </a:r>
            <a:r>
              <a:rPr lang="en-US" dirty="0"/>
              <a:t> or </a:t>
            </a:r>
            <a:r>
              <a:rPr lang="en-US" dirty="0">
                <a:solidFill>
                  <a:srgbClr val="0070C0"/>
                </a:solidFill>
              </a:rPr>
              <a:t>INSERT</a:t>
            </a:r>
            <a:r>
              <a:rPr lang="en-US" dirty="0"/>
              <a:t> statement is written so that it modifies data in only one of the base tables referenced in the FROM clause of the view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DELETE</a:t>
            </a:r>
            <a:r>
              <a:rPr lang="en-US" dirty="0"/>
              <a:t> statement can reference an updatable view only if the view references exactly one table in its </a:t>
            </a:r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clause.</a:t>
            </a:r>
            <a:endParaRPr lang="en-C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Partitioned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790688" cy="4800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Views</a:t>
            </a:r>
            <a:r>
              <a:rPr lang="en-US" dirty="0"/>
              <a:t> that unify multiple tables of the same structure are referred to as </a:t>
            </a:r>
            <a:r>
              <a:rPr lang="en-US" dirty="0">
                <a:solidFill>
                  <a:srgbClr val="0070C0"/>
                </a:solidFill>
              </a:rPr>
              <a:t>Partitioned Views</a:t>
            </a:r>
            <a:endParaRPr lang="en-US" dirty="0"/>
          </a:p>
          <a:p>
            <a:r>
              <a:rPr lang="en-US" dirty="0"/>
              <a:t>A partitioned view implements a </a:t>
            </a:r>
            <a:r>
              <a:rPr lang="en-US" dirty="0">
                <a:solidFill>
                  <a:srgbClr val="0070C0"/>
                </a:solidFill>
              </a:rPr>
              <a:t>UNION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ALL</a:t>
            </a:r>
            <a:r>
              <a:rPr lang="en-US" dirty="0"/>
              <a:t> of all member tables with the same structure</a:t>
            </a:r>
            <a:endParaRPr lang="en-C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ChangeArrowheads="1"/>
          </p:cNvSpPr>
          <p:nvPr/>
        </p:nvSpPr>
        <p:spPr bwMode="auto">
          <a:xfrm>
            <a:off x="963554" y="1295400"/>
            <a:ext cx="818044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We will discuss this later, only for general knowledge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creating</a:t>
            </a:r>
            <a:r>
              <a:rPr kumimoji="0" lang="en-US" b="1" i="0" u="none" strike="noStrike" cap="none" normalizeH="0" dirty="0">
                <a:ln>
                  <a:noFill/>
                </a:ln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 partitioned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 the tables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CREATE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TABLE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SUPPLY1 (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supplyID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PRIMARY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KEY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CHECK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(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supplyID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BETWEEN 1 and 150), supplier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CHAR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(50) 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CREATE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TABLE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SUPPLY2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supplyID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PRIMARY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KEY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CHECK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(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supplyID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BETWEEN 151 and 300), supplier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CHAR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(50) )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CREATE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TABLE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SUPPLY3 (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supplyID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PRIMARY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KEY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CHECK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(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supplyID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BETWEEN 301 and 450), supplier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CHAR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(50) 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CREATE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TABLE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SUPPLY4 ( 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supplyID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PRIMARY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KEY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CHECK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(</a:t>
            </a: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supplyID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BETWEEN 451 and 600), supplier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CHAR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(50) ) 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9677" y="152400"/>
            <a:ext cx="4648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Creating Partitioned  </a:t>
            </a:r>
            <a:r>
              <a:rPr lang="en-US" sz="2400" b="1" dirty="0">
                <a:solidFill>
                  <a:srgbClr val="FFFF00"/>
                </a:solidFill>
              </a:rPr>
              <a:t>Table</a:t>
            </a:r>
            <a:endParaRPr lang="en-CA" sz="24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81000"/>
            <a:ext cx="7866888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Partitioned view conditions</a:t>
            </a:r>
            <a:r>
              <a:rPr lang="en-CA" dirty="0"/>
              <a:t/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14400"/>
            <a:ext cx="7866888" cy="5638800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All columns of the member tables should be contained in the select list of the view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Columns in the same ordinal position of each </a:t>
            </a:r>
            <a:r>
              <a:rPr lang="en-US" sz="2800" dirty="0">
                <a:solidFill>
                  <a:srgbClr val="0070C0"/>
                </a:solidFill>
              </a:rPr>
              <a:t>SELECT</a:t>
            </a:r>
            <a:r>
              <a:rPr lang="en-US" sz="2800" dirty="0"/>
              <a:t> statement need to be of exactly the same data type and collation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 At least one column that corresponds to a </a:t>
            </a:r>
            <a:r>
              <a:rPr lang="en-US" sz="2800" dirty="0">
                <a:solidFill>
                  <a:srgbClr val="0070C0"/>
                </a:solidFill>
              </a:rPr>
              <a:t>CHECK</a:t>
            </a:r>
            <a:r>
              <a:rPr lang="en-US" sz="2800" dirty="0"/>
              <a:t> constraint, unique to each member table, should be in the same ordinal position of each </a:t>
            </a:r>
            <a:r>
              <a:rPr lang="en-US" sz="2800" dirty="0">
                <a:solidFill>
                  <a:srgbClr val="0070C0"/>
                </a:solidFill>
              </a:rPr>
              <a:t>SELECT</a:t>
            </a:r>
            <a:r>
              <a:rPr lang="en-US" sz="2800" dirty="0"/>
              <a:t> statement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The constraints must form unique, non-overlapping data sets in each member 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76200"/>
            <a:ext cx="7790688" cy="67056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same column cannot be used multiple times in the select list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partitioning column, defined by the </a:t>
            </a:r>
            <a:r>
              <a:rPr lang="en-US" dirty="0">
                <a:solidFill>
                  <a:srgbClr val="0070C0"/>
                </a:solidFill>
              </a:rPr>
              <a:t>CHECK</a:t>
            </a:r>
            <a:r>
              <a:rPr lang="en-US" dirty="0"/>
              <a:t> constraint, must be part of the primary key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partitioning column cannot be computed, be a timestamp data type, have a </a:t>
            </a:r>
            <a:r>
              <a:rPr lang="en-US" dirty="0">
                <a:solidFill>
                  <a:srgbClr val="0070C0"/>
                </a:solidFill>
              </a:rPr>
              <a:t>DEFAULT</a:t>
            </a:r>
            <a:r>
              <a:rPr lang="en-US" dirty="0"/>
              <a:t> constraint, or be an identity column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same member table cannot appear twice within the view definition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Member tables cannot have indexes on computed columns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primary key of each table must have the same number of columns for each member table</a:t>
            </a:r>
            <a:br>
              <a:rPr lang="en-US" dirty="0"/>
            </a:br>
            <a:endParaRPr lang="en-US" dirty="0"/>
          </a:p>
          <a:p>
            <a:r>
              <a:rPr lang="en-US" dirty="0"/>
              <a:t>All member tables must have the same </a:t>
            </a:r>
            <a:r>
              <a:rPr lang="en-US" dirty="0">
                <a:solidFill>
                  <a:srgbClr val="0070C0"/>
                </a:solidFill>
              </a:rPr>
              <a:t>ANSI_PADDING</a:t>
            </a:r>
            <a:r>
              <a:rPr lang="en-US" dirty="0"/>
              <a:t> setting</a:t>
            </a:r>
            <a:endParaRPr lang="en-CA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143000" y="1059597"/>
            <a:ext cx="80010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--Partitioned view as defined on Server1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CREATE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VIEW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Customers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AS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--Select from local member table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SELECT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*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FROM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CompanyData.dbo.Customers_33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UNION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ALL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--Select from member table on Server2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SELECT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*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FROM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Server2.CompanyData.dbo.Customers_66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UNION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ALL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itchFamily="49" charset="0"/>
                <a:cs typeface="Courier New" pitchFamily="49" charset="0"/>
              </a:rPr>
              <a:t>--Select from member table on Server3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SELECT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*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FROM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Server3.CompanyData.dbo.Customers_99 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5700" y="175491"/>
            <a:ext cx="2895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Partitioned View</a:t>
            </a:r>
            <a:endParaRPr lang="en-CA" sz="2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498080" cy="944562"/>
          </a:xfrm>
        </p:spPr>
        <p:txBody>
          <a:bodyPr/>
          <a:lstStyle/>
          <a:p>
            <a:pPr algn="ctr"/>
            <a:r>
              <a:rPr lang="en-CA" dirty="0"/>
              <a:t> Indexed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95400"/>
            <a:ext cx="7790688" cy="5410200"/>
          </a:xfrm>
        </p:spPr>
        <p:txBody>
          <a:bodyPr>
            <a:normAutofit/>
          </a:bodyPr>
          <a:lstStyle/>
          <a:p>
            <a:r>
              <a:rPr lang="en-US" sz="2800" dirty="0"/>
              <a:t>When indexing a view, SQL Server executes the </a:t>
            </a:r>
            <a:r>
              <a:rPr lang="en-US" sz="2800" b="1" dirty="0">
                <a:solidFill>
                  <a:srgbClr val="0070C0"/>
                </a:solidFill>
              </a:rPr>
              <a:t>View</a:t>
            </a:r>
            <a:r>
              <a:rPr lang="en-US" sz="2800" dirty="0"/>
              <a:t> stores the result set and then builds the </a:t>
            </a:r>
            <a:r>
              <a:rPr lang="en-US" sz="2800" b="1" dirty="0">
                <a:solidFill>
                  <a:srgbClr val="0070C0"/>
                </a:solidFill>
              </a:rPr>
              <a:t>index</a:t>
            </a:r>
            <a:r>
              <a:rPr lang="en-US" sz="2800" dirty="0">
                <a:solidFill>
                  <a:srgbClr val="0070C0"/>
                </a:solidFill>
              </a:rPr>
              <a:t/>
            </a:r>
            <a:br>
              <a:rPr lang="en-US" sz="2800" dirty="0">
                <a:solidFill>
                  <a:srgbClr val="0070C0"/>
                </a:solidFill>
              </a:rPr>
            </a:br>
            <a:endParaRPr lang="en-US" sz="2800" dirty="0"/>
          </a:p>
          <a:p>
            <a:r>
              <a:rPr lang="en-US" sz="2800" dirty="0"/>
              <a:t>Any DML issued against any of the tables the view is defined against causes the stored result set to be updated and also the index is maintained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SQL Server physically stores and maintains the result set</a:t>
            </a:r>
            <a:endParaRPr lang="en-CA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"/>
            <a:ext cx="8153400" cy="6629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requirements for creating </a:t>
            </a:r>
            <a:r>
              <a:rPr lang="en-US" b="1" dirty="0">
                <a:solidFill>
                  <a:srgbClr val="0070C0"/>
                </a:solidFill>
              </a:rPr>
              <a:t>indexed view</a:t>
            </a:r>
            <a:r>
              <a:rPr lang="en-US" dirty="0"/>
              <a:t>:</a:t>
            </a:r>
          </a:p>
          <a:p>
            <a:pPr lvl="1"/>
            <a:r>
              <a:rPr lang="en-US" sz="2600" dirty="0"/>
              <a:t>The </a:t>
            </a:r>
            <a:r>
              <a:rPr lang="en-US" sz="2600" dirty="0">
                <a:solidFill>
                  <a:srgbClr val="0070C0"/>
                </a:solidFill>
              </a:rPr>
              <a:t>View</a:t>
            </a:r>
            <a:r>
              <a:rPr lang="en-US" sz="2600" dirty="0"/>
              <a:t> cannot reference other views</a:t>
            </a:r>
          </a:p>
          <a:p>
            <a:pPr lvl="1"/>
            <a:r>
              <a:rPr lang="en-US" sz="2600" dirty="0"/>
              <a:t>All functions must be </a:t>
            </a:r>
            <a:r>
              <a:rPr lang="en-US" sz="2600" b="1" dirty="0">
                <a:solidFill>
                  <a:srgbClr val="0070C0"/>
                </a:solidFill>
              </a:rPr>
              <a:t>deterministic</a:t>
            </a:r>
            <a:endParaRPr lang="en-US" sz="2600" b="1" dirty="0"/>
          </a:p>
          <a:p>
            <a:pPr lvl="1"/>
            <a:r>
              <a:rPr lang="en-US" sz="2600" b="1" dirty="0">
                <a:solidFill>
                  <a:srgbClr val="0070C0"/>
                </a:solidFill>
              </a:rPr>
              <a:t>Aggregate</a:t>
            </a:r>
            <a:r>
              <a:rPr lang="en-US" sz="2600" dirty="0"/>
              <a:t> functions are not allowed as columns.</a:t>
            </a:r>
          </a:p>
          <a:p>
            <a:pPr lvl="1"/>
            <a:r>
              <a:rPr lang="en-US" sz="2600" dirty="0"/>
              <a:t>The index created must be both </a:t>
            </a:r>
            <a:r>
              <a:rPr lang="en-US" sz="2600" b="1" dirty="0"/>
              <a:t>clustered</a:t>
            </a:r>
            <a:r>
              <a:rPr lang="en-US" sz="2600" dirty="0"/>
              <a:t> and </a:t>
            </a:r>
            <a:r>
              <a:rPr lang="en-US" sz="2600" b="1" dirty="0"/>
              <a:t>unique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</a:rPr>
              <a:t>ANSI_NULLS </a:t>
            </a:r>
            <a:r>
              <a:rPr lang="en-US" sz="2600" dirty="0"/>
              <a:t>must have been set to </a:t>
            </a:r>
            <a:r>
              <a:rPr lang="en-US" sz="2600" dirty="0">
                <a:solidFill>
                  <a:srgbClr val="0070C0"/>
                </a:solidFill>
              </a:rPr>
              <a:t>ON</a:t>
            </a:r>
            <a:r>
              <a:rPr lang="en-US" sz="2600" dirty="0"/>
              <a:t> when the view and any tables referenced by the view were created</a:t>
            </a:r>
          </a:p>
          <a:p>
            <a:pPr lvl="1"/>
            <a:r>
              <a:rPr lang="en-US" sz="2600" dirty="0"/>
              <a:t>The view must be created with the </a:t>
            </a:r>
            <a:r>
              <a:rPr lang="en-US" sz="2600" b="1" dirty="0">
                <a:solidFill>
                  <a:srgbClr val="0070C0"/>
                </a:solidFill>
              </a:rPr>
              <a:t>SCHEMABINDING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option</a:t>
            </a:r>
          </a:p>
          <a:p>
            <a:pPr lvl="1"/>
            <a:r>
              <a:rPr lang="en-US" sz="2600" dirty="0"/>
              <a:t>The </a:t>
            </a:r>
            <a:r>
              <a:rPr lang="en-US" sz="2600" dirty="0">
                <a:solidFill>
                  <a:srgbClr val="0070C0"/>
                </a:solidFill>
              </a:rPr>
              <a:t>SELECT </a:t>
            </a:r>
            <a:r>
              <a:rPr lang="en-US" sz="2600" dirty="0"/>
              <a:t>statement must not contain </a:t>
            </a:r>
            <a:r>
              <a:rPr lang="en-US" sz="2600" dirty="0">
                <a:solidFill>
                  <a:srgbClr val="0070C0"/>
                </a:solidFill>
              </a:rPr>
              <a:t>Subqueries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OUTER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0070C0"/>
                </a:solidFill>
              </a:rPr>
              <a:t>JOIN,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0070C0"/>
                </a:solidFill>
              </a:rPr>
              <a:t>EXCEPT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INTERSECT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TOP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UNION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ORDER BY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DISTINCT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COMPUTE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CROSS/OUTER APPLY</a:t>
            </a:r>
            <a:r>
              <a:rPr lang="en-US" sz="2600" dirty="0"/>
              <a:t>, </a:t>
            </a:r>
            <a:r>
              <a:rPr lang="en-US" sz="2600" dirty="0">
                <a:solidFill>
                  <a:srgbClr val="0070C0"/>
                </a:solidFill>
              </a:rPr>
              <a:t>PIVOT or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0070C0"/>
                </a:solidFill>
              </a:rPr>
              <a:t>UNPIVOT</a:t>
            </a:r>
            <a:r>
              <a:rPr lang="en-US" sz="2600" dirty="0"/>
              <a:t>.</a:t>
            </a:r>
            <a:endParaRPr lang="en-CA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pPr algn="ctr"/>
            <a:r>
              <a:rPr lang="en-CA" dirty="0"/>
              <a:t>Query 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95400"/>
            <a:ext cx="7790688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a </a:t>
            </a:r>
            <a:r>
              <a:rPr lang="en-US" dirty="0">
                <a:solidFill>
                  <a:srgbClr val="0070C0"/>
                </a:solidFill>
              </a:rPr>
              <a:t>non materialized</a:t>
            </a:r>
            <a:r>
              <a:rPr lang="en-US" dirty="0"/>
              <a:t> view is referenced, SQL Server replaces the name of the view with the actual </a:t>
            </a:r>
            <a:r>
              <a:rPr lang="en-US" b="1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 defined by the view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an index is created against a view, the data is </a:t>
            </a:r>
            <a:r>
              <a:rPr lang="en-US" b="1" dirty="0">
                <a:solidFill>
                  <a:srgbClr val="0070C0"/>
                </a:solidFill>
              </a:rPr>
              <a:t>materialized</a:t>
            </a:r>
            <a:r>
              <a:rPr lang="en-US" dirty="0"/>
              <a:t>. Queries that reference the indexed view do not substitute the definition of the view but instead return the results directly from the indexed view</a:t>
            </a:r>
            <a:endParaRPr lang="en-CA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533400"/>
            <a:ext cx="7714488" cy="5715000"/>
          </a:xfrm>
        </p:spPr>
        <p:txBody>
          <a:bodyPr>
            <a:normAutofit/>
          </a:bodyPr>
          <a:lstStyle/>
          <a:p>
            <a:r>
              <a:rPr lang="en-US" dirty="0"/>
              <a:t>In SQL Server Enterprise Edition, if the optimizer determines that it is more efficient to use the indexed view, it builds a query plan that retrieves data from the indexed view instead of the tables.</a:t>
            </a:r>
            <a:endParaRPr lang="en-CA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1364</TotalTime>
  <Words>830</Words>
  <Application>Microsoft Office PowerPoint</Application>
  <PresentationFormat>On-screen Show (4:3)</PresentationFormat>
  <Paragraphs>150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Courier New</vt:lpstr>
      <vt:lpstr>Gill Sans MT</vt:lpstr>
      <vt:lpstr>Verdana</vt:lpstr>
      <vt:lpstr>Wingdings 2</vt:lpstr>
      <vt:lpstr>Solstice</vt:lpstr>
      <vt:lpstr>Lesson 08</vt:lpstr>
      <vt:lpstr>Views</vt:lpstr>
      <vt:lpstr>Views are used 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Partitioned view</vt:lpstr>
      <vt:lpstr>PowerPoint Presentation</vt:lpstr>
      <vt:lpstr>Partitioned view conditions </vt:lpstr>
      <vt:lpstr>PowerPoint Presentation</vt:lpstr>
      <vt:lpstr>PowerPoint Presentation</vt:lpstr>
      <vt:lpstr> Indexed View</vt:lpstr>
      <vt:lpstr>PowerPoint Presentation</vt:lpstr>
      <vt:lpstr>Query Substitution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Microsoft account</cp:lastModifiedBy>
  <cp:revision>115</cp:revision>
  <dcterms:created xsi:type="dcterms:W3CDTF">2006-08-16T00:00:00Z</dcterms:created>
  <dcterms:modified xsi:type="dcterms:W3CDTF">2024-11-15T21:23:40Z</dcterms:modified>
</cp:coreProperties>
</file>